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56" r:id="rId4"/>
    <p:sldMasterId id="2147483989" r:id="rId5"/>
  </p:sldMasterIdLst>
  <p:notesMasterIdLst>
    <p:notesMasterId r:id="rId21"/>
  </p:notesMasterIdLst>
  <p:handoutMasterIdLst>
    <p:handoutMasterId r:id="rId22"/>
  </p:handoutMasterIdLst>
  <p:sldIdLst>
    <p:sldId id="2147473631" r:id="rId6"/>
    <p:sldId id="2147474626" r:id="rId7"/>
    <p:sldId id="2147474633" r:id="rId8"/>
    <p:sldId id="2147474627" r:id="rId9"/>
    <p:sldId id="2147474630" r:id="rId10"/>
    <p:sldId id="2147474639" r:id="rId11"/>
    <p:sldId id="2147474632" r:id="rId12"/>
    <p:sldId id="2147474640" r:id="rId13"/>
    <p:sldId id="2147474641" r:id="rId14"/>
    <p:sldId id="2147474631" r:id="rId15"/>
    <p:sldId id="2147474636" r:id="rId16"/>
    <p:sldId id="2147474638" r:id="rId17"/>
    <p:sldId id="2147474635" r:id="rId18"/>
    <p:sldId id="2147474637" r:id="rId19"/>
    <p:sldId id="2147473742" r:id="rId20"/>
  </p:sldIdLst>
  <p:sldSz cx="12192000" cy="6858000"/>
  <p:notesSz cx="9926638" cy="6797675"/>
  <p:embeddedFontLst>
    <p:embeddedFont>
      <p:font typeface="Arial Nova Light" panose="020B0304020202020204" pitchFamily="34" charset="0"/>
      <p:regular r:id="rId23"/>
      <p:italic r:id="rId24"/>
    </p:embeddedFont>
    <p:embeddedFont>
      <p:font typeface="New Rail Alphabet Light" panose="02000503060000020004" pitchFamily="2" charset="0"/>
      <p:regular r:id="rId25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9B112B-EACD-A892-5BD6-AE3D56ABC0F7}" name="Damian Rogan" initials="DR" userId="S::damian@eocengineers.com::20c04629-af50-46bb-a9d3-092a6d5ab510" providerId="AD"/>
  <p188:author id="{22DC1F59-9C1A-AD05-EA91-FEBF31D00DF8}" name="Damian Rogan" initials="DR" userId="S::Damian@eocengineers.com::20c04629-af50-46bb-a9d3-092a6d5ab510" providerId="AD"/>
  <p188:author id="{85D13DDB-C847-6A61-FBA0-7BB87663FDBC}" name="William Dodd" initials="WD" userId="S::William.Dodd@eocengineers.com::9cb8ac4a-c467-424a-b066-329e39710ff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ovanni De Mari" initials="GDM" lastIdx="1" clrIdx="0">
    <p:extLst>
      <p:ext uri="{19B8F6BF-5375-455C-9EA6-DF929625EA0E}">
        <p15:presenceInfo xmlns:p15="http://schemas.microsoft.com/office/powerpoint/2012/main" userId="S::Giovanni@eocengineers.com::695e3657-972c-4431-b9df-4dca93ec681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60D"/>
    <a:srgbClr val="56626F"/>
    <a:srgbClr val="B1BECD"/>
    <a:srgbClr val="000000"/>
    <a:srgbClr val="F2F3F4"/>
    <a:srgbClr val="FF5DE0"/>
    <a:srgbClr val="F7A600"/>
    <a:srgbClr val="F4AA86"/>
    <a:srgbClr val="E4A98F"/>
    <a:srgbClr val="C60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6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798" y="114"/>
      </p:cViewPr>
      <p:guideLst>
        <p:guide orient="horz" pos="4320"/>
        <p:guide pos="3840"/>
      </p:guideLst>
    </p:cSldViewPr>
  </p:slideViewPr>
  <p:outlineViewPr>
    <p:cViewPr>
      <p:scale>
        <a:sx n="100" d="100"/>
        <a:sy n="100" d="100"/>
      </p:scale>
      <p:origin x="0" y="-442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2" d="100"/>
        <a:sy n="62" d="100"/>
      </p:scale>
      <p:origin x="0" y="-5813"/>
    </p:cViewPr>
  </p:sorterViewPr>
  <p:notesViewPr>
    <p:cSldViewPr snapToGrid="0" snapToObjects="1">
      <p:cViewPr varScale="1">
        <p:scale>
          <a:sx n="89" d="100"/>
          <a:sy n="89" d="100"/>
        </p:scale>
        <p:origin x="1723" y="67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625" cy="340265"/>
          </a:xfrm>
          <a:prstGeom prst="rect">
            <a:avLst/>
          </a:prstGeom>
        </p:spPr>
        <p:txBody>
          <a:bodyPr vert="horz" lIns="91410" tIns="45705" rIns="91410" bIns="4570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700" y="0"/>
            <a:ext cx="4302625" cy="340265"/>
          </a:xfrm>
          <a:prstGeom prst="rect">
            <a:avLst/>
          </a:prstGeom>
        </p:spPr>
        <p:txBody>
          <a:bodyPr vert="horz" lIns="91410" tIns="45705" rIns="91410" bIns="45705" rtlCol="0"/>
          <a:lstStyle>
            <a:lvl1pPr algn="r">
              <a:defRPr sz="1200"/>
            </a:lvl1pPr>
          </a:lstStyle>
          <a:p>
            <a:fld id="{6A2E778D-67AD-6040-B463-53CE8684E960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327"/>
            <a:ext cx="4302625" cy="340264"/>
          </a:xfrm>
          <a:prstGeom prst="rect">
            <a:avLst/>
          </a:prstGeom>
        </p:spPr>
        <p:txBody>
          <a:bodyPr vert="horz" lIns="91410" tIns="45705" rIns="91410" bIns="4570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700" y="6456327"/>
            <a:ext cx="4302625" cy="340264"/>
          </a:xfrm>
          <a:prstGeom prst="rect">
            <a:avLst/>
          </a:prstGeom>
        </p:spPr>
        <p:txBody>
          <a:bodyPr vert="horz" lIns="91410" tIns="45705" rIns="91410" bIns="45705" rtlCol="0" anchor="b"/>
          <a:lstStyle>
            <a:lvl1pPr algn="r">
              <a:defRPr sz="1200"/>
            </a:lvl1pPr>
          </a:lstStyle>
          <a:p>
            <a:fld id="{7A3C0775-FA6A-B24C-9841-4D75467923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0398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8" y="2"/>
            <a:ext cx="43015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5" rIns="91410" bIns="4570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5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806" y="2"/>
            <a:ext cx="43015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5" rIns="91410" bIns="4570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5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11175"/>
            <a:ext cx="4529138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5" y="3228896"/>
            <a:ext cx="7941310" cy="305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5" rIns="91410" bIns="457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8" y="6456614"/>
            <a:ext cx="43015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5" rIns="91410" bIns="4570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5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806" y="6456614"/>
            <a:ext cx="43015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5" rIns="91410" bIns="4570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5" charset="0"/>
                <a:cs typeface="+mn-cs"/>
              </a:defRPr>
            </a:lvl1pPr>
          </a:lstStyle>
          <a:p>
            <a:pPr>
              <a:defRPr/>
            </a:pPr>
            <a:fld id="{A170FD97-476D-4749-9E22-BFD20E65B7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55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Slide – External Presentation</a:t>
            </a:r>
          </a:p>
          <a:p>
            <a:r>
              <a:rPr lang="en-US" dirty="0"/>
              <a:t>Update text for your presentation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0FD97-476D-4749-9E22-BFD20E65B7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-105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-105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74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C31F-324F-512E-EC73-B45A636E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5A3DB-15E1-3835-B729-F56CFFD84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021D9-57B1-645C-5041-F9844671A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Choose one closing slide and delete the others as required.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A1E53-33AB-3ECB-4A53-24E71C387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70FD97-476D-4749-9E22-BFD20E65B70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59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926421-C844-5D0F-1D6E-8EAAAD777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0783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30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5704CC9-A005-C937-CAD3-6808573443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59" y="891713"/>
            <a:ext cx="11521279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3B910D2-38E0-BDDB-16FD-74395A0086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3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Sub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BE487DA5-86A9-4057-5F9E-4DE6ECEE65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927" y="891713"/>
            <a:ext cx="5645714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951CE57-92F5-679E-7CBB-D1973BE43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0783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30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6B23C1F2-5B6C-50C7-B2E5-AA44EA6CF4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253B12F-D351-1047-AC37-8262A0AD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1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eader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82A20C1-0DB3-FBA6-D2A4-C7EADF7EF3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10927" y="891713"/>
            <a:ext cx="5646737" cy="5446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910920F-8847-37C8-B96F-8CD65B47F7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0783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30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697DD1F2-0D38-2CAD-8805-6616A7BC24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A97BCA6-88E7-8E32-159B-226C8E29D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CBA6AA3-F850-3E3E-7779-75333C0BF5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0783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sz="30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D029388-B928-1758-8F2C-7F613F7E661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" r="-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15886A1-BC6B-3893-440E-94D828BAEB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1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ead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 txBox="1">
            <a:spLocks/>
          </p:cNvSpPr>
          <p:nvPr userDrawn="1"/>
        </p:nvSpPr>
        <p:spPr>
          <a:xfrm>
            <a:off x="239349" y="6377044"/>
            <a:ext cx="12192000" cy="36036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eaLnBrk="1" hangingPunct="1"/>
            <a:r>
              <a:rPr lang="en-GB" sz="1600" b="0" i="0" dirty="0">
                <a:solidFill>
                  <a:srgbClr val="404040"/>
                </a:solidFill>
                <a:latin typeface="New Rail Alphabet Light" panose="02000503060000020004" pitchFamily="2" charset="0"/>
                <a:cs typeface="New Rail Alphabet Medium"/>
              </a:rPr>
              <a:t>  </a:t>
            </a:r>
            <a:endParaRPr lang="en-US" sz="1200" b="0" i="0" dirty="0">
              <a:solidFill>
                <a:srgbClr val="404040"/>
              </a:solidFill>
              <a:latin typeface="New Rail Alphabet Light" panose="02000503060000020004" pitchFamily="2" charset="0"/>
              <a:cs typeface="New Rail Alphabet Medium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C6E837-653F-4A6E-AD33-ECACE4E366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21" y="3087340"/>
            <a:ext cx="12182179" cy="68332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Break title slide</a:t>
            </a:r>
          </a:p>
        </p:txBody>
      </p:sp>
      <p:pic>
        <p:nvPicPr>
          <p:cNvPr id="3" name="Picture 2" descr="A black and white background with white triangles&#10;&#10;Description automatically generated">
            <a:extLst>
              <a:ext uri="{FF2B5EF4-FFF2-40B4-BE49-F238E27FC236}">
                <a16:creationId xmlns:a16="http://schemas.microsoft.com/office/drawing/2014/main" id="{2D343E53-A79D-4B39-E874-5B760DB9E2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869160"/>
            <a:ext cx="12192000" cy="198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3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931">
          <p15:clr>
            <a:srgbClr val="FBAE40"/>
          </p15:clr>
        </p15:guide>
        <p15:guide id="4" pos="374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 Break Page, Gradient (for dark pictur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C3B526-7CB3-F700-499B-7A7231AAE9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BEC6CEB-A982-333B-4F87-74AE104E72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5388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D42D8D-FB99-DA96-3CBB-B0B97EAFCC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5388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758648-C0D1-5D2B-B34D-E3D1DB523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361" y="6338001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4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 Break Page (for lighter pictur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34C4703-DB80-F3DD-AAB1-F99A5CF27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548A413-862B-0A55-10A6-E6DB78C39D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5388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88C26DB-2167-18AA-6C53-47D8A8060D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5388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5E1CF08-8D7E-0ED3-6CAB-C54415547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5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 Break Page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34C4703-DB80-F3DD-AAB1-F99A5CF27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1" y="338999"/>
            <a:ext cx="11521279" cy="575429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548A413-862B-0A55-10A6-E6DB78C39D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601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88C26DB-2167-18AA-6C53-47D8A8060D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601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14B586-05D0-61EC-FE8D-B81547A223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361" y="6338001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9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age 1 Top Left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22">
            <a:extLst>
              <a:ext uri="{FF2B5EF4-FFF2-40B4-BE49-F238E27FC236}">
                <a16:creationId xmlns:a16="http://schemas.microsoft.com/office/drawing/2014/main" id="{D6A0C7F8-16F8-C919-DBB3-ADA6317976D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0742" y="0"/>
            <a:ext cx="4071258" cy="241486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GB" dirty="0"/>
              <a:t>Insert Picture Here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60DB3189-BE8F-9DA4-C1CF-1C55CA8E49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20742" y="2452084"/>
            <a:ext cx="4071258" cy="4405916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GB" dirty="0"/>
              <a:t>Insert Picture Here</a:t>
            </a:r>
          </a:p>
        </p:txBody>
      </p:sp>
      <p:sp>
        <p:nvSpPr>
          <p:cNvPr id="47" name="Picture Placeholder 22">
            <a:extLst>
              <a:ext uri="{FF2B5EF4-FFF2-40B4-BE49-F238E27FC236}">
                <a16:creationId xmlns:a16="http://schemas.microsoft.com/office/drawing/2014/main" id="{5FFE036B-404F-0DAC-64E6-90FF581565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5696" y="2549287"/>
            <a:ext cx="3789953" cy="3654582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US" dirty="0"/>
              <a:t>Insert Project Photography Here</a:t>
            </a:r>
            <a:endParaRPr lang="en-GB" dirty="0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F6BD2082-5EF8-F35E-5E15-933B919C2257}"/>
              </a:ext>
            </a:extLst>
          </p:cNvPr>
          <p:cNvSpPr/>
          <p:nvPr/>
        </p:nvSpPr>
        <p:spPr>
          <a:xfrm flipV="1">
            <a:off x="335696" y="215422"/>
            <a:ext cx="3829878" cy="2133458"/>
          </a:xfrm>
          <a:prstGeom prst="snip1Rect">
            <a:avLst/>
          </a:prstGeom>
          <a:solidFill>
            <a:srgbClr val="5662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FFD9C8B-A586-B03F-4946-2C109BDA89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6" y="381944"/>
            <a:ext cx="3328788" cy="2721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Project Name Here</a:t>
            </a:r>
          </a:p>
          <a:p>
            <a:pPr lvl="0"/>
            <a:endParaRPr lang="en-GB" dirty="0"/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35FFFC0C-9ED1-515C-4691-762B9C629F4B}"/>
              </a:ext>
            </a:extLst>
          </p:cNvPr>
          <p:cNvSpPr txBox="1">
            <a:spLocks/>
          </p:cNvSpPr>
          <p:nvPr userDrawn="1"/>
        </p:nvSpPr>
        <p:spPr>
          <a:xfrm>
            <a:off x="473988" y="713311"/>
            <a:ext cx="655106" cy="138882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Location: 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E541FF32-54CD-B202-B065-F82EE8D9D9E9}"/>
              </a:ext>
            </a:extLst>
          </p:cNvPr>
          <p:cNvSpPr txBox="1">
            <a:spLocks/>
          </p:cNvSpPr>
          <p:nvPr userDrawn="1"/>
        </p:nvSpPr>
        <p:spPr>
          <a:xfrm>
            <a:off x="473988" y="922444"/>
            <a:ext cx="448358" cy="145376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Client: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EB0608D3-EA7E-0CB7-C0EC-36B1441E128C}"/>
              </a:ext>
            </a:extLst>
          </p:cNvPr>
          <p:cNvSpPr txBox="1">
            <a:spLocks/>
          </p:cNvSpPr>
          <p:nvPr userDrawn="1"/>
        </p:nvSpPr>
        <p:spPr>
          <a:xfrm>
            <a:off x="479376" y="1140559"/>
            <a:ext cx="649718" cy="145376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Architect: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9360D890-843A-1566-97DD-6E3BA6A98F81}"/>
              </a:ext>
            </a:extLst>
          </p:cNvPr>
          <p:cNvSpPr txBox="1">
            <a:spLocks/>
          </p:cNvSpPr>
          <p:nvPr userDrawn="1"/>
        </p:nvSpPr>
        <p:spPr>
          <a:xfrm>
            <a:off x="479376" y="1344106"/>
            <a:ext cx="376460" cy="151606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Date: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DAB5F3E-EB18-DD02-84E7-3637E0F666D6}"/>
              </a:ext>
            </a:extLst>
          </p:cNvPr>
          <p:cNvSpPr txBox="1">
            <a:spLocks/>
          </p:cNvSpPr>
          <p:nvPr userDrawn="1"/>
        </p:nvSpPr>
        <p:spPr>
          <a:xfrm>
            <a:off x="479376" y="1560432"/>
            <a:ext cx="441272" cy="138882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Value: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B35F1BFE-547D-6C4E-A446-F65179E592E6}"/>
              </a:ext>
            </a:extLst>
          </p:cNvPr>
          <p:cNvSpPr txBox="1">
            <a:spLocks/>
          </p:cNvSpPr>
          <p:nvPr userDrawn="1"/>
        </p:nvSpPr>
        <p:spPr>
          <a:xfrm>
            <a:off x="479376" y="1771198"/>
            <a:ext cx="1240556" cy="138882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Services Provided: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A739C897-612A-E5AF-1955-B9198AA41F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376" y="1960355"/>
            <a:ext cx="3328788" cy="3327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050" b="1">
                <a:solidFill>
                  <a:schemeClr val="bg1"/>
                </a:solidFill>
                <a:highlight>
                  <a:srgbClr val="EA560D"/>
                </a:highlight>
              </a:defRPr>
            </a:lvl1pPr>
          </a:lstStyle>
          <a:p>
            <a:pPr lvl="0"/>
            <a:r>
              <a:rPr lang="en-GB" dirty="0"/>
              <a:t>Fun Fact Inserted Here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658D7181-C377-1E53-061D-E9FFA36103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2866" y="713312"/>
            <a:ext cx="2665298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36484CF9-5015-3189-6A68-C01A88D064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4420" y="923706"/>
            <a:ext cx="2873744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8F5FDB46-5B36-C2D1-D5FD-9F26789AC0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4394" y="1138357"/>
            <a:ext cx="2663770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13230699-63FA-AC38-ED94-7CC80358B9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0342" y="1347587"/>
            <a:ext cx="2937821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40" name="Text Placeholder 33">
            <a:extLst>
              <a:ext uri="{FF2B5EF4-FFF2-40B4-BE49-F238E27FC236}">
                <a16:creationId xmlns:a16="http://schemas.microsoft.com/office/drawing/2014/main" id="{C7AD068D-4B5C-DEC8-9739-5B860AF4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4420" y="1565265"/>
            <a:ext cx="2873743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41" name="Text Placeholder 33">
            <a:extLst>
              <a:ext uri="{FF2B5EF4-FFF2-40B4-BE49-F238E27FC236}">
                <a16:creationId xmlns:a16="http://schemas.microsoft.com/office/drawing/2014/main" id="{2A19D43B-9EAC-4BA6-6E00-0AC27172E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32220" y="1771198"/>
            <a:ext cx="2075943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48" name="Picture Placeholder 22">
            <a:extLst>
              <a:ext uri="{FF2B5EF4-FFF2-40B4-BE49-F238E27FC236}">
                <a16:creationId xmlns:a16="http://schemas.microsoft.com/office/drawing/2014/main" id="{1EE1CE76-EC8C-3648-8CFD-2F3339B170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63356" y="654131"/>
            <a:ext cx="3303984" cy="2774869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GB" dirty="0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EFCBFE30-DB91-D8FD-A4CA-CABEBB7288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2748" y="215900"/>
            <a:ext cx="3303984" cy="3140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1"/>
            </a:lvl1pPr>
          </a:lstStyle>
          <a:p>
            <a:pPr lvl="0"/>
            <a:r>
              <a:rPr lang="en-GB" dirty="0"/>
              <a:t>Caption Title:</a:t>
            </a:r>
          </a:p>
        </p:txBody>
      </p:sp>
      <p:sp>
        <p:nvSpPr>
          <p:cNvPr id="50" name="Picture Placeholder 22">
            <a:extLst>
              <a:ext uri="{FF2B5EF4-FFF2-40B4-BE49-F238E27FC236}">
                <a16:creationId xmlns:a16="http://schemas.microsoft.com/office/drawing/2014/main" id="{FDB4D6F3-9485-72D3-DB5E-C5FAFBE5F63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62747" y="3637160"/>
            <a:ext cx="3303985" cy="293341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DA8AC87-9092-BE2B-E654-91C5DE7CC5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2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age 2, Top Right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1FE82-DBD1-6E03-E1C7-10BFA5AA1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4" y="3454442"/>
            <a:ext cx="9143999" cy="27699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en-GB" sz="1200" kern="1200" dirty="0">
                <a:solidFill>
                  <a:schemeClr val="bg1"/>
                </a:solidFill>
                <a:effectLst/>
                <a:latin typeface="Arial Nova Light" panose="020B03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F6BD2082-5EF8-F35E-5E15-933B919C2257}"/>
              </a:ext>
            </a:extLst>
          </p:cNvPr>
          <p:cNvSpPr/>
          <p:nvPr/>
        </p:nvSpPr>
        <p:spPr>
          <a:xfrm flipH="1" flipV="1">
            <a:off x="8102091" y="215422"/>
            <a:ext cx="3829878" cy="2133458"/>
          </a:xfrm>
          <a:prstGeom prst="snip1Rect">
            <a:avLst/>
          </a:prstGeom>
          <a:solidFill>
            <a:srgbClr val="5662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FFD9C8B-A586-B03F-4946-2C109BDA89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5343" y="381944"/>
            <a:ext cx="3328788" cy="2721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Project Name Here</a:t>
            </a:r>
          </a:p>
          <a:p>
            <a:pPr lvl="0"/>
            <a:endParaRPr lang="en-GB" dirty="0"/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35FFFC0C-9ED1-515C-4691-762B9C629F4B}"/>
              </a:ext>
            </a:extLst>
          </p:cNvPr>
          <p:cNvSpPr txBox="1">
            <a:spLocks/>
          </p:cNvSpPr>
          <p:nvPr userDrawn="1"/>
        </p:nvSpPr>
        <p:spPr>
          <a:xfrm>
            <a:off x="8469955" y="713311"/>
            <a:ext cx="655106" cy="138882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Location: 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E541FF32-54CD-B202-B065-F82EE8D9D9E9}"/>
              </a:ext>
            </a:extLst>
          </p:cNvPr>
          <p:cNvSpPr txBox="1">
            <a:spLocks/>
          </p:cNvSpPr>
          <p:nvPr userDrawn="1"/>
        </p:nvSpPr>
        <p:spPr>
          <a:xfrm>
            <a:off x="8469955" y="922444"/>
            <a:ext cx="448358" cy="145376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Client: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EB0608D3-EA7E-0CB7-C0EC-36B1441E128C}"/>
              </a:ext>
            </a:extLst>
          </p:cNvPr>
          <p:cNvSpPr txBox="1">
            <a:spLocks/>
          </p:cNvSpPr>
          <p:nvPr userDrawn="1"/>
        </p:nvSpPr>
        <p:spPr>
          <a:xfrm>
            <a:off x="8475343" y="1140559"/>
            <a:ext cx="649718" cy="145376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Architect: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9360D890-843A-1566-97DD-6E3BA6A98F81}"/>
              </a:ext>
            </a:extLst>
          </p:cNvPr>
          <p:cNvSpPr txBox="1">
            <a:spLocks/>
          </p:cNvSpPr>
          <p:nvPr userDrawn="1"/>
        </p:nvSpPr>
        <p:spPr>
          <a:xfrm>
            <a:off x="8475343" y="1344106"/>
            <a:ext cx="376460" cy="151606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Date: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DAB5F3E-EB18-DD02-84E7-3637E0F666D6}"/>
              </a:ext>
            </a:extLst>
          </p:cNvPr>
          <p:cNvSpPr txBox="1">
            <a:spLocks/>
          </p:cNvSpPr>
          <p:nvPr userDrawn="1"/>
        </p:nvSpPr>
        <p:spPr>
          <a:xfrm>
            <a:off x="8475343" y="1560432"/>
            <a:ext cx="441272" cy="138882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Value: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B35F1BFE-547D-6C4E-A446-F65179E592E6}"/>
              </a:ext>
            </a:extLst>
          </p:cNvPr>
          <p:cNvSpPr txBox="1">
            <a:spLocks/>
          </p:cNvSpPr>
          <p:nvPr userDrawn="1"/>
        </p:nvSpPr>
        <p:spPr>
          <a:xfrm>
            <a:off x="8475343" y="1771198"/>
            <a:ext cx="1240556" cy="138882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marL="0" indent="0">
              <a:buNone/>
            </a:pPr>
            <a:r>
              <a:rPr lang="en-US" sz="1050" b="1" kern="0" dirty="0">
                <a:solidFill>
                  <a:schemeClr val="bg1"/>
                </a:solidFill>
              </a:rPr>
              <a:t>Services Provided:</a:t>
            </a:r>
          </a:p>
          <a:p>
            <a:pPr marL="0" indent="0">
              <a:buNone/>
            </a:pPr>
            <a:endParaRPr lang="en-US" sz="1000" b="1" kern="0" dirty="0">
              <a:solidFill>
                <a:schemeClr val="bg1"/>
              </a:solidFill>
            </a:endParaRP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A739C897-612A-E5AF-1955-B9198AA41F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5343" y="1960355"/>
            <a:ext cx="3328788" cy="3327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050" b="1">
                <a:solidFill>
                  <a:schemeClr val="bg1"/>
                </a:solidFill>
                <a:highlight>
                  <a:srgbClr val="EA560D"/>
                </a:highlight>
              </a:defRPr>
            </a:lvl1pPr>
          </a:lstStyle>
          <a:p>
            <a:pPr lvl="0"/>
            <a:r>
              <a:rPr lang="en-GB" dirty="0"/>
              <a:t>Fun Fact Inserted Here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658D7181-C377-1E53-061D-E9FFA36103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8833" y="713312"/>
            <a:ext cx="2665298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36484CF9-5015-3189-6A68-C01A88D064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0387" y="923706"/>
            <a:ext cx="2873744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8F5FDB46-5B36-C2D1-D5FD-9F26789AC0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0361" y="1138357"/>
            <a:ext cx="2663770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13230699-63FA-AC38-ED94-7CC80358B9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66309" y="1347587"/>
            <a:ext cx="2937821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40" name="Text Placeholder 33">
            <a:extLst>
              <a:ext uri="{FF2B5EF4-FFF2-40B4-BE49-F238E27FC236}">
                <a16:creationId xmlns:a16="http://schemas.microsoft.com/office/drawing/2014/main" id="{C7AD068D-4B5C-DEC8-9739-5B860AF4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30387" y="1565265"/>
            <a:ext cx="2873743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41" name="Text Placeholder 33">
            <a:extLst>
              <a:ext uri="{FF2B5EF4-FFF2-40B4-BE49-F238E27FC236}">
                <a16:creationId xmlns:a16="http://schemas.microsoft.com/office/drawing/2014/main" id="{2A19D43B-9EAC-4BA6-6E00-0AC27172E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28187" y="1771198"/>
            <a:ext cx="2075943" cy="1388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Text Here</a:t>
            </a:r>
          </a:p>
        </p:txBody>
      </p:sp>
      <p:sp>
        <p:nvSpPr>
          <p:cNvPr id="43" name="Picture Placeholder 22">
            <a:extLst>
              <a:ext uri="{FF2B5EF4-FFF2-40B4-BE49-F238E27FC236}">
                <a16:creationId xmlns:a16="http://schemas.microsoft.com/office/drawing/2014/main" id="{D6A0C7F8-16F8-C919-DBB3-ADA6317976D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16512" y="2593195"/>
            <a:ext cx="3816424" cy="397737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GB" dirty="0"/>
              <a:t>Insert Picture Here</a:t>
            </a:r>
          </a:p>
        </p:txBody>
      </p:sp>
      <p:sp>
        <p:nvSpPr>
          <p:cNvPr id="48" name="Picture Placeholder 22">
            <a:extLst>
              <a:ext uri="{FF2B5EF4-FFF2-40B4-BE49-F238E27FC236}">
                <a16:creationId xmlns:a16="http://schemas.microsoft.com/office/drawing/2014/main" id="{1EE1CE76-EC8C-3648-8CFD-2F3339B170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63356" y="654131"/>
            <a:ext cx="3303984" cy="2774869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GB" dirty="0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EFCBFE30-DB91-D8FD-A4CA-CABEBB7288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4772" y="215900"/>
            <a:ext cx="3303984" cy="3140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1"/>
            </a:lvl1pPr>
          </a:lstStyle>
          <a:p>
            <a:pPr lvl="0"/>
            <a:r>
              <a:rPr lang="en-GB" dirty="0"/>
              <a:t>Caption Title:</a:t>
            </a:r>
          </a:p>
        </p:txBody>
      </p:sp>
      <p:sp>
        <p:nvSpPr>
          <p:cNvPr id="50" name="Picture Placeholder 22">
            <a:extLst>
              <a:ext uri="{FF2B5EF4-FFF2-40B4-BE49-F238E27FC236}">
                <a16:creationId xmlns:a16="http://schemas.microsoft.com/office/drawing/2014/main" id="{FDB4D6F3-9485-72D3-DB5E-C5FAFBE5F63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62747" y="3637160"/>
            <a:ext cx="3303985" cy="293341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GB" dirty="0"/>
          </a:p>
        </p:txBody>
      </p:sp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764D07C7-DD2B-8805-6C77-F3E47F0A2BF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071258" cy="241486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GB" dirty="0"/>
              <a:t>Insert Picture Here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03A26C86-7DC4-9234-C33B-1FD5F1278D5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2452084"/>
            <a:ext cx="4071258" cy="4405916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00">
                <a:solidFill>
                  <a:srgbClr val="56626F"/>
                </a:solidFill>
              </a:defRPr>
            </a:lvl1pPr>
          </a:lstStyle>
          <a:p>
            <a:r>
              <a:rPr lang="en-GB" dirty="0"/>
              <a:t>Insert Picture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B5DB66B-61E5-5A41-FD0E-EFFE6756C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6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66" userDrawn="1">
          <p15:clr>
            <a:srgbClr val="FBAE40"/>
          </p15:clr>
        </p15:guide>
        <p15:guide id="5" pos="751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s x2, Gradient (for dark pictur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EA0FDB5-2E16-9E9A-ABCF-5AD7A5A8D1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23992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140535C-F86C-8C75-F026-B50395E389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93A7402D-8879-8D61-6E80-C1AF39EDE88D}"/>
              </a:ext>
            </a:extLst>
          </p:cNvPr>
          <p:cNvSpPr txBox="1">
            <a:spLocks/>
          </p:cNvSpPr>
          <p:nvPr userDrawn="1"/>
        </p:nvSpPr>
        <p:spPr>
          <a:xfrm>
            <a:off x="239349" y="6377044"/>
            <a:ext cx="12192000" cy="360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eaLnBrk="1" hangingPunct="1"/>
            <a:r>
              <a:rPr lang="en-GB" sz="1600" b="0" i="0">
                <a:solidFill>
                  <a:srgbClr val="404040"/>
                </a:solidFill>
                <a:latin typeface="New Rail Alphabet Light" panose="02000503060000020004" pitchFamily="2" charset="0"/>
                <a:cs typeface="New Rail Alphabet Medium"/>
              </a:rPr>
              <a:t>  </a:t>
            </a:r>
            <a:endParaRPr lang="en-US" sz="1200" b="0" i="0">
              <a:solidFill>
                <a:srgbClr val="404040"/>
              </a:solidFill>
              <a:latin typeface="New Rail Alphabet Light" panose="02000503060000020004" pitchFamily="2" charset="0"/>
              <a:cs typeface="New Rail Alphabet Medium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0B858688-B52C-797B-B3BF-DCA9D9EB659A}"/>
              </a:ext>
            </a:extLst>
          </p:cNvPr>
          <p:cNvSpPr txBox="1">
            <a:spLocks/>
          </p:cNvSpPr>
          <p:nvPr userDrawn="1"/>
        </p:nvSpPr>
        <p:spPr>
          <a:xfrm>
            <a:off x="239349" y="6377044"/>
            <a:ext cx="12192000" cy="360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eaLnBrk="1" hangingPunct="1"/>
            <a:r>
              <a:rPr lang="en-GB" sz="1600" b="0" i="0">
                <a:solidFill>
                  <a:srgbClr val="404040"/>
                </a:solidFill>
                <a:latin typeface="New Rail Alphabet Light" panose="02000503060000020004" pitchFamily="2" charset="0"/>
                <a:cs typeface="New Rail Alphabet Medium"/>
              </a:rPr>
              <a:t>  </a:t>
            </a:r>
            <a:endParaRPr lang="en-US" sz="1200" b="0" i="0">
              <a:solidFill>
                <a:srgbClr val="404040"/>
              </a:solidFill>
              <a:latin typeface="New Rail Alphabet Light" panose="02000503060000020004" pitchFamily="2" charset="0"/>
              <a:cs typeface="New Rail Alphabet Medium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48AA66C-F084-F2B5-4667-A2380BC598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5388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5B45145-FE0A-5BF4-1025-A77B6A67A2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5388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A1AF96-4055-A63D-E807-3E7C2DDE40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361" y="6338001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s x2, No Gradient (for lighter pictur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E482F801-EC46-231B-8AAE-0A2CCA6A2E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23992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8313A9F8-86FA-EB35-06C2-8E6A25A742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6095999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7C6935-43A8-FEFF-FB53-485706C006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5388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A69FD0B-7D5A-8AFE-587F-22C8BC0D1D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5388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43F999-5473-0508-A408-80C6C71CD0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361" y="6338001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7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931">
          <p15:clr>
            <a:srgbClr val="FBAE40"/>
          </p15:clr>
        </p15:guide>
        <p15:guide id="4" pos="374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s x2 Text Left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0F8C3DF-B500-4BDB-BA5B-E76CC41B6C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00600" y="-8032"/>
            <a:ext cx="7391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B4D35F5-5960-48E3-82D2-E517114940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456" y="0"/>
            <a:ext cx="472784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44906E6-B241-14D6-958C-4D976BB60D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5388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8579FF-A002-C90E-2769-06BC506769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5388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F191A4-061C-E4E6-213C-10924E6674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5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931">
          <p15:clr>
            <a:srgbClr val="FBAE40"/>
          </p15:clr>
        </p15:guide>
        <p15:guide id="4" pos="374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Images x3 Text Left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DE4ADE62-F990-6315-3248-48052103D6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00600" y="0"/>
            <a:ext cx="7391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26187E47-FACB-86FA-A297-62D084F072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727847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C1B64088-1701-1EE9-972C-470A0D0A35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501008"/>
            <a:ext cx="4727847" cy="3356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28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4886FB-4871-8EF6-B1E0-A47BF0A1F0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5388" y="645333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Name, City | Architect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2D73664-A9E7-25EB-5611-CA148DD07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5388" y="6211026"/>
            <a:ext cx="5761038" cy="307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EA56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 Awards ─ Award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7DBE32-8F94-CF2F-7C2C-A0D1196C1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7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931">
          <p15:clr>
            <a:srgbClr val="FBAE40"/>
          </p15:clr>
        </p15:guide>
        <p15:guide id="4" pos="374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110E1629-1648-4E02-82F0-96435AEA0A7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91564469"/>
              </p:ext>
            </p:extLst>
          </p:nvPr>
        </p:nvGraphicFramePr>
        <p:xfrm>
          <a:off x="1919536" y="2132856"/>
          <a:ext cx="8128000" cy="1483360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29831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76635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4372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81056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19448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86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51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928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404183"/>
                  </a:ext>
                </a:extLst>
              </a:tr>
            </a:tbl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6E4A2BA7-1A5B-69DE-140F-4B86B588D2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9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47">
          <p15:clr>
            <a:srgbClr val="FBAE40"/>
          </p15:clr>
        </p15:guide>
        <p15:guide id="2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110E1629-1648-4E02-82F0-96435AEA0A7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45649643"/>
              </p:ext>
            </p:extLst>
          </p:nvPr>
        </p:nvGraphicFramePr>
        <p:xfrm>
          <a:off x="1919536" y="2060848"/>
          <a:ext cx="8128000" cy="3294842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29831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76635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4372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81056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19448561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 or </a:t>
                      </a:r>
                      <a:r>
                        <a:rPr lang="en-GB" sz="1400" b="0" dirty="0">
                          <a:solidFill>
                            <a:schemeClr val="bg2"/>
                          </a:solidFill>
                        </a:rPr>
                        <a:t>cell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 or </a:t>
                      </a:r>
                      <a:r>
                        <a:rPr lang="en-GB" sz="1400" b="0" dirty="0">
                          <a:solidFill>
                            <a:schemeClr val="bg2"/>
                          </a:solidFill>
                        </a:rPr>
                        <a:t>cell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 or </a:t>
                      </a:r>
                      <a:r>
                        <a:rPr lang="en-GB" sz="1400" b="0" dirty="0">
                          <a:solidFill>
                            <a:schemeClr val="bg2"/>
                          </a:solidFill>
                        </a:rPr>
                        <a:t>cell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 or </a:t>
                      </a:r>
                      <a:r>
                        <a:rPr lang="en-GB" sz="1400" b="0" dirty="0">
                          <a:solidFill>
                            <a:schemeClr val="bg2"/>
                          </a:solidFill>
                        </a:rPr>
                        <a:t>cell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86009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5139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92891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  <a:p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4041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12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734990"/>
                  </a:ext>
                </a:extLst>
              </a:tr>
              <a:tr h="460202"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  <a:p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860039"/>
                  </a:ext>
                </a:extLst>
              </a:tr>
              <a:tr h="23337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043558"/>
                  </a:ext>
                </a:extLst>
              </a:tr>
              <a:tr h="23337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906669"/>
                  </a:ext>
                </a:extLst>
              </a:tr>
            </a:tbl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155F102E-C91C-10AD-5E33-C9C86CC6B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3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47">
          <p15:clr>
            <a:srgbClr val="FBAE40"/>
          </p15:clr>
        </p15:guide>
        <p15:guide id="2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110E1629-1648-4E02-82F0-96435AEA0A7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77763892"/>
              </p:ext>
            </p:extLst>
          </p:nvPr>
        </p:nvGraphicFramePr>
        <p:xfrm>
          <a:off x="1919536" y="2060848"/>
          <a:ext cx="8128000" cy="3665682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29831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76635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4372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81056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19448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5420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86009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5139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92891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</a:t>
                      </a:r>
                    </a:p>
                    <a:p>
                      <a:endParaRPr lang="en-GB" sz="1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4041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12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734990"/>
                  </a:ext>
                </a:extLst>
              </a:tr>
              <a:tr h="460202"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2"/>
                          </a:solidFill>
                        </a:rPr>
                        <a:t>Title</a:t>
                      </a:r>
                    </a:p>
                    <a:p>
                      <a:endParaRPr lang="en-GB" sz="1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860039"/>
                  </a:ext>
                </a:extLst>
              </a:tr>
              <a:tr h="23337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043558"/>
                  </a:ext>
                </a:extLst>
              </a:tr>
              <a:tr h="23337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906669"/>
                  </a:ext>
                </a:extLst>
              </a:tr>
            </a:tbl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E9B72973-E281-EB4F-008C-30308421F6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4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47">
          <p15:clr>
            <a:srgbClr val="FBAE40"/>
          </p15:clr>
        </p15:guide>
        <p15:guide id="2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2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96" r:id="rId4"/>
    <p:sldLayoutId id="2147483984" r:id="rId5"/>
    <p:sldLayoutId id="2147483993" r:id="rId6"/>
    <p:sldLayoutId id="2147483974" r:id="rId7"/>
    <p:sldLayoutId id="2147483995" r:id="rId8"/>
    <p:sldLayoutId id="2147483997" r:id="rId9"/>
    <p:sldLayoutId id="2147483953" r:id="rId10"/>
    <p:sldLayoutId id="2147483772" r:id="rId11"/>
    <p:sldLayoutId id="2147483779" r:id="rId12"/>
    <p:sldLayoutId id="2147483976" r:id="rId13"/>
    <p:sldLayoutId id="21474839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918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0B56D40-1AFA-44A6-1639-27F072A75E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8388"/>
            <a:ext cx="12192000" cy="6866387"/>
          </a:xfrm>
          <a:prstGeom prst="rect">
            <a:avLst/>
          </a:prstGeom>
          <a:gradFill>
            <a:gsLst>
              <a:gs pos="0">
                <a:srgbClr val="3C4957"/>
              </a:gs>
              <a:gs pos="100000">
                <a:srgbClr val="56626F"/>
              </a:gs>
            </a:gsLst>
            <a:lin ang="3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4E7350C1-AEE7-AE0D-4358-2218126F6E9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5760" y="0"/>
            <a:ext cx="8256240" cy="6858000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F50E032-98D3-FA59-E870-8650321B588A}"/>
              </a:ext>
            </a:extLst>
          </p:cNvPr>
          <p:cNvSpPr txBox="1">
            <a:spLocks/>
          </p:cNvSpPr>
          <p:nvPr/>
        </p:nvSpPr>
        <p:spPr>
          <a:xfrm>
            <a:off x="738369" y="4235391"/>
            <a:ext cx="6349838" cy="4564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BFE8F7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i="0" dirty="0">
                <a:solidFill>
                  <a:srgbClr val="B1BECD"/>
                </a:solidFill>
                <a:latin typeface="Arial" panose="020B0604020202020204"/>
              </a:rPr>
              <a:t>Environmental Study - Solar gains + Daylight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0E3A9C0-1EEF-065B-25A7-F1549E106BE6}"/>
              </a:ext>
            </a:extLst>
          </p:cNvPr>
          <p:cNvSpPr txBox="1">
            <a:spLocks/>
          </p:cNvSpPr>
          <p:nvPr/>
        </p:nvSpPr>
        <p:spPr>
          <a:xfrm>
            <a:off x="738369" y="6130551"/>
            <a:ext cx="6349838" cy="4564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BFE8F7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B1BEC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20/10/2026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B1BEC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60C3244-9DF8-DE7C-BDED-19C10E09B8A0}"/>
              </a:ext>
            </a:extLst>
          </p:cNvPr>
          <p:cNvSpPr txBox="1">
            <a:spLocks/>
          </p:cNvSpPr>
          <p:nvPr/>
        </p:nvSpPr>
        <p:spPr>
          <a:xfrm>
            <a:off x="738369" y="1961108"/>
            <a:ext cx="7921554" cy="1674389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fontAlgn="auto">
              <a:lnSpc>
                <a:spcPts val="55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rgbClr val="FFFFFF"/>
                </a:solidFill>
              </a:rPr>
              <a:t>DFF - Robotic Lab Expansion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8ED37C0-67EC-142A-19A1-D9880B0A4E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416" y="499203"/>
            <a:ext cx="2696400" cy="92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1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B4FFDB-E51C-2D26-441A-13D48DC50B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 dirty="0">
                <a:latin typeface="+mn-lt"/>
              </a:rPr>
              <a:t>Environmental design study</a:t>
            </a:r>
            <a:endParaRPr lang="en-GB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6C5F0-FD57-3B1C-9F5D-D2559E670C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59" y="891713"/>
            <a:ext cx="11521279" cy="307777"/>
          </a:xfrm>
        </p:spPr>
        <p:txBody>
          <a:bodyPr/>
          <a:lstStyle/>
          <a:p>
            <a:r>
              <a:rPr lang="en-US" dirty="0">
                <a:latin typeface="+mn-lt"/>
              </a:rPr>
              <a:t>Schematic workflow to study effect of shading and glazing on radiation and daylight</a:t>
            </a:r>
            <a:endParaRPr lang="en-GB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ED6B7-D653-C675-39D4-7B6347AC7A7B}"/>
              </a:ext>
            </a:extLst>
          </p:cNvPr>
          <p:cNvSpPr txBox="1"/>
          <p:nvPr/>
        </p:nvSpPr>
        <p:spPr bwMode="auto">
          <a:xfrm>
            <a:off x="2577935" y="2868128"/>
            <a:ext cx="136815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400" dirty="0">
                <a:latin typeface="+mn-lt"/>
              </a:rPr>
              <a:t>Incident solar radiation on facade</a:t>
            </a:r>
            <a:endParaRPr lang="en-GB" sz="1400" dirty="0">
              <a:solidFill>
                <a:srgbClr val="595959"/>
              </a:solidFill>
              <a:latin typeface="+mn-lt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01B0D7-377A-ACCC-8758-73AA94E03714}"/>
              </a:ext>
            </a:extLst>
          </p:cNvPr>
          <p:cNvCxnSpPr>
            <a:cxnSpLocks/>
          </p:cNvCxnSpPr>
          <p:nvPr/>
        </p:nvCxnSpPr>
        <p:spPr>
          <a:xfrm>
            <a:off x="2092206" y="3309468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3FE387-6306-B4C6-CAE9-84E3C44C43D3}"/>
              </a:ext>
            </a:extLst>
          </p:cNvPr>
          <p:cNvSpPr txBox="1"/>
          <p:nvPr/>
        </p:nvSpPr>
        <p:spPr bwMode="auto">
          <a:xfrm>
            <a:off x="8080216" y="3182291"/>
            <a:ext cx="13681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400" dirty="0">
                <a:latin typeface="+mn-lt"/>
              </a:rPr>
              <a:t>Peak solar heat gain</a:t>
            </a:r>
            <a:endParaRPr lang="en-GB" sz="1400" dirty="0">
              <a:solidFill>
                <a:srgbClr val="595959"/>
              </a:solidFill>
              <a:latin typeface="+mn-lt"/>
              <a:cs typeface="Arial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2E09FD-522B-4910-90A9-D60C1778FE7A}"/>
              </a:ext>
            </a:extLst>
          </p:cNvPr>
          <p:cNvCxnSpPr>
            <a:cxnSpLocks/>
          </p:cNvCxnSpPr>
          <p:nvPr/>
        </p:nvCxnSpPr>
        <p:spPr>
          <a:xfrm>
            <a:off x="4060208" y="3309468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5096B8-538E-164E-B23A-33268D121F25}"/>
              </a:ext>
            </a:extLst>
          </p:cNvPr>
          <p:cNvCxnSpPr>
            <a:cxnSpLocks/>
          </p:cNvCxnSpPr>
          <p:nvPr/>
        </p:nvCxnSpPr>
        <p:spPr>
          <a:xfrm>
            <a:off x="7585566" y="3309468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D8F1E01-0AD4-6018-6279-1310874BC923}"/>
              </a:ext>
            </a:extLst>
          </p:cNvPr>
          <p:cNvGrpSpPr/>
          <p:nvPr/>
        </p:nvGrpSpPr>
        <p:grpSpPr>
          <a:xfrm>
            <a:off x="543141" y="2507508"/>
            <a:ext cx="1368152" cy="1725290"/>
            <a:chOff x="1114489" y="2060268"/>
            <a:chExt cx="1368152" cy="172529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B935B8-E538-83C6-BF18-63BAA0834888}"/>
                </a:ext>
              </a:extLst>
            </p:cNvPr>
            <p:cNvSpPr txBox="1"/>
            <p:nvPr/>
          </p:nvSpPr>
          <p:spPr bwMode="auto">
            <a:xfrm>
              <a:off x="1114489" y="2060268"/>
              <a:ext cx="136815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rtlCol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solidFill>
                    <a:srgbClr val="595959"/>
                  </a:solidFill>
                  <a:latin typeface="+mn-lt"/>
                  <a:cs typeface="Arial"/>
                </a:rPr>
                <a:t>Façade geometry</a:t>
              </a:r>
              <a:endParaRPr lang="en-GB" sz="1400" dirty="0">
                <a:solidFill>
                  <a:srgbClr val="595959"/>
                </a:solidFill>
                <a:latin typeface="+mn-lt"/>
                <a:cs typeface="Arial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68CD60-3C96-9C05-72A9-9F6FDEB85F40}"/>
                </a:ext>
              </a:extLst>
            </p:cNvPr>
            <p:cNvSpPr txBox="1"/>
            <p:nvPr/>
          </p:nvSpPr>
          <p:spPr bwMode="auto">
            <a:xfrm>
              <a:off x="1114489" y="3231560"/>
              <a:ext cx="13681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rtlCol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solidFill>
                    <a:srgbClr val="595959"/>
                  </a:solidFill>
                  <a:latin typeface="+mn-lt"/>
                  <a:cs typeface="Arial"/>
                </a:rPr>
                <a:t>Overhang depth</a:t>
              </a:r>
              <a:endParaRPr lang="en-GB" sz="1400" dirty="0">
                <a:solidFill>
                  <a:srgbClr val="595959"/>
                </a:solidFill>
                <a:latin typeface="+mn-lt"/>
                <a:cs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5063EB-E0E4-B68A-52DD-4D5034FFF3A1}"/>
                </a:ext>
              </a:extLst>
            </p:cNvPr>
            <p:cNvSpPr txBox="1"/>
            <p:nvPr/>
          </p:nvSpPr>
          <p:spPr bwMode="auto">
            <a:xfrm>
              <a:off x="1114489" y="2708340"/>
              <a:ext cx="13681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rtlCol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solidFill>
                    <a:srgbClr val="595959"/>
                  </a:solidFill>
                  <a:latin typeface="+mn-lt"/>
                  <a:cs typeface="Arial"/>
                </a:rPr>
                <a:t>+</a:t>
              </a:r>
              <a:endParaRPr lang="en-GB" sz="1400" dirty="0">
                <a:solidFill>
                  <a:srgbClr val="595959"/>
                </a:solidFill>
                <a:latin typeface="+mn-lt"/>
                <a:cs typeface="Arial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DEA050B-B482-7BB6-B647-43C457BB902B}"/>
                </a:ext>
              </a:extLst>
            </p:cNvPr>
            <p:cNvSpPr txBox="1"/>
            <p:nvPr/>
          </p:nvSpPr>
          <p:spPr bwMode="auto">
            <a:xfrm>
              <a:off x="1114489" y="3539337"/>
              <a:ext cx="136815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rtlCol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000" i="1" dirty="0">
                  <a:solidFill>
                    <a:srgbClr val="EA560D"/>
                  </a:solidFill>
                  <a:latin typeface="+mn-lt"/>
                  <a:cs typeface="Arial"/>
                </a:rPr>
                <a:t>(study parameter)</a:t>
              </a:r>
              <a:endParaRPr lang="en-GB" sz="1000" i="1" dirty="0">
                <a:solidFill>
                  <a:srgbClr val="EA560D"/>
                </a:solidFill>
                <a:latin typeface="+mn-lt"/>
                <a:cs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470C80-1B37-174D-032B-4415E0983A72}"/>
              </a:ext>
            </a:extLst>
          </p:cNvPr>
          <p:cNvGrpSpPr/>
          <p:nvPr/>
        </p:nvGrpSpPr>
        <p:grpSpPr>
          <a:xfrm>
            <a:off x="4606990" y="3088056"/>
            <a:ext cx="2956353" cy="836965"/>
            <a:chOff x="4988694" y="2614105"/>
            <a:chExt cx="2956353" cy="8369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4D51CA-FB69-519A-A219-6FCC0306C558}"/>
                </a:ext>
              </a:extLst>
            </p:cNvPr>
            <p:cNvSpPr txBox="1"/>
            <p:nvPr/>
          </p:nvSpPr>
          <p:spPr bwMode="auto">
            <a:xfrm>
              <a:off x="4988694" y="2614105"/>
              <a:ext cx="136815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rtlCol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dirty="0">
                  <a:latin typeface="+mn-lt"/>
                </a:rPr>
                <a:t>Peak incident solar radiation</a:t>
              </a:r>
              <a:endParaRPr lang="en-GB" sz="1400" dirty="0">
                <a:solidFill>
                  <a:srgbClr val="595959"/>
                </a:solidFill>
                <a:latin typeface="+mn-lt"/>
                <a:cs typeface="Arial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88BE63-F261-0FF1-ED3F-A617EE969796}"/>
                </a:ext>
              </a:extLst>
            </p:cNvPr>
            <p:cNvSpPr txBox="1"/>
            <p:nvPr/>
          </p:nvSpPr>
          <p:spPr bwMode="auto">
            <a:xfrm>
              <a:off x="6172234" y="2708340"/>
              <a:ext cx="36922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>
                  <a:latin typeface="+mn-lt"/>
                </a:rPr>
                <a:t>x </a:t>
              </a:r>
              <a:endParaRPr lang="en-GB" dirty="0">
                <a:latin typeface="+mn-lt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F646C2D-98CE-84A5-ACA4-A2BE2C1D421E}"/>
                </a:ext>
              </a:extLst>
            </p:cNvPr>
            <p:cNvGrpSpPr/>
            <p:nvPr/>
          </p:nvGrpSpPr>
          <p:grpSpPr>
            <a:xfrm>
              <a:off x="6432689" y="2708340"/>
              <a:ext cx="1512358" cy="742730"/>
              <a:chOff x="6586390" y="2708340"/>
              <a:chExt cx="1512358" cy="74273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B7222-04C0-FEEC-35F6-6FC6D64907C7}"/>
                  </a:ext>
                </a:extLst>
              </p:cNvPr>
              <p:cNvSpPr txBox="1"/>
              <p:nvPr/>
            </p:nvSpPr>
            <p:spPr bwMode="auto">
              <a:xfrm>
                <a:off x="6586390" y="2708340"/>
                <a:ext cx="1512358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rtlCol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400">
                    <a:latin typeface="+mn-lt"/>
                  </a:rPr>
                  <a:t>Glazing shading coefficient (SC)</a:t>
                </a:r>
                <a:endParaRPr lang="en-GB" sz="1400" dirty="0">
                  <a:solidFill>
                    <a:srgbClr val="595959"/>
                  </a:solidFill>
                  <a:latin typeface="+mn-lt"/>
                  <a:cs typeface="Arial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5C4DBD-AE0C-1FA4-2EBA-94A5252FA737}"/>
                  </a:ext>
                </a:extLst>
              </p:cNvPr>
              <p:cNvSpPr txBox="1"/>
              <p:nvPr/>
            </p:nvSpPr>
            <p:spPr bwMode="auto">
              <a:xfrm>
                <a:off x="6699751" y="3204849"/>
                <a:ext cx="1368152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rtlCol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000" i="1" dirty="0">
                    <a:solidFill>
                      <a:srgbClr val="EA560D"/>
                    </a:solidFill>
                    <a:latin typeface="+mn-lt"/>
                    <a:cs typeface="Arial"/>
                  </a:rPr>
                  <a:t>(study parameter)</a:t>
                </a:r>
                <a:endParaRPr lang="en-GB" sz="1000" i="1" dirty="0">
                  <a:solidFill>
                    <a:srgbClr val="EA560D"/>
                  </a:solidFill>
                  <a:latin typeface="+mn-lt"/>
                  <a:cs typeface="Arial"/>
                </a:endParaRPr>
              </a:p>
            </p:txBody>
          </p:sp>
        </p:grp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B1E386-0EF0-1B5B-C67F-971E5190B9A0}"/>
              </a:ext>
            </a:extLst>
          </p:cNvPr>
          <p:cNvCxnSpPr>
            <a:cxnSpLocks/>
          </p:cNvCxnSpPr>
          <p:nvPr/>
        </p:nvCxnSpPr>
        <p:spPr>
          <a:xfrm>
            <a:off x="9507386" y="3309468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7D7B1A8-BE5F-F4BE-3E69-FFB3C5EF855D}"/>
              </a:ext>
            </a:extLst>
          </p:cNvPr>
          <p:cNvSpPr txBox="1"/>
          <p:nvPr/>
        </p:nvSpPr>
        <p:spPr bwMode="auto">
          <a:xfrm>
            <a:off x="10047034" y="2940136"/>
            <a:ext cx="136815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400" dirty="0">
                <a:latin typeface="+mn-lt"/>
              </a:rPr>
              <a:t>Filter using allowable peak solar gain</a:t>
            </a:r>
            <a:endParaRPr lang="en-GB" sz="1400" dirty="0">
              <a:solidFill>
                <a:srgbClr val="595959"/>
              </a:solidFill>
              <a:latin typeface="+mn-lt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9E7068-97DB-5E85-62B9-43A074A826DF}"/>
              </a:ext>
            </a:extLst>
          </p:cNvPr>
          <p:cNvSpPr txBox="1"/>
          <p:nvPr/>
        </p:nvSpPr>
        <p:spPr bwMode="auto">
          <a:xfrm>
            <a:off x="10050711" y="3876238"/>
            <a:ext cx="136815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i="1" dirty="0">
                <a:solidFill>
                  <a:srgbClr val="EA560D"/>
                </a:solidFill>
                <a:latin typeface="+mn-lt"/>
                <a:cs typeface="Arial"/>
              </a:rPr>
              <a:t>(MEP engineer input)</a:t>
            </a:r>
            <a:endParaRPr lang="en-GB" sz="1000" i="1" dirty="0">
              <a:solidFill>
                <a:srgbClr val="EA560D"/>
              </a:solidFill>
              <a:latin typeface="+mn-lt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A6D357-80A9-F032-2B35-B33D9D5E0335}"/>
              </a:ext>
            </a:extLst>
          </p:cNvPr>
          <p:cNvSpPr txBox="1"/>
          <p:nvPr/>
        </p:nvSpPr>
        <p:spPr bwMode="auto">
          <a:xfrm>
            <a:off x="10063920" y="4875904"/>
            <a:ext cx="1368152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400" dirty="0">
                <a:latin typeface="+mn-lt"/>
              </a:rPr>
              <a:t>Selected configs studied further for daylight compliance </a:t>
            </a:r>
            <a:endParaRPr lang="en-GB" sz="1400" dirty="0">
              <a:solidFill>
                <a:srgbClr val="595959"/>
              </a:solidFill>
              <a:latin typeface="+mn-lt"/>
              <a:cs typeface="Arial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6EEF08A-8CDE-7D8A-89B6-63DDB75B0B5A}"/>
              </a:ext>
            </a:extLst>
          </p:cNvPr>
          <p:cNvSpPr/>
          <p:nvPr/>
        </p:nvSpPr>
        <p:spPr>
          <a:xfrm>
            <a:off x="494919" y="2364073"/>
            <a:ext cx="1464596" cy="1937814"/>
          </a:xfrm>
          <a:prstGeom prst="roundRect">
            <a:avLst/>
          </a:prstGeom>
          <a:noFill/>
          <a:ln w="6350">
            <a:solidFill>
              <a:srgbClr val="B1BEC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ADA0F10-5808-0728-43B4-26257B5C4084}"/>
              </a:ext>
            </a:extLst>
          </p:cNvPr>
          <p:cNvSpPr/>
          <p:nvPr/>
        </p:nvSpPr>
        <p:spPr>
          <a:xfrm>
            <a:off x="2529713" y="2796121"/>
            <a:ext cx="1464596" cy="882679"/>
          </a:xfrm>
          <a:prstGeom prst="roundRect">
            <a:avLst/>
          </a:prstGeom>
          <a:noFill/>
          <a:ln w="6350">
            <a:solidFill>
              <a:srgbClr val="B1BEC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C60A8C4-25E7-D594-7906-617AEDCCEB24}"/>
              </a:ext>
            </a:extLst>
          </p:cNvPr>
          <p:cNvSpPr/>
          <p:nvPr/>
        </p:nvSpPr>
        <p:spPr>
          <a:xfrm>
            <a:off x="4508990" y="2796121"/>
            <a:ext cx="2986646" cy="1080117"/>
          </a:xfrm>
          <a:prstGeom prst="roundRect">
            <a:avLst/>
          </a:prstGeom>
          <a:noFill/>
          <a:ln w="6350">
            <a:solidFill>
              <a:srgbClr val="B1BEC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E8F820B-F0E5-33CF-7697-D07E93D9A100}"/>
              </a:ext>
            </a:extLst>
          </p:cNvPr>
          <p:cNvSpPr/>
          <p:nvPr/>
        </p:nvSpPr>
        <p:spPr>
          <a:xfrm>
            <a:off x="8004373" y="2949139"/>
            <a:ext cx="1429290" cy="936102"/>
          </a:xfrm>
          <a:prstGeom prst="roundRect">
            <a:avLst/>
          </a:prstGeom>
          <a:noFill/>
          <a:ln w="19050">
            <a:solidFill>
              <a:srgbClr val="EA560D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1E89131-925C-F1FF-41B2-C5C0A6F01248}"/>
              </a:ext>
            </a:extLst>
          </p:cNvPr>
          <p:cNvSpPr/>
          <p:nvPr/>
        </p:nvSpPr>
        <p:spPr>
          <a:xfrm>
            <a:off x="9912424" y="2636912"/>
            <a:ext cx="1641049" cy="1595886"/>
          </a:xfrm>
          <a:prstGeom prst="roundRect">
            <a:avLst/>
          </a:prstGeom>
          <a:noFill/>
          <a:ln w="6350">
            <a:solidFill>
              <a:srgbClr val="B1BEC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1D2173-FEC5-FCA4-DB5C-5C463301BC31}"/>
              </a:ext>
            </a:extLst>
          </p:cNvPr>
          <p:cNvCxnSpPr>
            <a:cxnSpLocks/>
          </p:cNvCxnSpPr>
          <p:nvPr/>
        </p:nvCxnSpPr>
        <p:spPr>
          <a:xfrm>
            <a:off x="10704512" y="443711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849C13-4779-C4E3-8580-E1669BA6A3EC}"/>
              </a:ext>
            </a:extLst>
          </p:cNvPr>
          <p:cNvSpPr/>
          <p:nvPr/>
        </p:nvSpPr>
        <p:spPr>
          <a:xfrm>
            <a:off x="9912424" y="4728842"/>
            <a:ext cx="1641049" cy="1595886"/>
          </a:xfrm>
          <a:prstGeom prst="roundRect">
            <a:avLst/>
          </a:prstGeom>
          <a:noFill/>
          <a:ln w="6350">
            <a:solidFill>
              <a:srgbClr val="B1BEC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46DC7D-7803-3919-0FD5-AA087B4EC5F5}"/>
              </a:ext>
            </a:extLst>
          </p:cNvPr>
          <p:cNvSpPr txBox="1"/>
          <p:nvPr/>
        </p:nvSpPr>
        <p:spPr bwMode="auto">
          <a:xfrm>
            <a:off x="10050711" y="6061981"/>
            <a:ext cx="136815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i="1" dirty="0">
                <a:solidFill>
                  <a:srgbClr val="EA560D"/>
                </a:solidFill>
                <a:latin typeface="+mn-lt"/>
                <a:cs typeface="Arial"/>
              </a:rPr>
              <a:t>(Study 2)</a:t>
            </a:r>
            <a:endParaRPr lang="en-GB" sz="1000" i="1" dirty="0">
              <a:solidFill>
                <a:srgbClr val="EA560D"/>
              </a:solidFill>
              <a:latin typeface="+mn-lt"/>
              <a:cs typeface="Arial"/>
            </a:endParaRPr>
          </a:p>
        </p:txBody>
      </p:sp>
      <p:sp>
        <p:nvSpPr>
          <p:cNvPr id="37" name="Right Bracket 36">
            <a:extLst>
              <a:ext uri="{FF2B5EF4-FFF2-40B4-BE49-F238E27FC236}">
                <a16:creationId xmlns:a16="http://schemas.microsoft.com/office/drawing/2014/main" id="{D2BF8E1A-42AF-8F3F-C98B-2BC00121BDC8}"/>
              </a:ext>
            </a:extLst>
          </p:cNvPr>
          <p:cNvSpPr/>
          <p:nvPr/>
        </p:nvSpPr>
        <p:spPr>
          <a:xfrm rot="16200000">
            <a:off x="6033867" y="-3408944"/>
            <a:ext cx="124262" cy="11421772"/>
          </a:xfrm>
          <a:prstGeom prst="rightBracket">
            <a:avLst/>
          </a:prstGeom>
          <a:ln w="3175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EE8916-75DC-0817-9004-C44BA8D67F18}"/>
              </a:ext>
            </a:extLst>
          </p:cNvPr>
          <p:cNvSpPr txBox="1"/>
          <p:nvPr/>
        </p:nvSpPr>
        <p:spPr bwMode="auto">
          <a:xfrm>
            <a:off x="5244520" y="1952318"/>
            <a:ext cx="136815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i="1" dirty="0">
                <a:solidFill>
                  <a:srgbClr val="EA560D"/>
                </a:solidFill>
                <a:latin typeface="+mn-lt"/>
                <a:cs typeface="Arial"/>
              </a:rPr>
              <a:t>(Study 1)</a:t>
            </a:r>
            <a:endParaRPr lang="en-GB" sz="1000" i="1" dirty="0">
              <a:solidFill>
                <a:srgbClr val="EA560D"/>
              </a:solidFill>
              <a:latin typeface="+mn-lt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B15FD-0B45-C60E-A587-90A87D1B3C08}"/>
              </a:ext>
            </a:extLst>
          </p:cNvPr>
          <p:cNvSpPr txBox="1"/>
          <p:nvPr/>
        </p:nvSpPr>
        <p:spPr bwMode="auto">
          <a:xfrm>
            <a:off x="494919" y="5538760"/>
            <a:ext cx="850703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Arial" charset="0"/>
              </a:rPr>
              <a:t>Aim: show how the depth of the roof canopy and the solar-control performance of the glass (shading coefficient, SC) reduce the solar heat gain through the façade; compare the result with the solar load the MEP's HVAC design allows for; and take the compatible options forward to a daylight check (</a:t>
            </a:r>
            <a:r>
              <a:rPr lang="en-US" sz="1200" dirty="0" err="1">
                <a:solidFill>
                  <a:schemeClr val="tx1"/>
                </a:solidFill>
                <a:effectLst/>
                <a:latin typeface="Arial" charset="0"/>
              </a:rPr>
              <a:t>sDA</a:t>
            </a:r>
            <a:r>
              <a:rPr lang="en-US" sz="1200" dirty="0">
                <a:solidFill>
                  <a:schemeClr val="tx1"/>
                </a:solidFill>
                <a:effectLst/>
                <a:latin typeface="Arial" charset="0"/>
              </a:rPr>
              <a:t> / ASE).</a:t>
            </a:r>
            <a:endParaRPr lang="en-GB" sz="1200" dirty="0"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56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E6C4A8-383B-D7B1-9902-B2230972A2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87985" y="2546206"/>
            <a:ext cx="4202058" cy="2203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9DB6C1-25A9-6FB6-3DE5-3D83381D47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68" r="7582"/>
          <a:stretch>
            <a:fillRect/>
          </a:stretch>
        </p:blipFill>
        <p:spPr>
          <a:xfrm>
            <a:off x="119336" y="1351732"/>
            <a:ext cx="6600180" cy="445353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C32688-717C-7B42-6C19-7CB6614568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0710" y="6419210"/>
            <a:ext cx="9133802" cy="400110"/>
          </a:xfrm>
        </p:spPr>
        <p:txBody>
          <a:bodyPr wrap="square">
            <a:noAutofit/>
          </a:bodyPr>
          <a:lstStyle/>
          <a:p>
            <a:r>
              <a:rPr lang="en-US" sz="1000" i="1" dirty="0"/>
              <a:t>Note: Set-up: the glazed façade is split into five zones that follow the floor plan, so every result can be traced back to a space.</a:t>
            </a:r>
            <a:endParaRPr lang="en-GB" sz="1000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170E0-4F86-254D-4D8C-968932D71C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 dirty="0"/>
              <a:t>Façade Zones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3E0C0-9C04-A6EA-43BC-340E470171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US" dirty="0"/>
              <a:t>Façade zones based on floor plan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A193BF-BDBA-2861-ABBC-D63AC0475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50" y="5370592"/>
            <a:ext cx="1479690" cy="764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DA1A51-FAEA-9966-634A-1C6E560D3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96" y="4565926"/>
            <a:ext cx="509792" cy="733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965B33-A5AC-BBD8-DDBE-D9B9686047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44" t="13768" r="83452"/>
          <a:stretch>
            <a:fillRect/>
          </a:stretch>
        </p:blipFill>
        <p:spPr>
          <a:xfrm>
            <a:off x="5159896" y="2876173"/>
            <a:ext cx="1404149" cy="32587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931BBE-CF7C-1E84-8673-E2773BBA272B}"/>
              </a:ext>
            </a:extLst>
          </p:cNvPr>
          <p:cNvSpPr txBox="1"/>
          <p:nvPr/>
        </p:nvSpPr>
        <p:spPr bwMode="auto">
          <a:xfrm>
            <a:off x="976147" y="5960245"/>
            <a:ext cx="460851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i="1" dirty="0">
                <a:solidFill>
                  <a:srgbClr val="595959"/>
                </a:solidFill>
                <a:latin typeface="Arial"/>
                <a:cs typeface="Arial"/>
              </a:rPr>
              <a:t>Façade divide into five zones</a:t>
            </a:r>
            <a:endParaRPr lang="en-GB" sz="11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99BEE-C9D8-9D84-612B-A36DBF05C504}"/>
              </a:ext>
            </a:extLst>
          </p:cNvPr>
          <p:cNvSpPr txBox="1"/>
          <p:nvPr/>
        </p:nvSpPr>
        <p:spPr bwMode="auto">
          <a:xfrm>
            <a:off x="7096704" y="5038185"/>
            <a:ext cx="460851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i="1" dirty="0">
                <a:solidFill>
                  <a:srgbClr val="595959"/>
                </a:solidFill>
                <a:latin typeface="Arial"/>
                <a:cs typeface="Arial"/>
              </a:rPr>
              <a:t>Five façade zones shown in plan</a:t>
            </a:r>
            <a:endParaRPr lang="en-GB" sz="11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147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2885262-2E15-223E-07FC-A72104EE5CEE}"/>
              </a:ext>
            </a:extLst>
          </p:cNvPr>
          <p:cNvSpPr/>
          <p:nvPr/>
        </p:nvSpPr>
        <p:spPr>
          <a:xfrm>
            <a:off x="6528048" y="2193299"/>
            <a:ext cx="4956134" cy="274786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CA75AE-498D-3F39-7967-16CE55348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06" r="13110"/>
          <a:stretch>
            <a:fillRect/>
          </a:stretch>
        </p:blipFill>
        <p:spPr>
          <a:xfrm>
            <a:off x="839416" y="1059615"/>
            <a:ext cx="4770000" cy="457255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13C85F-9AFF-7F90-3B2E-B59077476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1 · Set-up: the pavilion is modelled with its surroundings; the neighbouring buildings shade much of the low east and west sun.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7C367-8796-6CD4-7A75-B94D692AC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 dirty="0"/>
              <a:t>Analysis Geometry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665F0-62E3-76E9-7937-82264951C3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US" dirty="0"/>
              <a:t>Lab located along with its context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E1EBD-C2F7-B6CD-E08A-26783DEB86C1}"/>
              </a:ext>
            </a:extLst>
          </p:cNvPr>
          <p:cNvSpPr txBox="1"/>
          <p:nvPr/>
        </p:nvSpPr>
        <p:spPr bwMode="auto">
          <a:xfrm>
            <a:off x="976147" y="5960245"/>
            <a:ext cx="460851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i="1" dirty="0">
                <a:solidFill>
                  <a:srgbClr val="595959"/>
                </a:solidFill>
                <a:latin typeface="Arial"/>
                <a:cs typeface="Arial"/>
              </a:rPr>
              <a:t>Façade model with context</a:t>
            </a:r>
            <a:endParaRPr lang="en-GB" sz="11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2CCA6-B1A2-0A87-D42C-095A3C501B1A}"/>
              </a:ext>
            </a:extLst>
          </p:cNvPr>
          <p:cNvSpPr txBox="1"/>
          <p:nvPr/>
        </p:nvSpPr>
        <p:spPr bwMode="auto">
          <a:xfrm>
            <a:off x="6760400" y="5960245"/>
            <a:ext cx="460851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i="1" dirty="0">
                <a:solidFill>
                  <a:srgbClr val="595959"/>
                </a:solidFill>
                <a:latin typeface="Arial"/>
                <a:cs typeface="Arial"/>
              </a:rPr>
              <a:t>Zoom-in of faced from North-west aerial view</a:t>
            </a:r>
            <a:endParaRPr lang="en-GB" sz="11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B587375-8E42-4311-C448-C46BCEFC55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7905" y="5266892"/>
            <a:ext cx="1847528" cy="954309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6768AF-710C-FF6C-C86F-872306022A3A}"/>
              </a:ext>
            </a:extLst>
          </p:cNvPr>
          <p:cNvSpPr/>
          <p:nvPr/>
        </p:nvSpPr>
        <p:spPr>
          <a:xfrm>
            <a:off x="1932633" y="4247138"/>
            <a:ext cx="378752" cy="252122"/>
          </a:xfrm>
          <a:prstGeom prst="roundRect">
            <a:avLst/>
          </a:prstGeom>
          <a:solidFill>
            <a:srgbClr val="EA560D">
              <a:alpha val="41000"/>
            </a:srgbClr>
          </a:solidFill>
          <a:ln w="190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06BF35D-226B-50BC-9D0A-0A6279D4DD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4744" y="5029344"/>
            <a:ext cx="1847528" cy="95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7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4C5DBD-0D73-360B-B3B9-F2FD7FB361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1" y="889000"/>
            <a:ext cx="4245367" cy="60960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2 · How much sun reaches the glass: deepening the canopy from 0 to 1.5 m cuts annual façade radiation by a third (290.9 to 192.2 kWh/m²·yr) and the façade peak from 53.1 to 33.2 kW.</a:t>
            </a:r>
            <a:endParaRPr lang="en-GB" sz="1000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D43AF-31E5-6F76-A329-B81E909C47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 dirty="0"/>
              <a:t>Incident Solar Radiation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BBED5-D49F-1FB2-DD07-96EB5D060B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US"/>
              <a:t>Effect of canopy depth on incident façade radiation (typical year)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748899-724F-9FEB-02D7-72695A87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13800" y="25400"/>
            <a:ext cx="952800" cy="1371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FAA7A7-6D11-69FD-6986-6ED44D896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967" y="76200"/>
            <a:ext cx="1075633" cy="73325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FCA04E4-0602-1EE7-A216-D40685DF358E}"/>
              </a:ext>
            </a:extLst>
          </p:cNvPr>
          <p:cNvSpPr txBox="1"/>
          <p:nvPr/>
        </p:nvSpPr>
        <p:spPr bwMode="auto">
          <a:xfrm>
            <a:off x="1487488" y="6464339"/>
            <a:ext cx="105375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000" i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* Peak incident solar irradiance on the façade glazing (area-weighted mean at the façade's peak hour) [W/m²]. Typical year (</a:t>
            </a:r>
            <a:r>
              <a:rPr lang="en-US" dirty="0" err="1"/>
              <a:t>TMYx</a:t>
            </a:r>
            <a:r>
              <a:rPr lang="en-US" dirty="0"/>
              <a:t>), side canopies 1.0 m on all options. The skylight (~745 kWh/m²·yr) is above the legend range.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8B7CB9-2216-FE87-09FB-3DF273195C2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" y="1905000"/>
            <a:ext cx="1955800" cy="13504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78F7E3-9247-6024-B7B5-94A0C21F2447}"/>
              </a:ext>
            </a:extLst>
          </p:cNvPr>
          <p:cNvSpPr txBox="1"/>
          <p:nvPr/>
        </p:nvSpPr>
        <p:spPr bwMode="auto">
          <a:xfrm>
            <a:off x="139699" y="3403600"/>
            <a:ext cx="1854200" cy="2239074"/>
          </a:xfrm>
          <a:prstGeom prst="rect">
            <a:avLst/>
          </a:prstGeom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95959"/>
                </a:solidFill>
                <a:latin typeface="Arial"/>
                <a:cs typeface="Arial"/>
              </a:rPr>
              <a:t>Overhang depth </a:t>
            </a: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0mm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Annual incident solar irradiation (façade mean)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290.9 kWh/m²·yr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solar irradiance *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256 W/m²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power (façade)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53.1 kW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/>
                <a:cs typeface="Arial"/>
              </a:rPr>
              <a:t>@ 12-Jun 09:00</a:t>
            </a:r>
            <a:endParaRPr lang="en-US" sz="900" i="1" dirty="0">
              <a:solidFill>
                <a:srgbClr val="56626F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24BC21-E45A-79B3-B557-A468EDFD489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070100" y="1905000"/>
            <a:ext cx="1955800" cy="13504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B766E8B-68EE-432B-BC9D-4C4CC03C10A7}"/>
              </a:ext>
            </a:extLst>
          </p:cNvPr>
          <p:cNvSpPr txBox="1"/>
          <p:nvPr/>
        </p:nvSpPr>
        <p:spPr bwMode="auto">
          <a:xfrm>
            <a:off x="2146299" y="3403600"/>
            <a:ext cx="1854200" cy="2239074"/>
          </a:xfrm>
          <a:prstGeom prst="rect">
            <a:avLst/>
          </a:prstGeom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95959"/>
                </a:solidFill>
                <a:latin typeface="Arial"/>
                <a:cs typeface="Arial"/>
              </a:rPr>
              <a:t>Overhang depth </a:t>
            </a: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500mm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Annual incident solar irradiation (façade mean)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247.1 kWh/m²·yr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solar irradiance *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212 W/m²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power (façade)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44.0 kW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/>
                <a:cs typeface="Arial"/>
              </a:rPr>
              <a:t>@ 28-May 08:00</a:t>
            </a:r>
            <a:endParaRPr lang="en-US" sz="900" i="1" dirty="0">
              <a:solidFill>
                <a:srgbClr val="56626F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5F2C339-AD07-6077-80A7-1FE495F4DCD3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076700" y="1905000"/>
            <a:ext cx="1955800" cy="13504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CCC49E6-B076-125B-EB5E-38530EC5954D}"/>
              </a:ext>
            </a:extLst>
          </p:cNvPr>
          <p:cNvSpPr txBox="1"/>
          <p:nvPr/>
        </p:nvSpPr>
        <p:spPr bwMode="auto">
          <a:xfrm>
            <a:off x="4152899" y="3403600"/>
            <a:ext cx="1854200" cy="2239074"/>
          </a:xfrm>
          <a:prstGeom prst="rect">
            <a:avLst/>
          </a:prstGeom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95959"/>
                </a:solidFill>
                <a:latin typeface="Arial"/>
                <a:cs typeface="Arial"/>
              </a:rPr>
              <a:t>Overhang depth </a:t>
            </a: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750mm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Annual incident solar irradiation (façade mean)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231.5 kWh/m²·yr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solar irradiance *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203 W/m²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power (façade)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42.2 kW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/>
                <a:cs typeface="Arial"/>
              </a:rPr>
              <a:t>@ 24-Jun 08:00</a:t>
            </a:r>
            <a:endParaRPr lang="en-US" sz="900" i="1" dirty="0">
              <a:solidFill>
                <a:srgbClr val="56626F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7FB4C2D-F740-E88A-F3E6-DA0784E71C8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083300" y="1905000"/>
            <a:ext cx="1955800" cy="135043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8839873-0703-5599-06F7-4E431593D8B4}"/>
              </a:ext>
            </a:extLst>
          </p:cNvPr>
          <p:cNvSpPr txBox="1"/>
          <p:nvPr/>
        </p:nvSpPr>
        <p:spPr bwMode="auto">
          <a:xfrm>
            <a:off x="6159499" y="3403600"/>
            <a:ext cx="1854200" cy="2239074"/>
          </a:xfrm>
          <a:prstGeom prst="rect">
            <a:avLst/>
          </a:prstGeom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95959"/>
                </a:solidFill>
                <a:latin typeface="Arial"/>
                <a:cs typeface="Arial"/>
              </a:rPr>
              <a:t>Overhang depth </a:t>
            </a: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1000mm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Annual incident solar irradiation (façade mean)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216.8 kWh/m²·yr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solar irradiance *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190 W/m²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power (façade)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39.5 kW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/>
                <a:cs typeface="Arial"/>
              </a:rPr>
              <a:t>@ 12-Jun 08:00</a:t>
            </a:r>
            <a:endParaRPr lang="en-US" sz="900" i="1" dirty="0">
              <a:solidFill>
                <a:srgbClr val="56626F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93E2E86-891E-60F2-D3BE-1C0C5ED49124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905000"/>
            <a:ext cx="1955800" cy="13504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CBD24A8-5DB9-5D63-F5A1-63093B43F382}"/>
              </a:ext>
            </a:extLst>
          </p:cNvPr>
          <p:cNvSpPr txBox="1"/>
          <p:nvPr/>
        </p:nvSpPr>
        <p:spPr bwMode="auto">
          <a:xfrm>
            <a:off x="8166099" y="3403600"/>
            <a:ext cx="1854200" cy="2239074"/>
          </a:xfrm>
          <a:prstGeom prst="rect">
            <a:avLst/>
          </a:prstGeom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95959"/>
                </a:solidFill>
                <a:latin typeface="Arial"/>
                <a:cs typeface="Arial"/>
              </a:rPr>
              <a:t>Overhang depth </a:t>
            </a: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1250mm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Annual incident solar irradiation (façade mean)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202.8 kWh/m²·yr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solar irradiance *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176 W/m²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power (façade)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36.5 kW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/>
                <a:cs typeface="Arial"/>
              </a:rPr>
              <a:t>@ 11-Jun 08:00</a:t>
            </a:r>
            <a:endParaRPr lang="en-US" sz="900" i="1" dirty="0">
              <a:solidFill>
                <a:srgbClr val="56626F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8F12045-55DF-12F7-32A5-42EFF63538C1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0" y="1905000"/>
            <a:ext cx="1955800" cy="135043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8B1ABFB-CD84-F45F-0E17-27797D14BD03}"/>
              </a:ext>
            </a:extLst>
          </p:cNvPr>
          <p:cNvSpPr txBox="1"/>
          <p:nvPr/>
        </p:nvSpPr>
        <p:spPr bwMode="auto">
          <a:xfrm>
            <a:off x="10172699" y="3403600"/>
            <a:ext cx="1854200" cy="2239074"/>
          </a:xfrm>
          <a:prstGeom prst="rect">
            <a:avLst/>
          </a:prstGeom>
        </p:spPr>
        <p:txBody>
          <a:bodyPr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95959"/>
                </a:solidFill>
                <a:latin typeface="Arial"/>
                <a:cs typeface="Arial"/>
              </a:rPr>
              <a:t>Overhang depth </a:t>
            </a: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1500mm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Annual incident solar irradiation (façade mean)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192.2 kWh/m²·yr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solar irradiance *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EA560D"/>
                </a:solidFill>
                <a:latin typeface="Arial"/>
                <a:cs typeface="Arial"/>
              </a:rPr>
              <a:t>160 W/m²</a:t>
            </a:r>
            <a:endParaRPr lang="en-GB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95959"/>
                </a:solidFill>
                <a:latin typeface="Arial"/>
                <a:cs typeface="Arial"/>
              </a:rPr>
              <a:t>Peak incident power (façade)</a:t>
            </a: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EA560D"/>
                </a:solidFill>
                <a:latin typeface="Arial"/>
                <a:cs typeface="Arial"/>
              </a:rPr>
              <a:t>33.2 kW</a:t>
            </a:r>
            <a:endParaRPr lang="en-US" sz="900" i="1" dirty="0">
              <a:solidFill>
                <a:srgbClr val="EA560D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/>
                <a:cs typeface="Arial"/>
              </a:rPr>
              <a:t>@ 11-Jun 08:00</a:t>
            </a:r>
            <a:endParaRPr lang="en-US" sz="900" i="1" dirty="0">
              <a:solidFill>
                <a:srgbClr val="56626F"/>
              </a:solidFill>
              <a:latin typeface="Arial"/>
              <a:cs typeface="Arial"/>
            </a:endParaRPr>
          </a:p>
          <a:p>
            <a:pPr algn="ctr">
              <a:spcBef>
                <a:spcPct val="50000"/>
              </a:spcBef>
            </a:pPr>
            <a:endParaRPr lang="en-GB" sz="900" i="1" dirty="0">
              <a:solidFill>
                <a:srgbClr val="595959"/>
              </a:solidFill>
              <a:latin typeface="Arial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D3D230-6F4F-B952-B6B1-9C90A74BDD93}"/>
              </a:ext>
            </a:extLst>
          </p:cNvPr>
          <p:cNvSpPr txBox="1"/>
          <p:nvPr/>
        </p:nvSpPr>
        <p:spPr bwMode="auto">
          <a:xfrm>
            <a:off x="6237974" y="1625600"/>
            <a:ext cx="1697253" cy="230832"/>
          </a:xfrm>
          <a:prstGeom prst="rect">
            <a:avLst/>
          </a:prstGeom>
        </p:spPr>
        <p:txBody>
          <a:bodyPr wrap="square" lIns="0" rtlCol="0">
            <a:spAutoFit/>
          </a:bodyPr>
          <a:lstStyle>
            <a:defPPr>
              <a:defRPr lang="en-US"/>
            </a:defPPr>
            <a:lvl1pPr algn="ctr">
              <a:spcBef>
                <a:spcPct val="50000"/>
              </a:spcBef>
              <a:defRPr sz="900" i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Architect's option 1</a:t>
            </a:r>
            <a:endParaRPr lang="en-GB" dirty="0">
              <a:solidFill>
                <a:srgbClr val="56626F"/>
              </a:solidFill>
            </a:endParaRPr>
          </a:p>
        </p:txBody>
      </p:sp>
      <p:sp>
        <p:nvSpPr>
          <p:cNvPr id="43" name="Right Bracket 42">
            <a:extLst>
              <a:ext uri="{FF2B5EF4-FFF2-40B4-BE49-F238E27FC236}">
                <a16:creationId xmlns:a16="http://schemas.microsoft.com/office/drawing/2014/main" id="{43FB2208-7291-E34D-3635-F3FB11615C57}"/>
              </a:ext>
            </a:extLst>
          </p:cNvPr>
          <p:cNvSpPr/>
          <p:nvPr/>
        </p:nvSpPr>
        <p:spPr>
          <a:xfrm rot="16200000">
            <a:off x="7032066" y="1186331"/>
            <a:ext cx="109068" cy="1475420"/>
          </a:xfrm>
          <a:prstGeom prst="rightBracket">
            <a:avLst/>
          </a:prstGeom>
          <a:ln w="3175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BF3078-2D32-1D89-7A03-C29ABF1CAF97}"/>
              </a:ext>
            </a:extLst>
          </p:cNvPr>
          <p:cNvSpPr txBox="1"/>
          <p:nvPr/>
        </p:nvSpPr>
        <p:spPr bwMode="auto">
          <a:xfrm>
            <a:off x="10251174" y="1625600"/>
            <a:ext cx="1697253" cy="230832"/>
          </a:xfrm>
          <a:prstGeom prst="rect">
            <a:avLst/>
          </a:prstGeom>
        </p:spPr>
        <p:txBody>
          <a:bodyPr wrap="square" lIns="0" rtlCol="0">
            <a:spAutoFit/>
          </a:bodyPr>
          <a:lstStyle>
            <a:defPPr>
              <a:defRPr lang="en-US"/>
            </a:defPPr>
            <a:lvl1pPr algn="ctr">
              <a:spcBef>
                <a:spcPct val="50000"/>
              </a:spcBef>
              <a:defRPr sz="900" i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Architect's option 2</a:t>
            </a:r>
            <a:endParaRPr lang="en-GB" dirty="0">
              <a:solidFill>
                <a:srgbClr val="56626F"/>
              </a:solidFill>
            </a:endParaRPr>
          </a:p>
        </p:txBody>
      </p:sp>
      <p:sp>
        <p:nvSpPr>
          <p:cNvPr id="45" name="Right Bracket 44">
            <a:extLst>
              <a:ext uri="{FF2B5EF4-FFF2-40B4-BE49-F238E27FC236}">
                <a16:creationId xmlns:a16="http://schemas.microsoft.com/office/drawing/2014/main" id="{04130E47-BA54-C4C7-E81E-12F52AA2D76A}"/>
              </a:ext>
            </a:extLst>
          </p:cNvPr>
          <p:cNvSpPr/>
          <p:nvPr/>
        </p:nvSpPr>
        <p:spPr>
          <a:xfrm rot="16200000">
            <a:off x="11045266" y="1186331"/>
            <a:ext cx="109068" cy="1475420"/>
          </a:xfrm>
          <a:prstGeom prst="rightBracket">
            <a:avLst/>
          </a:prstGeom>
          <a:ln w="3175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07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88E3B4-9449-436D-42AB-176C49A0C5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3 · When the peak arrives: only on May–July mornings (08:00–11:00), with the sun low in the east-north-east – a horizontal canopy can only partly block it.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1EAC9-85CF-83AD-972F-A10440655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 wrap="square" lIns="0">
            <a:spAutoFit/>
          </a:bodyPr>
          <a:lstStyle/>
          <a:p>
            <a:r>
              <a:rPr lang="en-GB"/>
              <a:t>Sky Access &amp; Shading Masks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1EAAC-8665-92A2-57A7-9A76324230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US"/>
              <a:t>Sun path, sky radiation and shading masks (North-West Open Office)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4A120-E099-D0BB-4CBF-136E1F99A8C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10059" y="1295400"/>
            <a:ext cx="1932682" cy="1905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C802DB-F2EA-A6C0-636C-98DBE67C477E}"/>
              </a:ext>
            </a:extLst>
          </p:cNvPr>
          <p:cNvSpPr txBox="1"/>
          <p:nvPr/>
        </p:nvSpPr>
        <p:spPr bwMode="auto">
          <a:xfrm>
            <a:off x="254000" y="3213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Reference: 0 mm, no surroundings (all daylight hours)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77AEA9-FF70-D5FA-D9B3-81FFC69BC6E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56459" y="1295400"/>
            <a:ext cx="1932682" cy="1905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42A3880-F1FA-D771-B73A-A20BD7618B8F}"/>
              </a:ext>
            </a:extLst>
          </p:cNvPr>
          <p:cNvSpPr txBox="1"/>
          <p:nvPr/>
        </p:nvSpPr>
        <p:spPr bwMode="auto">
          <a:xfrm>
            <a:off x="3200400" y="3213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0 mm + surroundings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19137B0-672A-9462-976F-3972D807A77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59" y="1295400"/>
            <a:ext cx="1932682" cy="1905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BB1E0E7-D289-20F1-A2B8-A7AB5120986C}"/>
              </a:ext>
            </a:extLst>
          </p:cNvPr>
          <p:cNvSpPr txBox="1"/>
          <p:nvPr/>
        </p:nvSpPr>
        <p:spPr bwMode="auto">
          <a:xfrm>
            <a:off x="6146800" y="3213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500 mm + surroundings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ECFA83E-F871-2135-064F-42BFCC69919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9549259" y="1295400"/>
            <a:ext cx="1932682" cy="1905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C2CBDF0-7CE7-ED2B-CCC5-F5E18951656F}"/>
              </a:ext>
            </a:extLst>
          </p:cNvPr>
          <p:cNvSpPr txBox="1"/>
          <p:nvPr/>
        </p:nvSpPr>
        <p:spPr bwMode="auto">
          <a:xfrm>
            <a:off x="9093200" y="3213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750 mm + surroundings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2BD0377-4DB6-8BC5-63DA-4443A314C5FF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10059" y="3581400"/>
            <a:ext cx="1932682" cy="1905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1531F00-B21C-A85F-B2FE-A44B097866C0}"/>
              </a:ext>
            </a:extLst>
          </p:cNvPr>
          <p:cNvSpPr txBox="1"/>
          <p:nvPr/>
        </p:nvSpPr>
        <p:spPr bwMode="auto">
          <a:xfrm>
            <a:off x="254000" y="5499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1000 mm + surroundings (Architect's option 1)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CA3F521-19E9-7E93-4423-01F737EBADF8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656459" y="3581400"/>
            <a:ext cx="1932682" cy="1905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A9801F9-AB9F-4582-F3FD-A308E9EEAA79}"/>
              </a:ext>
            </a:extLst>
          </p:cNvPr>
          <p:cNvSpPr txBox="1"/>
          <p:nvPr/>
        </p:nvSpPr>
        <p:spPr bwMode="auto">
          <a:xfrm>
            <a:off x="3200400" y="5499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1250 mm + surroundings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6B32EB5-2F11-F96C-59D9-757F9F1967F0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602859" y="3581400"/>
            <a:ext cx="1932682" cy="19050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86E04CA-AADF-662F-6650-909957D2A836}"/>
              </a:ext>
            </a:extLst>
          </p:cNvPr>
          <p:cNvSpPr txBox="1"/>
          <p:nvPr/>
        </p:nvSpPr>
        <p:spPr bwMode="auto">
          <a:xfrm>
            <a:off x="6146800" y="5499100"/>
            <a:ext cx="28448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1500 mm + surroundings (Architect's option 2)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5BBE6D8-CC0C-C5D8-8938-AB528B47F0C8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864600" y="3620039"/>
            <a:ext cx="457200" cy="175952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4D18587-A995-EBBA-9296-DF2C2EB7F581}"/>
              </a:ext>
            </a:extLst>
          </p:cNvPr>
          <p:cNvSpPr txBox="1"/>
          <p:nvPr/>
        </p:nvSpPr>
        <p:spPr bwMode="auto">
          <a:xfrm>
            <a:off x="9702800" y="3737978"/>
            <a:ext cx="2235200" cy="1792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50" dirty="0" err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Colours</a:t>
            </a:r>
            <a:r>
              <a:rPr lang="en-US" sz="8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: solar radiation from each patch of sky, occupied hours (08–18, Mon–Fri) [kWh/m²]</a:t>
            </a:r>
          </a:p>
          <a:p>
            <a:pPr>
              <a:spcBef>
                <a:spcPct val="50000"/>
              </a:spcBef>
            </a:pPr>
            <a:r>
              <a:rPr lang="en-US" sz="8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Black: sky behind the façade</a:t>
            </a:r>
          </a:p>
          <a:p>
            <a:pPr>
              <a:spcBef>
                <a:spcPct val="50000"/>
              </a:spcBef>
            </a:pPr>
            <a:r>
              <a:rPr lang="en-US" sz="8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Grey: sky blocked by the canopy and surrounding buildings</a:t>
            </a:r>
          </a:p>
          <a:p>
            <a:pPr>
              <a:spcBef>
                <a:spcPct val="50000"/>
              </a:spcBef>
            </a:pPr>
            <a:r>
              <a:rPr lang="en-US" sz="8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White figure-8s: sun position at each clock hour through the year (labels on 21 June)</a:t>
            </a:r>
          </a:p>
          <a:p>
            <a:pPr>
              <a:spcBef>
                <a:spcPct val="50000"/>
              </a:spcBef>
            </a:pPr>
            <a:r>
              <a:rPr lang="en-US" sz="8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Orange: peak window, May–Jul 08:00–11:00 (hours with ≥ 80 % of the annual peak solar load)</a:t>
            </a:r>
            <a:endParaRPr lang="en-GB" sz="850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C6DA4E-B88D-2530-6027-AA5DF2EE4B49}"/>
              </a:ext>
            </a:extLst>
          </p:cNvPr>
          <p:cNvSpPr txBox="1"/>
          <p:nvPr/>
        </p:nvSpPr>
        <p:spPr bwMode="auto">
          <a:xfrm>
            <a:off x="1524000" y="5969000"/>
            <a:ext cx="10414000" cy="60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Deepening the canopy grows the grey mask down from the top of the sky. The sun that drives the peak (orange) sits low in the east-north-east: from the </a:t>
            </a:r>
            <a:r>
              <a:rPr lang="en-US" sz="950" dirty="0" err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centre</a:t>
            </a:r>
            <a:r>
              <a:rPr lang="en-US" sz="9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 of the pane the deeper canopies hide the 10:00–11:00 sun, but the 08:00–09:00 sun still reaches the glass even at 1.5 m depth. </a:t>
            </a:r>
          </a:p>
          <a:p>
            <a:pPr>
              <a:spcBef>
                <a:spcPct val="50000"/>
              </a:spcBef>
            </a:pPr>
            <a:r>
              <a:rPr lang="en-US" sz="9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Take-away: the radiation peak on the façade happens on May–July mornings, so it is the morning sun that is driving the peak solar power on the facade.</a:t>
            </a:r>
            <a:endParaRPr lang="en-GB" sz="950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062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3B2F6-E54C-CE19-E3F4-E809FD662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4 · From radiation to heat gain: solar heat gain = incident solar × 0.87 × SC, shown for three glass options at the façade's annual peak.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E150B-1035-A10E-456A-83B38C8786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GB" dirty="0"/>
              <a:t>Peak solar heat gain through glazing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CCB08-D99B-293D-60AC-BEE52BED26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 lIns="0">
            <a:spAutoFit/>
          </a:bodyPr>
          <a:lstStyle/>
          <a:p>
            <a:r>
              <a:rPr lang="en-US"/>
              <a:t>Canopy depth x glass shading coefficient (SC) at the annual peak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4BF296-6E64-9C6C-51F0-BE4247249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22524"/>
              </p:ext>
            </p:extLst>
          </p:nvPr>
        </p:nvGraphicFramePr>
        <p:xfrm>
          <a:off x="622300" y="1397000"/>
          <a:ext cx="10947400" cy="153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4179828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009335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439063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10609758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81247173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72806251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Glass option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SHGC (= 0.87 × SC)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Typical VLT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Al Sa'fat 2023 – whole-building WWR &lt; 40 % *</a:t>
                      </a:r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Comment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024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Façade A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~45–50 %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Meets (SC ≤ 0.40, LT ≥ 0.40)</a:t>
                      </a:r>
                      <a:endParaRPr lang="en-GB" sz="1100" b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Stronger solar control; least daylight</a:t>
                      </a:r>
                      <a:endParaRPr lang="en-GB" sz="1100" b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9165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Façade B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0.32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0.28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~65–70 %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Meets (SC ≤ 0.40, LT ≥ 0.40)</a:t>
                      </a:r>
                      <a:endParaRPr lang="en-GB" sz="1100" b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Best available at ~70 % VLT (top-end coating)</a:t>
                      </a:r>
                      <a:endParaRPr lang="en-GB" sz="1100" b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06126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Façade C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0.40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0.35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~70–72 %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Meets – at the SC limit</a:t>
                      </a:r>
                      <a:endParaRPr lang="en-GB" sz="1100" b="0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Code limit (whole-building reading); MEP's HAP assumption</a:t>
                      </a:r>
                      <a:endParaRPr lang="en-GB" sz="1100" b="0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10349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Skylight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~40 %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Meets (roof glazing ≤ 10 %)</a:t>
                      </a:r>
                      <a:endParaRPr lang="en-GB" sz="1100" b="0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All options; fritting optional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8658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D6E705-D4EF-DC17-4E2C-0A3202ED31DD}"/>
              </a:ext>
            </a:extLst>
          </p:cNvPr>
          <p:cNvSpPr txBox="1"/>
          <p:nvPr/>
        </p:nvSpPr>
        <p:spPr bwMode="auto">
          <a:xfrm>
            <a:off x="622300" y="2997200"/>
            <a:ext cx="109474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* Assumes the lab is assessed with the existing tower (combined WWR &lt; 40 %: SC ≤ 0.40, LT ≥ 0.40, summer U ≤ 2.1 W/m²K) – to be confirmed. VLT values are typical estimates.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47AEF8E-A0B5-69A2-37A5-DBBEC8FCD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181469"/>
              </p:ext>
            </p:extLst>
          </p:nvPr>
        </p:nvGraphicFramePr>
        <p:xfrm>
          <a:off x="622300" y="3403600"/>
          <a:ext cx="109474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1024055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82883831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5630804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902444875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15949068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67661234"/>
                    </a:ext>
                  </a:extLst>
                </a:gridCol>
              </a:tblGrid>
              <a:tr h="241300">
                <a:tc rowSpan="2"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Overhang depth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Peak solar heat gain, window + skylight (typical year </a:t>
                      </a:r>
                      <a:r>
                        <a:rPr lang="en-US" sz="1100" i="1" dirty="0" err="1">
                          <a:solidFill>
                            <a:srgbClr val="56626F"/>
                          </a:solidFill>
                          <a:latin typeface="Arial" panose="020B0604020202020204" pitchFamily="34" charset="0"/>
                          <a:cs typeface="Arial"/>
                        </a:rPr>
                        <a:t>TMYx</a:t>
                      </a:r>
                      <a:r>
                        <a:rPr lang="en-US" sz="110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n-GB" sz="1100" b="1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1100" b="1" kern="120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Combined heat-gain peak hour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Peak incident solar on façade</a:t>
                      </a:r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36547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 0.25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 0.32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 0.40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55476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[mm]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[hour start]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9272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12.56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15.79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19.49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53.1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9156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10.49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13.14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16.17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44.0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12781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750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9.96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12.53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15.47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24-Jun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42.2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68033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9.40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11.80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14.55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39.5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3504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1250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8.76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10.99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13.53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36.5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8729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1500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8.02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10.04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12.35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33.2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6707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D4A0133-6C88-E709-9C5D-3BBB131B761B}"/>
              </a:ext>
            </a:extLst>
          </p:cNvPr>
          <p:cNvSpPr txBox="1"/>
          <p:nvPr/>
        </p:nvSpPr>
        <p:spPr bwMode="auto">
          <a:xfrm>
            <a:off x="622300" y="5600700"/>
            <a:ext cx="109474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900" i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Solar heat gain = 0.87 × SC × incident solar (façade) + 0.87 × 0.25 × incident solar (skylight), at the hour of the annual maximum (typical year, </a:t>
            </a:r>
            <a:r>
              <a:rPr lang="en-US" sz="900" i="1" dirty="0" err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TMYx</a:t>
            </a:r>
            <a:r>
              <a:rPr lang="en-US" sz="900" i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 1973–2025).</a:t>
            </a:r>
            <a:endParaRPr lang="en-GB" sz="90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82C43-E625-BE20-87D2-BDD2AA0C5ECF}"/>
              </a:ext>
            </a:extLst>
          </p:cNvPr>
          <p:cNvSpPr txBox="1"/>
          <p:nvPr/>
        </p:nvSpPr>
        <p:spPr bwMode="auto">
          <a:xfrm>
            <a:off x="1559495" y="6135807"/>
            <a:ext cx="10297143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950">
                <a:solidFill>
                  <a:srgbClr val="56626F"/>
                </a:solidFill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GB" dirty="0"/>
              <a:t>The three columns showing peak (kW) are the highest hourly solar heat gain through façade + skylight over the whole typical year, for each façade glass (the skylight is SC 0.25 throughout). </a:t>
            </a:r>
            <a:r>
              <a:rPr lang="en-GB" b="1" i="1" dirty="0"/>
              <a:t>Peak hour </a:t>
            </a:r>
            <a:r>
              <a:rPr lang="en-GB" dirty="0"/>
              <a:t>is when that worst hour occurs which is always a June morning, 08:00–10:00. The last column is the sun reaching the façade before the glazing filters it. It's the raw input that the canopy controls.</a:t>
            </a:r>
          </a:p>
        </p:txBody>
      </p:sp>
    </p:spTree>
    <p:extLst>
      <p:ext uri="{BB962C8B-B14F-4D97-AF65-F5344CB8AC3E}">
        <p14:creationId xmlns:p14="http://schemas.microsoft.com/office/powerpoint/2010/main" val="230175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3B2F6-E54C-CE19-E3F4-E809FD662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 dirty="0"/>
              <a:t>5 · Check against the MEP engineer’s HAP model dated </a:t>
            </a:r>
            <a:r>
              <a:rPr lang="en-GB" sz="1000" dirty="0"/>
              <a:t>21/08/2026 </a:t>
            </a:r>
            <a:r>
              <a:rPr lang="en-US" sz="1000" i="1" dirty="0"/>
              <a:t>: with SC 0.40 (~70 % VLT) every depth exceeds its 4.7 kW solar component; SC 0.25 glass with ≥ 750 mm stays at or below it.</a:t>
            </a:r>
            <a:endParaRPr lang="en-GB" sz="1000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E150B-1035-A10E-456A-83B38C8786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 dirty="0"/>
              <a:t>Window + Skylight Solar Heat Gain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CCB08-D99B-293D-60AC-BEE52BED26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778500" cy="307777"/>
          </a:xfrm>
        </p:spPr>
        <p:txBody>
          <a:bodyPr lIns="0">
            <a:spAutoFit/>
          </a:bodyPr>
          <a:lstStyle/>
          <a:p>
            <a:r>
              <a:rPr lang="en-US"/>
              <a:t>Canopy depth x glass SC vs the previous HAP solar-load reference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F0848E-2E62-239C-317A-11C2B463A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73843"/>
              </p:ext>
            </p:extLst>
          </p:nvPr>
        </p:nvGraphicFramePr>
        <p:xfrm>
          <a:off x="381000" y="1422400"/>
          <a:ext cx="11430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6042024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054327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765330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02997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769325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63533049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84813524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74294086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62607556"/>
                    </a:ext>
                  </a:extLst>
                </a:gridCol>
              </a:tblGrid>
              <a:tr h="241300">
                <a:tc rowSpan="2"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Canopy depth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Façade incident solar, MEP July hour</a:t>
                      </a:r>
                      <a:endParaRPr lang="en-GB" sz="1050" b="1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Heat gain at MEP July hour (21 Jul, ~14:00)</a:t>
                      </a:r>
                      <a:endParaRPr lang="en-GB" sz="1050" b="1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Heat gain at MEP June hour (21 Jun, ~13:00), SC 0.40</a:t>
                      </a:r>
                      <a:endParaRPr lang="en-GB" sz="1050" b="1" dirty="0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Annual maximum heat gain, SC 0.40</a:t>
                      </a:r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Annual maximum: hour start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Highest façade SC that stays ≤ 4.7 kW at the July hour</a:t>
                      </a:r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032302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 0.25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 0.32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SC 0.40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79794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[mm]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[date hh:mm]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[-]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78786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25.12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5.72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9.00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11.52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19.62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20-Jun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03646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21.29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4.90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6.20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7.68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10.17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16.43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20-Jun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0.24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64822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750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19.96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006100"/>
                          </a:solidFill>
                          <a:latin typeface="Arial" panose="020B0604020202020204" pitchFamily="34" charset="0"/>
                        </a:rPr>
                        <a:t>4.61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5.83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7.22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9.74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14.47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20-Jun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93999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18.83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006100"/>
                          </a:solidFill>
                          <a:latin typeface="Arial" panose="020B0604020202020204" pitchFamily="34" charset="0"/>
                        </a:rPr>
                        <a:t>4.36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5.51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6.82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9.08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13.51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6487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1250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17.97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006100"/>
                          </a:solidFill>
                          <a:latin typeface="Arial" panose="020B0604020202020204" pitchFamily="34" charset="0"/>
                        </a:rPr>
                        <a:t>4.15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5.25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6.50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8.65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12.37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0.29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40705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1500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16.89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006100"/>
                          </a:solidFill>
                          <a:latin typeface="Arial" panose="020B0604020202020204" pitchFamily="34" charset="0"/>
                        </a:rPr>
                        <a:t>3.95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4.98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6.15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8.12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11.31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18-Jun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8974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EA4EF1-8F8F-9787-CF21-163982316CBC}"/>
              </a:ext>
            </a:extLst>
          </p:cNvPr>
          <p:cNvSpPr txBox="1"/>
          <p:nvPr/>
        </p:nvSpPr>
        <p:spPr bwMode="auto">
          <a:xfrm>
            <a:off x="381000" y="3680460"/>
            <a:ext cx="11430000" cy="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50" i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Clear-sky design day (ASHRAE tau model, Dubai Intl. AP) on 21 Jul / 21 Jun, taking the higher of the two hours either side of the previous HAP times (sun at 13:30/14:30 and 12:30/13:30). Using the highest of all July days instead of the 21st raises July values by ~15–20 % (1500 mm, SC 0.40: 6.15 → 7.28 kW). Solar heat gain = 0.87 × (SC × façade incident + 0.25 × skylight incident).</a:t>
            </a:r>
            <a:endParaRPr lang="en-GB" sz="850" i="1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56850B-F24F-922F-1306-EF37BEE8F506}"/>
              </a:ext>
            </a:extLst>
          </p:cNvPr>
          <p:cNvSpPr/>
          <p:nvPr/>
        </p:nvSpPr>
        <p:spPr>
          <a:xfrm>
            <a:off x="381000" y="4239260"/>
            <a:ext cx="177800" cy="127000"/>
          </a:xfrm>
          <a:prstGeom prst="rect">
            <a:avLst/>
          </a:prstGeom>
          <a:solidFill>
            <a:srgbClr val="C6EFCE"/>
          </a:solidFill>
          <a:ln w="9525">
            <a:solidFill>
              <a:srgbClr val="006100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62550-B873-AEE7-8AE9-63BC48334F15}"/>
              </a:ext>
            </a:extLst>
          </p:cNvPr>
          <p:cNvSpPr txBox="1"/>
          <p:nvPr/>
        </p:nvSpPr>
        <p:spPr bwMode="auto">
          <a:xfrm>
            <a:off x="584200" y="4188460"/>
            <a:ext cx="66040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≤ 4.7 kW – at or below the </a:t>
            </a:r>
            <a:r>
              <a:rPr lang="en-US" sz="1000" i="1" dirty="0"/>
              <a:t>MEP engineer’s</a:t>
            </a:r>
            <a:r>
              <a:rPr lang="en-US" sz="100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 HAP solar-load reference (not an agreed limit)</a:t>
            </a:r>
            <a:endParaRPr lang="en-GB" sz="1000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80A13-98DF-B2C0-85B9-B66029542F77}"/>
              </a:ext>
            </a:extLst>
          </p:cNvPr>
          <p:cNvSpPr txBox="1"/>
          <p:nvPr/>
        </p:nvSpPr>
        <p:spPr bwMode="auto">
          <a:xfrm>
            <a:off x="381000" y="4467860"/>
            <a:ext cx="11430000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50" b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Key points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With SC 0.40 (~70 % VLT) the July heat gain is 6.15–9.00 kW: above the MEP engineer’s HAP reference (4.75 kW) at every depth; 1500 mm comes closest.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SC 0.25 glass stays at or below the reference from 750 mm (4.61 kW) to 1500 mm (3.95 kW); SC 0.32 does not (4.98 kW at 1500 mm).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The annual maximum falls on June mornings (11.3–19.6 kW at SC 0.40), above the July value considered by the MEP.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Per m² of glass the July heat gain at SC 0.40 is 29–42 W/m², against 74 W/m² in the previous HAP model; the glazed area is 3.3× larger (213.7 vs 64 m²). MEP engineer to confirm the glazing areas.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GB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The last column is the highest façade SC that keeps the window + skylight heat gain at or below 4.7 kW at the July design hour (21 July, ~14:00).</a:t>
            </a:r>
            <a:endParaRPr lang="en-US" sz="1050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803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3B2F6-E54C-CE19-E3F4-E809FD662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 dirty="0"/>
              <a:t>6 · Timing: this façade's heat gain peaks on June mornings, 5.2–6.5 kW above its July-afternoon value at 1500 mm.</a:t>
            </a:r>
            <a:endParaRPr lang="en-GB" sz="1000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E150B-1035-A10E-456A-83B38C8786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/>
              <a:t>Clear-Sky Design Day vs Typical Year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CCB08-D99B-293D-60AC-BEE52BED26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778500" cy="307777"/>
          </a:xfrm>
        </p:spPr>
        <p:txBody>
          <a:bodyPr lIns="0">
            <a:spAutoFit/>
          </a:bodyPr>
          <a:lstStyle/>
          <a:p>
            <a:r>
              <a:rPr lang="en-US"/>
              <a:t>Heat gain at SC 0.40: MEP July hour vs annual maximum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2C2DC5-720E-D20D-7941-7A0FB3C7C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199504"/>
              </p:ext>
            </p:extLst>
          </p:nvPr>
        </p:nvGraphicFramePr>
        <p:xfrm>
          <a:off x="622300" y="1422400"/>
          <a:ext cx="109474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341153744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92495540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311793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6930691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62041249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69272881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234685660"/>
                    </a:ext>
                  </a:extLst>
                </a:gridCol>
              </a:tblGrid>
              <a:tr h="241300">
                <a:tc rowSpan="2"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Canopy depth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Heat gain at MEP July hour (~14:00)</a:t>
                      </a:r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Annual maximum heat gain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946507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pPr algn="ctr"/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Design day (21 Jul)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Typical year (highest July day)</a:t>
                      </a:r>
                      <a:endParaRPr lang="en-GB" sz="1050" b="1">
                        <a:solidFill>
                          <a:srgbClr val="56626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Design day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Hour start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Typical year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Hour start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07262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[mm]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[date hh:mm]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[kW]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[date hh:mm]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2032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9.00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8.60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19.62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20-Jun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19.49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61803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7.68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6.94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16.43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20-Jun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16.17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9221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750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7.22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6.71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14.47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20-Jun 09:00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15.47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24-Jun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49175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1000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6.82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6.42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13.51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14.55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1686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1250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6.50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6.12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12.37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16-Jun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13.53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788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1500 mm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6.15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5.82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11.31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18-Jun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12.35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>
                          <a:solidFill>
                            <a:srgbClr val="56626F"/>
                          </a:solidFill>
                          <a:latin typeface="Arial" panose="020B0604020202020204" pitchFamily="34" charset="0"/>
                        </a:rPr>
                        <a:t>11-Jun 08:00</a:t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56626F"/>
                      </a:solidFill>
                    </a:lnL>
                    <a:lnR w="12700" cmpd="sng">
                      <a:solidFill>
                        <a:srgbClr val="56626F"/>
                      </a:solidFill>
                    </a:lnR>
                    <a:lnT w="12700" cmpd="sng">
                      <a:solidFill>
                        <a:srgbClr val="56626F"/>
                      </a:solidFill>
                    </a:lnT>
                    <a:lnB w="12700" cmpd="sng">
                      <a:solidFill>
                        <a:srgbClr val="56626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896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AE93C5-A649-57B7-5507-A63DB984986B}"/>
              </a:ext>
            </a:extLst>
          </p:cNvPr>
          <p:cNvSpPr txBox="1"/>
          <p:nvPr/>
        </p:nvSpPr>
        <p:spPr bwMode="auto">
          <a:xfrm>
            <a:off x="622300" y="3761740"/>
            <a:ext cx="10947400" cy="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850" i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Façade SC 0.40, skylight SC 0.25. Design day = ASHRAE clear sky (tau model, 2009 coefficients; Dubai Intl. AP), 21st of the month. Typical year = </a:t>
            </a:r>
            <a:r>
              <a:rPr lang="en-GB" sz="850" i="1" dirty="0" err="1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TMYx</a:t>
            </a:r>
            <a:r>
              <a:rPr lang="en-GB" sz="850" i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 Dubai Intl. AP (source period 1973–2025), highest July day. Hour start, e.g. 08:00 = 08:00–09:00, local standard time. Solar heat gain, not a HAP cooling load; no safety factor.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C797D4-7DED-7D2C-EA0D-E655436A92BB}"/>
              </a:ext>
            </a:extLst>
          </p:cNvPr>
          <p:cNvSpPr/>
          <p:nvPr/>
        </p:nvSpPr>
        <p:spPr>
          <a:xfrm>
            <a:off x="622300" y="4193540"/>
            <a:ext cx="177800" cy="127000"/>
          </a:xfrm>
          <a:prstGeom prst="rect">
            <a:avLst/>
          </a:prstGeom>
          <a:solidFill>
            <a:srgbClr val="C6EFCE"/>
          </a:solidFill>
          <a:ln w="9525">
            <a:solidFill>
              <a:srgbClr val="006100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4541A-FF69-9B15-157F-49AA3B0AEAA1}"/>
              </a:ext>
            </a:extLst>
          </p:cNvPr>
          <p:cNvSpPr txBox="1"/>
          <p:nvPr/>
        </p:nvSpPr>
        <p:spPr bwMode="auto">
          <a:xfrm>
            <a:off x="825500" y="4142740"/>
            <a:ext cx="66040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≤ 4.7 kW – at or below the MEP’s HAP solar-load reference </a:t>
            </a:r>
            <a:endParaRPr lang="en-GB" sz="1000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C5D8E-784A-80DB-3756-CEEF93D24E04}"/>
              </a:ext>
            </a:extLst>
          </p:cNvPr>
          <p:cNvSpPr txBox="1"/>
          <p:nvPr/>
        </p:nvSpPr>
        <p:spPr bwMode="auto">
          <a:xfrm>
            <a:off x="622300" y="4422140"/>
            <a:ext cx="10947400" cy="122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50" b="1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Key points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Both skies put the annual maximum on June mornings (08:00–10:00), not at the previously considered MEP’s HAP design hour (July 14:00).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At 1500 mm the annual maximum exceeds the July value by 5.2 kW on the design day (11.31 vs 6.15) and 6.5 kW in the typical year (12.35 vs 5.82).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The two skies agree on the timing of the peak but not exactly on the peak value itself, so both are reported.</a:t>
            </a:r>
          </a:p>
          <a:p>
            <a:pPr marL="228600" indent="-228600">
              <a:spcBef>
                <a:spcPct val="50000"/>
              </a:spcBef>
              <a:buFont typeface="+mj-lt"/>
              <a:buChar char="•"/>
            </a:pPr>
            <a:r>
              <a:rPr lang="en-US" sz="1050" dirty="0">
                <a:solidFill>
                  <a:srgbClr val="56626F"/>
                </a:solidFill>
                <a:latin typeface="Arial" panose="020B0604020202020204" pitchFamily="34" charset="0"/>
                <a:cs typeface="Arial"/>
              </a:rPr>
              <a:t>Deeper canopies lower both values, but at SC 0.40 even 1500 mm stays above 4.7 kW.</a:t>
            </a:r>
            <a:endParaRPr lang="en-GB" sz="1050" dirty="0">
              <a:solidFill>
                <a:srgbClr val="56626F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848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970A1A-FD99-F1EF-AB28-362EA77D56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799"/>
            <a:ext cx="5651500" cy="246221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Inputs for the current six-depth solar screening (slides 5–9).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DED4E-6CAD-9E70-1F01-06BBA0E14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 dirty="0"/>
              <a:t>Assumptions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C17F3-9711-37CA-579E-3E4377B2DF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A5A8A-2CC0-5A78-8183-5300327BD2BC}"/>
              </a:ext>
            </a:extLst>
          </p:cNvPr>
          <p:cNvSpPr txBox="1"/>
          <p:nvPr/>
        </p:nvSpPr>
        <p:spPr bwMode="auto">
          <a:xfrm>
            <a:off x="328187" y="1484784"/>
            <a:ext cx="10664357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Method: Honeybee/Radiance annual incident irradiance on the glazing (0.4 m sensor grid, -ab 3; grid/bounce convergence not tested). North canopy 0 / 0.5 / 0.75 / 1.0 / 1.25 / 1.5 m; side canopies 1.0 m (0 m for the 0 mm option); skylight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Weather: Dubai Intl. AP </a:t>
            </a:r>
            <a:r>
              <a:rPr lang="en-US" sz="1200" dirty="0" err="1"/>
              <a:t>TMYx</a:t>
            </a:r>
            <a:r>
              <a:rPr lang="en-US" sz="1200" dirty="0"/>
              <a:t> (source period 1973–2025) and an ASHRAE clear-sky design day (tau model, Ladybug default 2009 coefficients with the STAT optical depths; the 2017 coefficients give ~1–4 % higher loads). Design-day values use the 21st of the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Solar heat gain = 0.87 × SC × incident solar (constant SHGC): instantaneous gain, not a HAP cooling load; no overall conservatism is claimed.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Reference: previous HAP solar-load components 4.752 kW (zone peak, Jul 14:00) and 4.644 kW (air-system design-report condition, Jun 13:00), before the 10 % safety factor – not an agreed limit for the new façade.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Compliance (to confirm with the permit consultant): pavilion assessed with the existing tower, combined WWR &lt; 40 % → SC ≤ 0.40, LT ≥ 0.40, summer U ≤ 2.1 W/m²K (Al </a:t>
            </a:r>
            <a:r>
              <a:rPr lang="en-US" sz="1200" dirty="0" err="1"/>
              <a:t>Sa'fat</a:t>
            </a:r>
            <a:r>
              <a:rPr lang="en-US" sz="1200" dirty="0"/>
              <a:t> 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Sun-path dome: occupied hours 08:00–18:00, Mon–Fri. Surface reflectance:</a:t>
            </a:r>
            <a:endParaRPr lang="en-GB" sz="1200" b="1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05CA25-90A4-7CBC-79CE-1EFBB5BB3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334160"/>
              </p:ext>
            </p:extLst>
          </p:nvPr>
        </p:nvGraphicFramePr>
        <p:xfrm>
          <a:off x="623392" y="4711495"/>
          <a:ext cx="3673624" cy="13234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7440">
                  <a:extLst>
                    <a:ext uri="{9D8B030D-6E8A-4147-A177-3AD203B41FA5}">
                      <a16:colId xmlns:a16="http://schemas.microsoft.com/office/drawing/2014/main" val="411488283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854790410"/>
                    </a:ext>
                  </a:extLst>
                </a:gridCol>
              </a:tblGrid>
              <a:tr h="189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b="1" dirty="0">
                          <a:effectLst/>
                        </a:rPr>
                        <a:t>Surface</a:t>
                      </a:r>
                      <a:endParaRPr lang="en-GB" sz="975" b="1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b="1" dirty="0">
                          <a:effectLst/>
                        </a:rPr>
                        <a:t>Reflectance</a:t>
                      </a:r>
                      <a:endParaRPr lang="en-GB" sz="975" b="1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139175"/>
                  </a:ext>
                </a:extLst>
              </a:tr>
              <a:tr h="189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75" dirty="0">
                          <a:effectLst/>
                        </a:rPr>
                        <a:t>Glazing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dirty="0">
                          <a:effectLst/>
                        </a:rPr>
                        <a:t>0.20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921119"/>
                  </a:ext>
                </a:extLst>
              </a:tr>
              <a:tr h="189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75" dirty="0">
                          <a:effectLst/>
                        </a:rPr>
                        <a:t>Opaque façade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dirty="0">
                          <a:effectLst/>
                        </a:rPr>
                        <a:t>0.40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58772"/>
                  </a:ext>
                </a:extLst>
              </a:tr>
              <a:tr h="189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75" dirty="0">
                          <a:effectLst/>
                        </a:rPr>
                        <a:t>Roof / overhang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dirty="0">
                          <a:effectLst/>
                        </a:rPr>
                        <a:t>0.50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599357"/>
                  </a:ext>
                </a:extLst>
              </a:tr>
              <a:tr h="189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75" dirty="0">
                          <a:effectLst/>
                        </a:rPr>
                        <a:t>Ground (light paver, weathered)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dirty="0">
                          <a:effectLst/>
                        </a:rPr>
                        <a:t>0.35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262122"/>
                  </a:ext>
                </a:extLst>
              </a:tr>
              <a:tr h="189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75" dirty="0">
                          <a:effectLst/>
                        </a:rPr>
                        <a:t>Context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dirty="0">
                          <a:effectLst/>
                        </a:rPr>
                        <a:t>0.30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09831"/>
                  </a:ext>
                </a:extLst>
              </a:tr>
              <a:tr h="189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75" dirty="0">
                          <a:effectLst/>
                        </a:rPr>
                        <a:t>Far-field ground (sky model)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75" dirty="0">
                          <a:effectLst/>
                        </a:rPr>
                        <a:t>0.20</a:t>
                      </a:r>
                      <a:endParaRPr lang="en-GB" sz="975" b="0" i="0" dirty="0">
                        <a:solidFill>
                          <a:srgbClr val="BFBFB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8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37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1434C4-9A5C-EF4E-6C41-CDEBE2D7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821F3E9-4314-F48D-EF6F-205A4326C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014298"/>
            <a:ext cx="5016002" cy="356578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93EB8-A733-7741-0161-7367FC75E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Precedents: built examples of the glass types discussed (manufacturer EN data – to be replaced by NFRC data for the agreed build-up).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3FCB5-8FDD-C2E7-E2A6-12BD138DEF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/>
              <a:t>Precedents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F0790-059E-4C48-E922-74E814771A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GB" dirty="0"/>
              <a:t>PLANITHERM</a:t>
            </a:r>
            <a:r>
              <a:rPr lang="en-GB" baseline="30000" dirty="0"/>
              <a:t> ®</a:t>
            </a:r>
            <a:r>
              <a:rPr lang="en-GB" dirty="0"/>
              <a:t> ONE II DIAMAN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94F90-F531-CE69-3009-F61FEA7E8D23}"/>
              </a:ext>
            </a:extLst>
          </p:cNvPr>
          <p:cNvSpPr txBox="1"/>
          <p:nvPr/>
        </p:nvSpPr>
        <p:spPr bwMode="auto">
          <a:xfrm>
            <a:off x="335360" y="1239697"/>
            <a:ext cx="609750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200" dirty="0"/>
              <a:t>Glass manufacturer: Saint-Gobain </a:t>
            </a:r>
          </a:p>
          <a:p>
            <a:r>
              <a:rPr lang="en-GB" sz="1200" dirty="0"/>
              <a:t>LT: 72%</a:t>
            </a:r>
          </a:p>
          <a:p>
            <a:r>
              <a:rPr lang="en-GB" sz="1200"/>
              <a:t>EN g-value (reference assembly): </a:t>
            </a:r>
            <a:r>
              <a:rPr lang="en-GB" sz="1200" dirty="0"/>
              <a:t>0.55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701510A-522C-FA06-6884-C0CDBE7526FD}"/>
              </a:ext>
            </a:extLst>
          </p:cNvPr>
          <p:cNvSpPr txBox="1">
            <a:spLocks/>
          </p:cNvSpPr>
          <p:nvPr/>
        </p:nvSpPr>
        <p:spPr>
          <a:xfrm>
            <a:off x="353807" y="5778927"/>
            <a:ext cx="5645714" cy="261610"/>
          </a:xfrm>
          <a:prstGeom prst="rect">
            <a:avLst/>
          </a:prstGeom>
        </p:spPr>
        <p:txBody>
          <a:bodyPr lIns="0">
            <a:spAutoFit/>
          </a:bodyPr>
          <a:lstStyle>
            <a:defPPr>
              <a:defRPr lang="en-US"/>
            </a:defPPr>
            <a:lvl1pPr marL="0" indent="0" eaLnBrk="1" hangingPunct="1">
              <a:spcBef>
                <a:spcPct val="20000"/>
              </a:spcBef>
              <a:buFont typeface="Arial" panose="020B0604020202020204" pitchFamily="34" charset="0"/>
              <a:buNone/>
              <a:defRPr sz="1100" i="1" kern="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2pPr>
            <a:lvl3pPr marL="1200150" indent="-285750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3pPr>
            <a:lvl4pPr marL="1657350" indent="-285750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4pPr>
            <a:lvl5pPr indent="0" eaLnBrk="1" hangingPunct="1">
              <a:spcBef>
                <a:spcPct val="20000"/>
              </a:spcBef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9pPr>
          </a:lstStyle>
          <a:p>
            <a:r>
              <a:rPr lang="en-GB" dirty="0"/>
              <a:t>The James A. Michener Museum Event Pavilion, Pennsylvania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F9D649-9D85-574A-9EE3-CE03FDA019C7}"/>
              </a:ext>
            </a:extLst>
          </p:cNvPr>
          <p:cNvGrpSpPr/>
          <p:nvPr/>
        </p:nvGrpSpPr>
        <p:grpSpPr>
          <a:xfrm>
            <a:off x="5447928" y="2707556"/>
            <a:ext cx="6379314" cy="2249842"/>
            <a:chOff x="5447928" y="2951523"/>
            <a:chExt cx="6379314" cy="22498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0CA6E4-7365-FA23-C804-361B8BCEC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7928" y="4022905"/>
              <a:ext cx="6379314" cy="11784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E1D8EE-4182-2542-FB91-9E73344CF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639"/>
            <a:stretch>
              <a:fillRect/>
            </a:stretch>
          </p:blipFill>
          <p:spPr>
            <a:xfrm>
              <a:off x="5471100" y="2951523"/>
              <a:ext cx="6097508" cy="1065151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D2CE9-4AD7-33FD-A245-090333D8CC75}"/>
              </a:ext>
            </a:extLst>
          </p:cNvPr>
          <p:cNvSpPr/>
          <p:nvPr/>
        </p:nvSpPr>
        <p:spPr>
          <a:xfrm>
            <a:off x="5519936" y="4437113"/>
            <a:ext cx="6310114" cy="134887"/>
          </a:xfrm>
          <a:prstGeom prst="rect">
            <a:avLst/>
          </a:prstGeom>
          <a:noFill/>
          <a:ln w="15875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7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DDD23D9-129D-F7C0-DCA3-C61C9E10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B79271-56FF-40A5-ADD3-8658DA5573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Precedents: built examples of the glass types discussed (manufacturer EN data – to be replaced by NFRC data for the agreed build-up).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0977-8973-3389-BD70-EBEA49C054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/>
              <a:t>Precedents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358C7-8689-CAB0-7DE9-E23FB91740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GB" dirty="0" err="1"/>
              <a:t>SunGuard</a:t>
            </a:r>
            <a:r>
              <a:rPr lang="en-GB" baseline="30000" dirty="0"/>
              <a:t>®</a:t>
            </a:r>
            <a:r>
              <a:rPr lang="en-GB" dirty="0"/>
              <a:t> </a:t>
            </a:r>
            <a:r>
              <a:rPr lang="en-GB" dirty="0" err="1"/>
              <a:t>SuperNeutral</a:t>
            </a:r>
            <a:r>
              <a:rPr lang="en-GB" dirty="0"/>
              <a:t> SN 70/35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3D657-0F17-494B-1E84-FEE73A16DE2A}"/>
              </a:ext>
            </a:extLst>
          </p:cNvPr>
          <p:cNvSpPr txBox="1"/>
          <p:nvPr/>
        </p:nvSpPr>
        <p:spPr bwMode="auto">
          <a:xfrm>
            <a:off x="335360" y="1239697"/>
            <a:ext cx="609750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200" dirty="0"/>
              <a:t>Glass manufacturer: Guardian </a:t>
            </a:r>
          </a:p>
          <a:p>
            <a:r>
              <a:rPr lang="en-GB" sz="1200" dirty="0"/>
              <a:t>LT: 70%</a:t>
            </a:r>
          </a:p>
          <a:p>
            <a:r>
              <a:rPr lang="en-GB" sz="1200"/>
              <a:t>EN g-value (reference assembly): </a:t>
            </a:r>
            <a:r>
              <a:rPr lang="en-GB" sz="1200" dirty="0"/>
              <a:t>0.35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1BE4B2-3CFD-7094-09F6-F3288BF7E918}"/>
              </a:ext>
            </a:extLst>
          </p:cNvPr>
          <p:cNvSpPr txBox="1">
            <a:spLocks/>
          </p:cNvSpPr>
          <p:nvPr/>
        </p:nvSpPr>
        <p:spPr>
          <a:xfrm>
            <a:off x="353807" y="5778927"/>
            <a:ext cx="5645714" cy="261610"/>
          </a:xfrm>
          <a:prstGeom prst="rect">
            <a:avLst/>
          </a:prstGeom>
        </p:spPr>
        <p:txBody>
          <a:bodyPr lIns="0">
            <a:spAutoFit/>
          </a:bodyPr>
          <a:lstStyle>
            <a:defPPr>
              <a:defRPr lang="en-US"/>
            </a:defPPr>
            <a:lvl1pPr marL="0" indent="0" eaLnBrk="1" hangingPunct="1">
              <a:spcBef>
                <a:spcPct val="20000"/>
              </a:spcBef>
              <a:buFont typeface="Arial" panose="020B0604020202020204" pitchFamily="34" charset="0"/>
              <a:buNone/>
              <a:defRPr sz="1100" i="1" kern="0">
                <a:solidFill>
                  <a:srgbClr val="5662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2pPr>
            <a:lvl3pPr marL="1200150" indent="-285750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3pPr>
            <a:lvl4pPr marL="1657350" indent="-285750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4pPr>
            <a:lvl5pPr indent="0" eaLnBrk="1" hangingPunct="1">
              <a:spcBef>
                <a:spcPct val="20000"/>
              </a:spcBef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ＭＳ Ｐゴシック" pitchFamily="-105" charset="-128"/>
              </a:defRPr>
            </a:lvl9pPr>
          </a:lstStyle>
          <a:p>
            <a:r>
              <a:rPr lang="en-GB" dirty="0"/>
              <a:t>The Fruit and Wool Exchange (courtyard), London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105F2-D412-4D4B-621D-BAD83039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758" y="2459595"/>
            <a:ext cx="4966389" cy="2921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39C5FB-459F-20ED-E203-469FD9825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8" y="1957524"/>
            <a:ext cx="6480720" cy="406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5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18B6BB-7F29-98F4-E2F6-6CD47B85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4DBA4-46CC-E140-E318-8CFBEE7E19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Precedents: built examples of the glass types discussed (manufacturer EN data – to be replaced by NFRC data for the agreed build-up).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BCC3A-0389-AADD-DEB8-84CA4E9973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/>
              <a:t>Precedents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4FF9F-591A-2906-86C1-11265D06AF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GB" dirty="0" err="1"/>
              <a:t>SunGuard</a:t>
            </a:r>
            <a:r>
              <a:rPr lang="en-GB" baseline="30000" dirty="0"/>
              <a:t>®</a:t>
            </a:r>
            <a:r>
              <a:rPr lang="en-GB" dirty="0"/>
              <a:t> </a:t>
            </a:r>
            <a:r>
              <a:rPr lang="en-GB" dirty="0" err="1"/>
              <a:t>eXtraSelective</a:t>
            </a:r>
            <a:r>
              <a:rPr lang="en-GB" dirty="0"/>
              <a:t> SNX 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F0E42-64AE-0221-C86C-D5503EE64CBC}"/>
              </a:ext>
            </a:extLst>
          </p:cNvPr>
          <p:cNvSpPr txBox="1"/>
          <p:nvPr/>
        </p:nvSpPr>
        <p:spPr bwMode="auto">
          <a:xfrm>
            <a:off x="335360" y="1239697"/>
            <a:ext cx="609750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200" dirty="0"/>
              <a:t>Glass manufacturer: Guardian </a:t>
            </a:r>
          </a:p>
          <a:p>
            <a:r>
              <a:rPr lang="en-GB" sz="1200" dirty="0"/>
              <a:t>LT: 60%</a:t>
            </a:r>
          </a:p>
          <a:p>
            <a:r>
              <a:rPr lang="en-GB" sz="1200"/>
              <a:t>EN g-value (reference assembly): </a:t>
            </a:r>
            <a:r>
              <a:rPr lang="en-GB" sz="1200" dirty="0"/>
              <a:t>0.29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807D1D-41F8-7CEB-1804-75950BADA23A}"/>
              </a:ext>
            </a:extLst>
          </p:cNvPr>
          <p:cNvSpPr txBox="1">
            <a:spLocks/>
          </p:cNvSpPr>
          <p:nvPr/>
        </p:nvSpPr>
        <p:spPr>
          <a:xfrm>
            <a:off x="353807" y="5778927"/>
            <a:ext cx="5645714" cy="26161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2pPr>
            <a:lvl3pPr marL="12001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3pPr>
            <a:lvl4pPr marL="16573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r>
              <a:rPr lang="en-GB" sz="1100" i="1" kern="0" dirty="0" err="1"/>
              <a:t>Aviatica</a:t>
            </a:r>
            <a:r>
              <a:rPr lang="en-GB" sz="1100" i="1" kern="0" dirty="0"/>
              <a:t>, Prague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4B31A-7201-B344-54A4-C4578134A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758" y="2061896"/>
            <a:ext cx="4966389" cy="3717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038AFD-D97D-8CEE-257B-FDA41334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7928" y="1978576"/>
            <a:ext cx="6480720" cy="401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3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FECF93-0F04-9882-F549-36660C53F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1FED3A-67F2-3C51-E2FB-7B2AF35D1A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812800"/>
            <a:ext cx="5651500" cy="400110"/>
          </a:xfrm>
        </p:spPr>
        <p:txBody>
          <a:bodyPr wrap="square">
            <a:noAutofit/>
          </a:bodyPr>
          <a:lstStyle/>
          <a:p>
            <a:pPr algn="r"/>
            <a:r>
              <a:rPr lang="en-US" sz="1000" i="1"/>
              <a:t>Precedents: built examples of the glass types discussed (manufacturer EN data – to be replaced by NFRC data for the agreed build-up).</a:t>
            </a:r>
            <a:endParaRPr lang="en-GB" sz="1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FCAC0-72CA-16A3-08BB-8D10CD81FE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360" y="260648"/>
            <a:ext cx="11521279" cy="553998"/>
          </a:xfrm>
        </p:spPr>
        <p:txBody>
          <a:bodyPr/>
          <a:lstStyle/>
          <a:p>
            <a:r>
              <a:rPr lang="en-US"/>
              <a:t>Precedents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EAE8A-89CA-51F2-F657-096448B51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897755"/>
            <a:ext cx="5645714" cy="307777"/>
          </a:xfrm>
        </p:spPr>
        <p:txBody>
          <a:bodyPr/>
          <a:lstStyle/>
          <a:p>
            <a:r>
              <a:rPr lang="en-GB" dirty="0" err="1"/>
              <a:t>SunGuard</a:t>
            </a:r>
            <a:r>
              <a:rPr lang="en-GB" baseline="30000" dirty="0"/>
              <a:t>®</a:t>
            </a:r>
            <a:r>
              <a:rPr lang="en-GB" dirty="0"/>
              <a:t> </a:t>
            </a:r>
            <a:r>
              <a:rPr lang="en-GB" dirty="0" err="1"/>
              <a:t>SuperNeutral</a:t>
            </a:r>
            <a:r>
              <a:rPr lang="en-GB" dirty="0"/>
              <a:t> SN 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16061-CC83-9736-3980-055FE0866263}"/>
              </a:ext>
            </a:extLst>
          </p:cNvPr>
          <p:cNvSpPr txBox="1"/>
          <p:nvPr/>
        </p:nvSpPr>
        <p:spPr bwMode="auto">
          <a:xfrm>
            <a:off x="335360" y="1239697"/>
            <a:ext cx="609750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200" dirty="0"/>
              <a:t>Glass manufacturer: Guardian </a:t>
            </a:r>
          </a:p>
          <a:p>
            <a:r>
              <a:rPr lang="en-GB" sz="1200" dirty="0"/>
              <a:t>LT: 51%</a:t>
            </a:r>
          </a:p>
          <a:p>
            <a:r>
              <a:rPr lang="en-GB" sz="1200"/>
              <a:t>EN g-value (reference assembly): </a:t>
            </a:r>
            <a:r>
              <a:rPr lang="en-GB" sz="1200" dirty="0"/>
              <a:t>0.27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41633D0-0200-0EF8-89D3-97E39767C81A}"/>
              </a:ext>
            </a:extLst>
          </p:cNvPr>
          <p:cNvSpPr txBox="1">
            <a:spLocks/>
          </p:cNvSpPr>
          <p:nvPr/>
        </p:nvSpPr>
        <p:spPr>
          <a:xfrm>
            <a:off x="353807" y="5778927"/>
            <a:ext cx="5645714" cy="26161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2pPr>
            <a:lvl3pPr marL="12001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3pPr>
            <a:lvl4pPr marL="16573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rgbClr val="56626F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r>
              <a:rPr lang="en-GB" sz="1100" i="1" kern="0" dirty="0"/>
              <a:t>One Blackfriars, London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1E7A4-2D27-0C8C-EACD-E9C6167A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758" y="2265595"/>
            <a:ext cx="4966389" cy="3309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17FA5C-76D2-5E6E-3F30-5DD0B388D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7928" y="1982230"/>
            <a:ext cx="6480720" cy="40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6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27DB-212A-4CAC-FCD6-1F97AD27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D5713-B986-31EB-4331-9D8A8023CD85}"/>
              </a:ext>
            </a:extLst>
          </p:cNvPr>
          <p:cNvSpPr>
            <a:spLocks/>
          </p:cNvSpPr>
          <p:nvPr/>
        </p:nvSpPr>
        <p:spPr>
          <a:xfrm>
            <a:off x="0" y="0"/>
            <a:ext cx="12202144" cy="6866387"/>
          </a:xfrm>
          <a:prstGeom prst="rect">
            <a:avLst/>
          </a:prstGeom>
          <a:solidFill>
            <a:srgbClr val="B1BECD">
              <a:alpha val="3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F12C337-590B-EEA6-16CC-1E18CF50D8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13" t="1719" r="5113" b="5759"/>
          <a:stretch>
            <a:fillRect/>
          </a:stretch>
        </p:blipFill>
        <p:spPr>
          <a:xfrm>
            <a:off x="629653" y="761611"/>
            <a:ext cx="10932694" cy="5256102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8B42CC6-201D-2C6A-5C9D-3D376FDE3523}"/>
              </a:ext>
            </a:extLst>
          </p:cNvPr>
          <p:cNvSpPr txBox="1">
            <a:spLocks/>
          </p:cNvSpPr>
          <p:nvPr/>
        </p:nvSpPr>
        <p:spPr>
          <a:xfrm>
            <a:off x="4079777" y="2996952"/>
            <a:ext cx="4032448" cy="720080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  <a:defRPr sz="6600" b="1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  <a:defRPr sz="6600" b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  <a:defRPr sz="6600" b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  <a:defRPr sz="6600" b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  <a:defRPr sz="6600" b="1">
                <a:solidFill>
                  <a:schemeClr val="bg1"/>
                </a:solidFill>
                <a:latin typeface="Arial" panose="020B0604020202020204" pitchFamily="34" charset="0"/>
                <a:ea typeface="ＭＳ Ｐゴシック" pitchFamily="-105" charset="-128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9pPr>
          </a:lstStyle>
          <a:p>
            <a:pPr algn="ctr"/>
            <a:r>
              <a:rPr lang="en-GB" sz="5400" kern="0" spc="-150" dirty="0">
                <a:solidFill>
                  <a:srgbClr val="EA560D"/>
                </a:solidFill>
              </a:rPr>
              <a:t>Thank you.</a:t>
            </a:r>
            <a:endParaRPr lang="en-GB" sz="3600" kern="0" spc="-150" dirty="0">
              <a:solidFill>
                <a:srgbClr val="EA560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9B2EE-BC66-0229-72DE-939EE7824874}"/>
              </a:ext>
            </a:extLst>
          </p:cNvPr>
          <p:cNvSpPr txBox="1"/>
          <p:nvPr/>
        </p:nvSpPr>
        <p:spPr bwMode="auto">
          <a:xfrm>
            <a:off x="10254171" y="6393885"/>
            <a:ext cx="174648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b="1" kern="0" dirty="0">
                <a:solidFill>
                  <a:srgbClr val="EA560D"/>
                </a:solidFill>
              </a:rPr>
              <a:t>@eocengineers</a:t>
            </a:r>
            <a:endParaRPr lang="en-GB" sz="1600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1EE5D2-A8D4-D182-8AF2-3F90DB80E3D5}"/>
              </a:ext>
            </a:extLst>
          </p:cNvPr>
          <p:cNvGrpSpPr>
            <a:grpSpLocks noChangeAspect="1"/>
          </p:cNvGrpSpPr>
          <p:nvPr/>
        </p:nvGrpSpPr>
        <p:grpSpPr>
          <a:xfrm>
            <a:off x="10567530" y="6107151"/>
            <a:ext cx="1286025" cy="221708"/>
            <a:chOff x="5020553" y="5733260"/>
            <a:chExt cx="3537731" cy="609897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EC77D4E-A56D-40DB-C6B7-DB2A6BF0E5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76594" y="5733263"/>
              <a:ext cx="868936" cy="6062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883AE3E-114A-15D9-A3DE-7E26D73875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32880" y="5733260"/>
              <a:ext cx="525404" cy="606237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7B5109D-D93F-C683-EDA2-2E5165EE71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50737" y="5733265"/>
              <a:ext cx="606232" cy="606232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E63D4BC-E730-4AB2-1488-2D55A070C8C6}"/>
                </a:ext>
              </a:extLst>
            </p:cNvPr>
            <p:cNvGrpSpPr/>
            <p:nvPr/>
          </p:nvGrpSpPr>
          <p:grpSpPr>
            <a:xfrm>
              <a:off x="5020553" y="5733260"/>
              <a:ext cx="610559" cy="609897"/>
              <a:chOff x="4538642" y="4549997"/>
              <a:chExt cx="610559" cy="609897"/>
            </a:xfrm>
          </p:grpSpPr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0E38FD3C-CF27-F758-B463-B74B5C426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81744" y="4686724"/>
                <a:ext cx="324000" cy="324000"/>
              </a:xfrm>
              <a:prstGeom prst="rect">
                <a:avLst/>
              </a:prstGeom>
            </p:spPr>
          </p:pic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EBBAAE0-9D34-1A75-31A5-5BA6C248C419}"/>
                  </a:ext>
                </a:extLst>
              </p:cNvPr>
              <p:cNvSpPr/>
              <p:nvPr/>
            </p:nvSpPr>
            <p:spPr>
              <a:xfrm>
                <a:off x="4538642" y="4549997"/>
                <a:ext cx="610559" cy="609897"/>
              </a:xfrm>
              <a:custGeom>
                <a:avLst/>
                <a:gdLst>
                  <a:gd name="connsiteX0" fmla="*/ 380095 w 610559"/>
                  <a:gd name="connsiteY0" fmla="*/ 554629 h 609897"/>
                  <a:gd name="connsiteX1" fmla="*/ 195800 w 610559"/>
                  <a:gd name="connsiteY1" fmla="*/ 553619 h 609897"/>
                  <a:gd name="connsiteX2" fmla="*/ 104663 w 610559"/>
                  <a:gd name="connsiteY2" fmla="*/ 531997 h 609897"/>
                  <a:gd name="connsiteX3" fmla="*/ 56367 w 610559"/>
                  <a:gd name="connsiteY3" fmla="*/ 411558 h 609897"/>
                  <a:gd name="connsiteX4" fmla="*/ 55357 w 610559"/>
                  <a:gd name="connsiteY4" fmla="*/ 242622 h 609897"/>
                  <a:gd name="connsiteX5" fmla="*/ 74150 w 610559"/>
                  <a:gd name="connsiteY5" fmla="*/ 111676 h 609897"/>
                  <a:gd name="connsiteX6" fmla="*/ 102643 w 610559"/>
                  <a:gd name="connsiteY6" fmla="*/ 79950 h 609897"/>
                  <a:gd name="connsiteX7" fmla="*/ 126690 w 610559"/>
                  <a:gd name="connsiteY7" fmla="*/ 67219 h 609897"/>
                  <a:gd name="connsiteX8" fmla="*/ 166701 w 610559"/>
                  <a:gd name="connsiteY8" fmla="*/ 58327 h 609897"/>
                  <a:gd name="connsiteX9" fmla="*/ 337457 w 610559"/>
                  <a:gd name="connsiteY9" fmla="*/ 55498 h 609897"/>
                  <a:gd name="connsiteX10" fmla="*/ 484973 w 610559"/>
                  <a:gd name="connsiteY10" fmla="*/ 67623 h 609897"/>
                  <a:gd name="connsiteX11" fmla="*/ 502958 w 610559"/>
                  <a:gd name="connsiteY11" fmla="*/ 76514 h 609897"/>
                  <a:gd name="connsiteX12" fmla="*/ 510839 w 610559"/>
                  <a:gd name="connsiteY12" fmla="*/ 81970 h 609897"/>
                  <a:gd name="connsiteX13" fmla="*/ 517507 w 610559"/>
                  <a:gd name="connsiteY13" fmla="*/ 88639 h 609897"/>
                  <a:gd name="connsiteX14" fmla="*/ 540140 w 610559"/>
                  <a:gd name="connsiteY14" fmla="*/ 118950 h 609897"/>
                  <a:gd name="connsiteX15" fmla="*/ 555094 w 610559"/>
                  <a:gd name="connsiteY15" fmla="*/ 266063 h 609897"/>
                  <a:gd name="connsiteX16" fmla="*/ 552669 w 610559"/>
                  <a:gd name="connsiteY16" fmla="*/ 439647 h 609897"/>
                  <a:gd name="connsiteX17" fmla="*/ 516295 w 610559"/>
                  <a:gd name="connsiteY17" fmla="*/ 522903 h 609897"/>
                  <a:gd name="connsiteX18" fmla="*/ 468807 w 610559"/>
                  <a:gd name="connsiteY18" fmla="*/ 547354 h 609897"/>
                  <a:gd name="connsiteX19" fmla="*/ 380095 w 610559"/>
                  <a:gd name="connsiteY19" fmla="*/ 554427 h 609897"/>
                  <a:gd name="connsiteX20" fmla="*/ 380095 w 610559"/>
                  <a:gd name="connsiteY20" fmla="*/ 554427 h 609897"/>
                  <a:gd name="connsiteX21" fmla="*/ 225304 w 610559"/>
                  <a:gd name="connsiteY21" fmla="*/ 735 h 609897"/>
                  <a:gd name="connsiteX22" fmla="*/ 64854 w 610559"/>
                  <a:gd name="connsiteY22" fmla="*/ 39534 h 609897"/>
                  <a:gd name="connsiteX23" fmla="*/ 49294 w 610559"/>
                  <a:gd name="connsiteY23" fmla="*/ 53275 h 609897"/>
                  <a:gd name="connsiteX24" fmla="*/ 45051 w 610559"/>
                  <a:gd name="connsiteY24" fmla="*/ 58327 h 609897"/>
                  <a:gd name="connsiteX25" fmla="*/ 32522 w 610559"/>
                  <a:gd name="connsiteY25" fmla="*/ 74291 h 609897"/>
                  <a:gd name="connsiteX26" fmla="*/ 18781 w 610559"/>
                  <a:gd name="connsiteY26" fmla="*/ 98945 h 609897"/>
                  <a:gd name="connsiteX27" fmla="*/ 796 w 610559"/>
                  <a:gd name="connsiteY27" fmla="*/ 233326 h 609897"/>
                  <a:gd name="connsiteX28" fmla="*/ 4433 w 610559"/>
                  <a:gd name="connsiteY28" fmla="*/ 457026 h 609897"/>
                  <a:gd name="connsiteX29" fmla="*/ 99005 w 610559"/>
                  <a:gd name="connsiteY29" fmla="*/ 591205 h 609897"/>
                  <a:gd name="connsiteX30" fmla="*/ 233185 w 610559"/>
                  <a:gd name="connsiteY30" fmla="*/ 609594 h 609897"/>
                  <a:gd name="connsiteX31" fmla="*/ 309368 w 610559"/>
                  <a:gd name="connsiteY31" fmla="*/ 609594 h 609897"/>
                  <a:gd name="connsiteX32" fmla="*/ 385551 w 610559"/>
                  <a:gd name="connsiteY32" fmla="*/ 609594 h 609897"/>
                  <a:gd name="connsiteX33" fmla="*/ 550850 w 610559"/>
                  <a:gd name="connsiteY33" fmla="*/ 566148 h 609897"/>
                  <a:gd name="connsiteX34" fmla="*/ 560954 w 610559"/>
                  <a:gd name="connsiteY34" fmla="*/ 556852 h 609897"/>
                  <a:gd name="connsiteX35" fmla="*/ 609857 w 610559"/>
                  <a:gd name="connsiteY35" fmla="*/ 377205 h 609897"/>
                  <a:gd name="connsiteX36" fmla="*/ 605815 w 610559"/>
                  <a:gd name="connsiteY36" fmla="*/ 152697 h 609897"/>
                  <a:gd name="connsiteX37" fmla="*/ 574695 w 610559"/>
                  <a:gd name="connsiteY37" fmla="*/ 69644 h 609897"/>
                  <a:gd name="connsiteX38" fmla="*/ 511041 w 610559"/>
                  <a:gd name="connsiteY38" fmla="*/ 18720 h 609897"/>
                  <a:gd name="connsiteX39" fmla="*/ 376457 w 610559"/>
                  <a:gd name="connsiteY39" fmla="*/ 533 h 609897"/>
                  <a:gd name="connsiteX40" fmla="*/ 225304 w 610559"/>
                  <a:gd name="connsiteY40" fmla="*/ 533 h 609897"/>
                  <a:gd name="connsiteX41" fmla="*/ 225304 w 610559"/>
                  <a:gd name="connsiteY41" fmla="*/ 533 h 609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610559" h="609897">
                    <a:moveTo>
                      <a:pt x="380095" y="554629"/>
                    </a:moveTo>
                    <a:cubicBezTo>
                      <a:pt x="318461" y="554629"/>
                      <a:pt x="257838" y="555842"/>
                      <a:pt x="195800" y="553619"/>
                    </a:cubicBezTo>
                    <a:cubicBezTo>
                      <a:pt x="162458" y="552406"/>
                      <a:pt x="127498" y="548365"/>
                      <a:pt x="104663" y="531997"/>
                    </a:cubicBezTo>
                    <a:cubicBezTo>
                      <a:pt x="62631" y="501887"/>
                      <a:pt x="58186" y="460865"/>
                      <a:pt x="56367" y="411558"/>
                    </a:cubicBezTo>
                    <a:cubicBezTo>
                      <a:pt x="54548" y="359018"/>
                      <a:pt x="55559" y="295970"/>
                      <a:pt x="55357" y="242622"/>
                    </a:cubicBezTo>
                    <a:cubicBezTo>
                      <a:pt x="55357" y="202813"/>
                      <a:pt x="54346" y="145625"/>
                      <a:pt x="74150" y="111676"/>
                    </a:cubicBezTo>
                    <a:cubicBezTo>
                      <a:pt x="82233" y="97732"/>
                      <a:pt x="90720" y="89447"/>
                      <a:pt x="102643" y="79950"/>
                    </a:cubicBezTo>
                    <a:cubicBezTo>
                      <a:pt x="108907" y="74898"/>
                      <a:pt x="118809" y="70250"/>
                      <a:pt x="126690" y="67219"/>
                    </a:cubicBezTo>
                    <a:cubicBezTo>
                      <a:pt x="139017" y="62571"/>
                      <a:pt x="152556" y="59742"/>
                      <a:pt x="166701" y="58327"/>
                    </a:cubicBezTo>
                    <a:cubicBezTo>
                      <a:pt x="207723" y="54084"/>
                      <a:pt x="289160" y="55498"/>
                      <a:pt x="337457" y="55498"/>
                    </a:cubicBezTo>
                    <a:cubicBezTo>
                      <a:pt x="377670" y="55498"/>
                      <a:pt x="448397" y="53073"/>
                      <a:pt x="484973" y="67623"/>
                    </a:cubicBezTo>
                    <a:cubicBezTo>
                      <a:pt x="491439" y="70250"/>
                      <a:pt x="497300" y="72877"/>
                      <a:pt x="502958" y="76514"/>
                    </a:cubicBezTo>
                    <a:cubicBezTo>
                      <a:pt x="505585" y="78131"/>
                      <a:pt x="508616" y="80152"/>
                      <a:pt x="510839" y="81970"/>
                    </a:cubicBezTo>
                    <a:cubicBezTo>
                      <a:pt x="513668" y="84395"/>
                      <a:pt x="515083" y="86416"/>
                      <a:pt x="517507" y="88639"/>
                    </a:cubicBezTo>
                    <a:cubicBezTo>
                      <a:pt x="527005" y="97328"/>
                      <a:pt x="533472" y="104199"/>
                      <a:pt x="540140" y="118950"/>
                    </a:cubicBezTo>
                    <a:cubicBezTo>
                      <a:pt x="558125" y="158760"/>
                      <a:pt x="554892" y="222212"/>
                      <a:pt x="555094" y="266063"/>
                    </a:cubicBezTo>
                    <a:cubicBezTo>
                      <a:pt x="555094" y="316380"/>
                      <a:pt x="556306" y="399434"/>
                      <a:pt x="552669" y="439647"/>
                    </a:cubicBezTo>
                    <a:cubicBezTo>
                      <a:pt x="549436" y="475617"/>
                      <a:pt x="539332" y="502291"/>
                      <a:pt x="516295" y="522903"/>
                    </a:cubicBezTo>
                    <a:cubicBezTo>
                      <a:pt x="502352" y="535432"/>
                      <a:pt x="488206" y="542302"/>
                      <a:pt x="468807" y="547354"/>
                    </a:cubicBezTo>
                    <a:cubicBezTo>
                      <a:pt x="444760" y="553619"/>
                      <a:pt x="406365" y="554427"/>
                      <a:pt x="380095" y="554427"/>
                    </a:cubicBezTo>
                    <a:lnTo>
                      <a:pt x="380095" y="554427"/>
                    </a:lnTo>
                    <a:close/>
                    <a:moveTo>
                      <a:pt x="225304" y="735"/>
                    </a:moveTo>
                    <a:cubicBezTo>
                      <a:pt x="162256" y="1948"/>
                      <a:pt x="112342" y="2756"/>
                      <a:pt x="64854" y="39534"/>
                    </a:cubicBezTo>
                    <a:cubicBezTo>
                      <a:pt x="59196" y="43778"/>
                      <a:pt x="54144" y="48021"/>
                      <a:pt x="49294" y="53275"/>
                    </a:cubicBezTo>
                    <a:cubicBezTo>
                      <a:pt x="47678" y="55094"/>
                      <a:pt x="46667" y="56509"/>
                      <a:pt x="45051" y="58327"/>
                    </a:cubicBezTo>
                    <a:cubicBezTo>
                      <a:pt x="37170" y="67623"/>
                      <a:pt x="39797" y="64592"/>
                      <a:pt x="32522" y="74291"/>
                    </a:cubicBezTo>
                    <a:cubicBezTo>
                      <a:pt x="27268" y="81162"/>
                      <a:pt x="22620" y="90053"/>
                      <a:pt x="18781" y="98945"/>
                    </a:cubicBezTo>
                    <a:cubicBezTo>
                      <a:pt x="1402" y="139764"/>
                      <a:pt x="1200" y="185232"/>
                      <a:pt x="796" y="233326"/>
                    </a:cubicBezTo>
                    <a:cubicBezTo>
                      <a:pt x="189" y="284452"/>
                      <a:pt x="-1831" y="408325"/>
                      <a:pt x="4433" y="457026"/>
                    </a:cubicBezTo>
                    <a:cubicBezTo>
                      <a:pt x="11910" y="515830"/>
                      <a:pt x="43030" y="567360"/>
                      <a:pt x="99005" y="591205"/>
                    </a:cubicBezTo>
                    <a:cubicBezTo>
                      <a:pt x="140229" y="608786"/>
                      <a:pt x="184686" y="608988"/>
                      <a:pt x="233185" y="609594"/>
                    </a:cubicBezTo>
                    <a:cubicBezTo>
                      <a:pt x="258444" y="609998"/>
                      <a:pt x="284108" y="609998"/>
                      <a:pt x="309368" y="609594"/>
                    </a:cubicBezTo>
                    <a:cubicBezTo>
                      <a:pt x="334627" y="609594"/>
                      <a:pt x="360291" y="609998"/>
                      <a:pt x="385551" y="609594"/>
                    </a:cubicBezTo>
                    <a:cubicBezTo>
                      <a:pt x="449609" y="608180"/>
                      <a:pt x="503968" y="606563"/>
                      <a:pt x="550850" y="566148"/>
                    </a:cubicBezTo>
                    <a:cubicBezTo>
                      <a:pt x="554286" y="563116"/>
                      <a:pt x="558125" y="559883"/>
                      <a:pt x="560954" y="556852"/>
                    </a:cubicBezTo>
                    <a:cubicBezTo>
                      <a:pt x="608240" y="505322"/>
                      <a:pt x="609049" y="448741"/>
                      <a:pt x="609857" y="377205"/>
                    </a:cubicBezTo>
                    <a:cubicBezTo>
                      <a:pt x="610463" y="327090"/>
                      <a:pt x="612282" y="200792"/>
                      <a:pt x="605815" y="152697"/>
                    </a:cubicBezTo>
                    <a:cubicBezTo>
                      <a:pt x="602178" y="125215"/>
                      <a:pt x="591266" y="90660"/>
                      <a:pt x="574695" y="69644"/>
                    </a:cubicBezTo>
                    <a:cubicBezTo>
                      <a:pt x="556306" y="46203"/>
                      <a:pt x="538726" y="31451"/>
                      <a:pt x="511041" y="18720"/>
                    </a:cubicBezTo>
                    <a:cubicBezTo>
                      <a:pt x="473050" y="1544"/>
                      <a:pt x="421723" y="1139"/>
                      <a:pt x="376457" y="533"/>
                    </a:cubicBezTo>
                    <a:cubicBezTo>
                      <a:pt x="326544" y="-73"/>
                      <a:pt x="275217" y="-275"/>
                      <a:pt x="225304" y="533"/>
                    </a:cubicBezTo>
                    <a:lnTo>
                      <a:pt x="225304" y="533"/>
                    </a:lnTo>
                    <a:close/>
                  </a:path>
                </a:pathLst>
              </a:custGeom>
              <a:solidFill>
                <a:srgbClr val="EA560D"/>
              </a:solidFill>
              <a:ln w="200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58015A68-376A-6863-A11B-5D1645C87E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697" y="6338000"/>
            <a:ext cx="1008000" cy="3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5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EOC Slide Templates">
  <a:themeElements>
    <a:clrScheme name="EOC Brand Colours">
      <a:dk1>
        <a:srgbClr val="56626F"/>
      </a:dk1>
      <a:lt1>
        <a:srgbClr val="FFFFFF"/>
      </a:lt1>
      <a:dk2>
        <a:srgbClr val="3B4856"/>
      </a:dk2>
      <a:lt2>
        <a:srgbClr val="B1BECD"/>
      </a:lt2>
      <a:accent1>
        <a:srgbClr val="EA560D"/>
      </a:accent1>
      <a:accent2>
        <a:srgbClr val="2BAF49"/>
      </a:accent2>
      <a:accent3>
        <a:srgbClr val="0075BF"/>
      </a:accent3>
      <a:accent4>
        <a:srgbClr val="F7A600"/>
      </a:accent4>
      <a:accent5>
        <a:srgbClr val="F4AA86"/>
      </a:accent5>
      <a:accent6>
        <a:srgbClr val="B1BECD"/>
      </a:accent6>
      <a:hlink>
        <a:srgbClr val="EA560D"/>
      </a:hlink>
      <a:folHlink>
        <a:srgbClr val="F4AA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>
        <a:spAutoFit/>
      </a:bodyPr>
      <a:lstStyle>
        <a:defPPr>
          <a:spcBef>
            <a:spcPct val="50000"/>
          </a:spcBef>
          <a:defRPr sz="1400" dirty="0" smtClean="0">
            <a:solidFill>
              <a:srgbClr val="595959"/>
            </a:solidFill>
            <a:latin typeface="Arial"/>
            <a:cs typeface="Arial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6 Blank Presentation Template.pptx" id="{BB3AB9A6-8617-4583-BF31-38DCC056DEDF}" vid="{0C9016F6-62D3-4504-AF7E-4C68C75C1979}"/>
    </a:ext>
  </a:extLst>
</a:theme>
</file>

<file path=ppt/theme/theme2.xml><?xml version="1.0" encoding="utf-8"?>
<a:theme xmlns:a="http://schemas.openxmlformats.org/drawingml/2006/main" name="Tables">
  <a:themeElements>
    <a:clrScheme name="Custom 3">
      <a:dk1>
        <a:sysClr val="windowText" lastClr="000000"/>
      </a:dk1>
      <a:lt1>
        <a:sysClr val="window" lastClr="FFFFFF"/>
      </a:lt1>
      <a:dk2>
        <a:srgbClr val="EA560D"/>
      </a:dk2>
      <a:lt2>
        <a:srgbClr val="56626F"/>
      </a:lt2>
      <a:accent1>
        <a:srgbClr val="2275BF"/>
      </a:accent1>
      <a:accent2>
        <a:srgbClr val="2BAF49"/>
      </a:accent2>
      <a:accent3>
        <a:srgbClr val="F7A600"/>
      </a:accent3>
      <a:accent4>
        <a:srgbClr val="464854"/>
      </a:accent4>
      <a:accent5>
        <a:srgbClr val="B1B2B5"/>
      </a:accent5>
      <a:accent6>
        <a:srgbClr val="FFFFFF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>
        <a:spAutoFit/>
      </a:bodyPr>
      <a:lstStyle>
        <a:defPPr>
          <a:spcBef>
            <a:spcPct val="50000"/>
          </a:spcBef>
          <a:defRPr sz="1400" dirty="0" smtClean="0">
            <a:solidFill>
              <a:srgbClr val="595959"/>
            </a:solidFill>
            <a:latin typeface="Arial"/>
            <a:cs typeface="Arial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6 Blank Presentation Template.pptx" id="{BB3AB9A6-8617-4583-BF31-38DCC056DEDF}" vid="{55804BE4-BBDE-46F9-BF8E-8B70DB6A559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B57734-89C3-48C9-8AF7-2C41254ADF0C}">
  <we:reference id="c5600acc-5bf8-4dd6-a645-f726195cd927" version="0.1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E82856EC988D4AB8A2EC81AB428B30" ma:contentTypeVersion="10" ma:contentTypeDescription="Create a new document." ma:contentTypeScope="" ma:versionID="dfff854e12b0a8e613c8b335e56e52d0">
  <xsd:schema xmlns:xsd="http://www.w3.org/2001/XMLSchema" xmlns:xs="http://www.w3.org/2001/XMLSchema" xmlns:p="http://schemas.microsoft.com/office/2006/metadata/properties" xmlns:ns2="e81b0ea7-80e2-4551-bdde-183744cbb7ce" xmlns:ns3="a038ec6b-0c65-48ee-ae8b-6491b1f2da8d" targetNamespace="http://schemas.microsoft.com/office/2006/metadata/properties" ma:root="true" ma:fieldsID="6b616ac1b6eb1bda7850f9c95a57f4ab" ns2:_="" ns3:_="">
    <xsd:import namespace="e81b0ea7-80e2-4551-bdde-183744cbb7ce"/>
    <xsd:import namespace="a038ec6b-0c65-48ee-ae8b-6491b1f2da8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1b0ea7-80e2-4551-bdde-183744cbb7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38ec6b-0c65-48ee-ae8b-6491b1f2d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3102FA-29F5-4201-B206-CC3B79AD3B34}">
  <ds:schemaRefs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e81b0ea7-80e2-4551-bdde-183744cbb7ce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AE3A143-5221-445F-BACF-337C6327A6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1b0ea7-80e2-4551-bdde-183744cbb7ce"/>
    <ds:schemaRef ds:uri="a038ec6b-0c65-48ee-ae8b-6491b1f2d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63DDDF-F2FC-4A8B-8DBE-0F1BB128C7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 Blank Presentation Template</Template>
  <TotalTime>1907</TotalTime>
  <Words>2638</Words>
  <Application>Microsoft Office PowerPoint</Application>
  <PresentationFormat>Widescreen</PresentationFormat>
  <Paragraphs>407</Paragraphs>
  <Slides>15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Nova Light</vt:lpstr>
      <vt:lpstr>Arial</vt:lpstr>
      <vt:lpstr>New Rail Alphabet Light</vt:lpstr>
      <vt:lpstr>EOC Slide Templates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Vishnukumar Rajasekar</dc:creator>
  <cp:lastModifiedBy>Vishnukumar Rajasekar</cp:lastModifiedBy>
  <cp:revision>40</cp:revision>
  <dcterms:created xsi:type="dcterms:W3CDTF">2026-09-28T12:46:58Z</dcterms:created>
  <dcterms:modified xsi:type="dcterms:W3CDTF">2026-10-20T15:35:03Z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0x010100FFE82856EC988D4AB8A2EC81AB428B30</vt:lpwstr>
  </property>
</Properties>
</file>