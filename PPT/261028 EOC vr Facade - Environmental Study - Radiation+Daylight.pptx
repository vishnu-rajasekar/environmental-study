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56" r:id="rId4"/>
    <p:sldMasterId id="2147483989" r:id="rId5"/>
    <p:sldMasterId id="2147483999" r:id="rId6"/>
  </p:sldMasterIdLst>
  <p:notesMasterIdLst>
    <p:notesMasterId r:id="rId33"/>
  </p:notesMasterIdLst>
  <p:handoutMasterIdLst>
    <p:handoutMasterId r:id="rId34"/>
  </p:handoutMasterIdLst>
  <p:sldIdLst>
    <p:sldId id="2147473631" r:id="rId7"/>
    <p:sldId id="2147474626" r:id="rId8"/>
    <p:sldId id="2147475220" r:id="rId9"/>
    <p:sldId id="2147474633" r:id="rId10"/>
    <p:sldId id="2147474627" r:id="rId11"/>
    <p:sldId id="2147475222" r:id="rId12"/>
    <p:sldId id="2147474630" r:id="rId13"/>
    <p:sldId id="2147474639" r:id="rId14"/>
    <p:sldId id="2147475223" r:id="rId15"/>
    <p:sldId id="2147474947" r:id="rId16"/>
    <p:sldId id="2147475212" r:id="rId17"/>
    <p:sldId id="2147474632" r:id="rId18"/>
    <p:sldId id="2147474640" r:id="rId19"/>
    <p:sldId id="2147474641" r:id="rId20"/>
    <p:sldId id="2147474631" r:id="rId21"/>
    <p:sldId id="2147475224" r:id="rId22"/>
    <p:sldId id="2147475221" r:id="rId23"/>
    <p:sldId id="2147474642" r:id="rId24"/>
    <p:sldId id="2147474643" r:id="rId25"/>
    <p:sldId id="2147474644" r:id="rId26"/>
    <p:sldId id="2147475244" r:id="rId27"/>
    <p:sldId id="2147475243" r:id="rId28"/>
    <p:sldId id="2147474636" r:id="rId29"/>
    <p:sldId id="2147475240" r:id="rId30"/>
    <p:sldId id="2147475241" r:id="rId31"/>
    <p:sldId id="2147473742" r:id="rId32"/>
  </p:sldIdLst>
  <p:sldSz cx="12192000" cy="6858000"/>
  <p:notesSz cx="9926638" cy="6797675"/>
  <p:embeddedFontLst>
    <p:embeddedFont>
      <p:font typeface="Arial Nova Light" panose="020B0304020202020204" pitchFamily="34" charset="0"/>
      <p:regular r:id="rId35"/>
      <p:italic r:id="rId36"/>
    </p:embeddedFont>
    <p:embeddedFont>
      <p:font typeface="New Rail Alphabet Light" panose="02000503060000020004" pitchFamily="2" charset="0"/>
      <p:regular r:id="rId37"/>
    </p:embeddedFont>
  </p:embeddedFont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4320" userDrawn="1">
          <p15:clr>
            <a:srgbClr val="A4A3A4"/>
          </p15:clr>
        </p15:guide>
        <p15:guide id="2" pos="3840">
          <p15:clr>
            <a:srgbClr val="A4A3A4"/>
          </p15:clr>
        </p15:guide>
      </p15:sldGuideLst>
    </p:ext>
    <p:ext uri="{2D200454-40CA-4A62-9FC3-DE9A4176ACB9}">
      <p15:notesGuideLst xmlns:p15="http://schemas.microsoft.com/office/powerpoint/2012/main">
        <p15:guide id="1" orient="horz" pos="2141" userDrawn="1">
          <p15:clr>
            <a:srgbClr val="A4A3A4"/>
          </p15:clr>
        </p15:guide>
        <p15:guide id="2" pos="3127"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9B112B-EACD-A892-5BD6-AE3D56ABC0F7}" name="Damian Rogan" initials="DR" userId="S::damian@eocengineers.com::20c04629-af50-46bb-a9d3-092a6d5ab510" providerId="AD"/>
  <p188:author id="{22DC1F59-9C1A-AD05-EA91-FEBF31D00DF8}" name="Damian Rogan" initials="DR" userId="S::Damian@eocengineers.com::20c04629-af50-46bb-a9d3-092a6d5ab510" providerId="AD"/>
  <p188:author id="{85D13DDB-C847-6A61-FBA0-7BB87663FDBC}" name="William Dodd" initials="WD" userId="S::William.Dodd@eocengineers.com::9cb8ac4a-c467-424a-b066-329e39710ff3" providerId="AD"/>
  <p188:author id="{FC2702F2-F074-C46A-A710-31FA8B97854E}" name="Eva Schoenmaker" initials="ES" userId="S::Eva@eocengineers.com::188e9bc1-c1f8-4674-9a68-f0e48b68f41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iovanni De Mari" initials="GDM" lastIdx="1" clrIdx="0">
    <p:extLst>
      <p:ext uri="{19B8F6BF-5375-455C-9EA6-DF929625EA0E}">
        <p15:presenceInfo xmlns:p15="http://schemas.microsoft.com/office/powerpoint/2012/main" userId="S::Giovanni@eocengineers.com::695e3657-972c-4431-b9df-4dca93ec681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626F"/>
    <a:srgbClr val="A1E54A"/>
    <a:srgbClr val="EA560D"/>
    <a:srgbClr val="B1BECD"/>
    <a:srgbClr val="000000"/>
    <a:srgbClr val="F2F3F4"/>
    <a:srgbClr val="FF5DE0"/>
    <a:srgbClr val="F7A600"/>
    <a:srgbClr val="F4AA86"/>
    <a:srgbClr val="E4A98F"/>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45" autoAdjust="0"/>
    <p:restoredTop sz="96247" autoAdjust="0"/>
  </p:normalViewPr>
  <p:slideViewPr>
    <p:cSldViewPr>
      <p:cViewPr varScale="1">
        <p:scale>
          <a:sx n="106" d="100"/>
          <a:sy n="106" d="100"/>
        </p:scale>
        <p:origin x="996" y="114"/>
      </p:cViewPr>
      <p:guideLst>
        <p:guide orient="horz" pos="4320"/>
        <p:guide pos="3840"/>
      </p:guideLst>
    </p:cSldViewPr>
  </p:slideViewPr>
  <p:outlineViewPr>
    <p:cViewPr>
      <p:scale>
        <a:sx n="100" d="100"/>
        <a:sy n="100" d="100"/>
      </p:scale>
      <p:origin x="0" y="-4422"/>
    </p:cViewPr>
  </p:outlineViewPr>
  <p:notesTextViewPr>
    <p:cViewPr>
      <p:scale>
        <a:sx n="75" d="100"/>
        <a:sy n="75" d="100"/>
      </p:scale>
      <p:origin x="0" y="0"/>
    </p:cViewPr>
  </p:notesTextViewPr>
  <p:sorterViewPr>
    <p:cViewPr>
      <p:scale>
        <a:sx n="62" d="100"/>
        <a:sy n="62" d="100"/>
      </p:scale>
      <p:origin x="0" y="-5813"/>
    </p:cViewPr>
  </p:sorterViewPr>
  <p:notesViewPr>
    <p:cSldViewPr snapToGrid="0" snapToObjects="1">
      <p:cViewPr varScale="1">
        <p:scale>
          <a:sx n="89" d="100"/>
          <a:sy n="89" d="100"/>
        </p:scale>
        <p:origin x="1723" y="67"/>
      </p:cViewPr>
      <p:guideLst>
        <p:guide orient="horz" pos="2141"/>
        <p:guide pos="312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21" Type="http://schemas.openxmlformats.org/officeDocument/2006/relationships/slide" Target="slides/slide15.xml"/><Relationship Id="rId34" Type="http://schemas.openxmlformats.org/officeDocument/2006/relationships/handoutMaster" Target="handoutMasters/handoutMaster1.xml"/><Relationship Id="rId42"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font" Target="fonts/font3.fntdata"/><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2.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font" Target="fonts/font1.fntdata"/><Relationship Id="rId43" Type="http://schemas.microsoft.com/office/2018/10/relationships/authors" Target="author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2625" cy="340265"/>
          </a:xfrm>
          <a:prstGeom prst="rect">
            <a:avLst/>
          </a:prstGeom>
        </p:spPr>
        <p:txBody>
          <a:bodyPr vert="horz" lIns="91410" tIns="45705" rIns="91410" bIns="45705" rtlCol="0"/>
          <a:lstStyle>
            <a:lvl1pPr algn="l">
              <a:defRPr sz="1200"/>
            </a:lvl1pPr>
          </a:lstStyle>
          <a:p>
            <a:endParaRPr lang="en-US" dirty="0"/>
          </a:p>
        </p:txBody>
      </p:sp>
      <p:sp>
        <p:nvSpPr>
          <p:cNvPr id="3" name="Date Placeholder 2"/>
          <p:cNvSpPr>
            <a:spLocks noGrp="1"/>
          </p:cNvSpPr>
          <p:nvPr>
            <p:ph type="dt" sz="quarter" idx="1"/>
          </p:nvPr>
        </p:nvSpPr>
        <p:spPr>
          <a:xfrm>
            <a:off x="5621700" y="0"/>
            <a:ext cx="4302625" cy="340265"/>
          </a:xfrm>
          <a:prstGeom prst="rect">
            <a:avLst/>
          </a:prstGeom>
        </p:spPr>
        <p:txBody>
          <a:bodyPr vert="horz" lIns="91410" tIns="45705" rIns="91410" bIns="45705" rtlCol="0"/>
          <a:lstStyle>
            <a:lvl1pPr algn="r">
              <a:defRPr sz="1200"/>
            </a:lvl1pPr>
          </a:lstStyle>
          <a:p>
            <a:fld id="{6A2E778D-67AD-6040-B463-53CE8684E960}" type="datetimeFigureOut">
              <a:rPr lang="en-US" smtClean="0"/>
              <a:pPr/>
              <a:t>10/28/2026</a:t>
            </a:fld>
            <a:endParaRPr lang="en-US"/>
          </a:p>
        </p:txBody>
      </p:sp>
      <p:sp>
        <p:nvSpPr>
          <p:cNvPr id="4" name="Footer Placeholder 3"/>
          <p:cNvSpPr>
            <a:spLocks noGrp="1"/>
          </p:cNvSpPr>
          <p:nvPr>
            <p:ph type="ftr" sz="quarter" idx="2"/>
          </p:nvPr>
        </p:nvSpPr>
        <p:spPr>
          <a:xfrm>
            <a:off x="1" y="6456327"/>
            <a:ext cx="4302625" cy="340264"/>
          </a:xfrm>
          <a:prstGeom prst="rect">
            <a:avLst/>
          </a:prstGeom>
        </p:spPr>
        <p:txBody>
          <a:bodyPr vert="horz" lIns="91410" tIns="45705" rIns="91410" bIns="45705" rtlCol="0" anchor="b"/>
          <a:lstStyle>
            <a:lvl1pPr algn="l">
              <a:defRPr sz="1200"/>
            </a:lvl1pPr>
          </a:lstStyle>
          <a:p>
            <a:endParaRPr lang="en-US"/>
          </a:p>
        </p:txBody>
      </p:sp>
      <p:sp>
        <p:nvSpPr>
          <p:cNvPr id="5" name="Slide Number Placeholder 4"/>
          <p:cNvSpPr>
            <a:spLocks noGrp="1"/>
          </p:cNvSpPr>
          <p:nvPr>
            <p:ph type="sldNum" sz="quarter" idx="3"/>
          </p:nvPr>
        </p:nvSpPr>
        <p:spPr>
          <a:xfrm>
            <a:off x="5621700" y="6456327"/>
            <a:ext cx="4302625" cy="340264"/>
          </a:xfrm>
          <a:prstGeom prst="rect">
            <a:avLst/>
          </a:prstGeom>
        </p:spPr>
        <p:txBody>
          <a:bodyPr vert="horz" lIns="91410" tIns="45705" rIns="91410" bIns="45705" rtlCol="0" anchor="b"/>
          <a:lstStyle>
            <a:lvl1pPr algn="r">
              <a:defRPr sz="1200"/>
            </a:lvl1pPr>
          </a:lstStyle>
          <a:p>
            <a:fld id="{7A3C0775-FA6A-B24C-9841-4D75467923B0}" type="slidenum">
              <a:rPr lang="en-US" smtClean="0"/>
              <a:pPr/>
              <a:t>‹#›</a:t>
            </a:fld>
            <a:endParaRPr lang="en-US"/>
          </a:p>
        </p:txBody>
      </p:sp>
    </p:spTree>
    <p:extLst>
      <p:ext uri="{BB962C8B-B14F-4D97-AF65-F5344CB8AC3E}">
        <p14:creationId xmlns:p14="http://schemas.microsoft.com/office/powerpoint/2010/main" val="407200398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141" userDrawn="1">
          <p15:clr>
            <a:srgbClr val="F26B43"/>
          </p15:clr>
        </p15:guide>
        <p15:guide id="2" pos="3126"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8" y="2"/>
            <a:ext cx="4301542" cy="339884"/>
          </a:xfrm>
          <a:prstGeom prst="rect">
            <a:avLst/>
          </a:prstGeom>
          <a:noFill/>
          <a:ln w="9525">
            <a:noFill/>
            <a:miter lim="800000"/>
            <a:headEnd/>
            <a:tailEnd/>
          </a:ln>
          <a:effectLst/>
        </p:spPr>
        <p:txBody>
          <a:bodyPr vert="horz" wrap="square" lIns="91410" tIns="45705" rIns="91410" bIns="45705" numCol="1" anchor="t" anchorCtr="0" compatLnSpc="1">
            <a:prstTxWarp prst="textNoShape">
              <a:avLst/>
            </a:prstTxWarp>
          </a:bodyPr>
          <a:lstStyle>
            <a:lvl1pPr>
              <a:defRPr sz="1200">
                <a:latin typeface="Arial" pitchFamily="-105" charset="0"/>
                <a:cs typeface="+mn-cs"/>
              </a:defRPr>
            </a:lvl1pPr>
          </a:lstStyle>
          <a:p>
            <a:pPr>
              <a:defRPr/>
            </a:pPr>
            <a:endParaRPr lang="en-US"/>
          </a:p>
        </p:txBody>
      </p:sp>
      <p:sp>
        <p:nvSpPr>
          <p:cNvPr id="4099" name="Rectangle 3"/>
          <p:cNvSpPr>
            <a:spLocks noGrp="1" noChangeArrowheads="1"/>
          </p:cNvSpPr>
          <p:nvPr>
            <p:ph type="dt" idx="1"/>
          </p:nvPr>
        </p:nvSpPr>
        <p:spPr bwMode="auto">
          <a:xfrm>
            <a:off x="5622806" y="2"/>
            <a:ext cx="4301542" cy="339884"/>
          </a:xfrm>
          <a:prstGeom prst="rect">
            <a:avLst/>
          </a:prstGeom>
          <a:noFill/>
          <a:ln w="9525">
            <a:noFill/>
            <a:miter lim="800000"/>
            <a:headEnd/>
            <a:tailEnd/>
          </a:ln>
          <a:effectLst/>
        </p:spPr>
        <p:txBody>
          <a:bodyPr vert="horz" wrap="square" lIns="91410" tIns="45705" rIns="91410" bIns="45705" numCol="1" anchor="t" anchorCtr="0" compatLnSpc="1">
            <a:prstTxWarp prst="textNoShape">
              <a:avLst/>
            </a:prstTxWarp>
          </a:bodyPr>
          <a:lstStyle>
            <a:lvl1pPr algn="r">
              <a:defRPr sz="1200">
                <a:latin typeface="Arial" pitchFamily="-105" charset="0"/>
                <a:cs typeface="+mn-cs"/>
              </a:defRPr>
            </a:lvl1pPr>
          </a:lstStyle>
          <a:p>
            <a:pPr>
              <a:defRPr/>
            </a:pPr>
            <a:endParaRPr lang="en-US"/>
          </a:p>
        </p:txBody>
      </p:sp>
      <p:sp>
        <p:nvSpPr>
          <p:cNvPr id="67588" name="Rectangle 4"/>
          <p:cNvSpPr>
            <a:spLocks noGrp="1" noRot="1" noChangeAspect="1" noChangeArrowheads="1" noTextEdit="1"/>
          </p:cNvSpPr>
          <p:nvPr>
            <p:ph type="sldImg" idx="2"/>
          </p:nvPr>
        </p:nvSpPr>
        <p:spPr bwMode="auto">
          <a:xfrm>
            <a:off x="2698750" y="511175"/>
            <a:ext cx="4529138" cy="2547938"/>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4101" name="Rectangle 5"/>
          <p:cNvSpPr>
            <a:spLocks noGrp="1" noChangeArrowheads="1"/>
          </p:cNvSpPr>
          <p:nvPr>
            <p:ph type="body" sz="quarter" idx="3"/>
          </p:nvPr>
        </p:nvSpPr>
        <p:spPr bwMode="auto">
          <a:xfrm>
            <a:off x="992665" y="3228896"/>
            <a:ext cx="7941310" cy="3058954"/>
          </a:xfrm>
          <a:prstGeom prst="rect">
            <a:avLst/>
          </a:prstGeom>
          <a:noFill/>
          <a:ln w="9525">
            <a:noFill/>
            <a:miter lim="800000"/>
            <a:headEnd/>
            <a:tailEnd/>
          </a:ln>
          <a:effectLst/>
        </p:spPr>
        <p:txBody>
          <a:bodyPr vert="horz" wrap="square" lIns="91410" tIns="45705" rIns="91410" bIns="4570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8" y="6456614"/>
            <a:ext cx="4301542" cy="339884"/>
          </a:xfrm>
          <a:prstGeom prst="rect">
            <a:avLst/>
          </a:prstGeom>
          <a:noFill/>
          <a:ln w="9525">
            <a:noFill/>
            <a:miter lim="800000"/>
            <a:headEnd/>
            <a:tailEnd/>
          </a:ln>
          <a:effectLst/>
        </p:spPr>
        <p:txBody>
          <a:bodyPr vert="horz" wrap="square" lIns="91410" tIns="45705" rIns="91410" bIns="45705" numCol="1" anchor="b" anchorCtr="0" compatLnSpc="1">
            <a:prstTxWarp prst="textNoShape">
              <a:avLst/>
            </a:prstTxWarp>
          </a:bodyPr>
          <a:lstStyle>
            <a:lvl1pPr>
              <a:defRPr sz="1200">
                <a:latin typeface="Arial" pitchFamily="-105" charset="0"/>
                <a:cs typeface="+mn-cs"/>
              </a:defRPr>
            </a:lvl1pPr>
          </a:lstStyle>
          <a:p>
            <a:pPr>
              <a:defRPr/>
            </a:pPr>
            <a:endParaRPr lang="en-US"/>
          </a:p>
        </p:txBody>
      </p:sp>
      <p:sp>
        <p:nvSpPr>
          <p:cNvPr id="4103" name="Rectangle 7"/>
          <p:cNvSpPr>
            <a:spLocks noGrp="1" noChangeArrowheads="1"/>
          </p:cNvSpPr>
          <p:nvPr>
            <p:ph type="sldNum" sz="quarter" idx="5"/>
          </p:nvPr>
        </p:nvSpPr>
        <p:spPr bwMode="auto">
          <a:xfrm>
            <a:off x="5622806" y="6456614"/>
            <a:ext cx="4301542" cy="339884"/>
          </a:xfrm>
          <a:prstGeom prst="rect">
            <a:avLst/>
          </a:prstGeom>
          <a:noFill/>
          <a:ln w="9525">
            <a:noFill/>
            <a:miter lim="800000"/>
            <a:headEnd/>
            <a:tailEnd/>
          </a:ln>
          <a:effectLst/>
        </p:spPr>
        <p:txBody>
          <a:bodyPr vert="horz" wrap="square" lIns="91410" tIns="45705" rIns="91410" bIns="45705" numCol="1" anchor="b" anchorCtr="0" compatLnSpc="1">
            <a:prstTxWarp prst="textNoShape">
              <a:avLst/>
            </a:prstTxWarp>
          </a:bodyPr>
          <a:lstStyle>
            <a:lvl1pPr algn="r">
              <a:defRPr sz="1200">
                <a:latin typeface="Arial" pitchFamily="-105" charset="0"/>
                <a:cs typeface="+mn-cs"/>
              </a:defRPr>
            </a:lvl1pPr>
          </a:lstStyle>
          <a:p>
            <a:pPr>
              <a:defRPr/>
            </a:pPr>
            <a:fld id="{A170FD97-476D-4749-9E22-BFD20E65B707}" type="slidenum">
              <a:rPr lang="en-US"/>
              <a:pPr>
                <a:defRPr/>
              </a:pPr>
              <a:t>‹#›</a:t>
            </a:fld>
            <a:endParaRPr lang="en-US" dirty="0"/>
          </a:p>
        </p:txBody>
      </p:sp>
    </p:spTree>
    <p:extLst>
      <p:ext uri="{BB962C8B-B14F-4D97-AF65-F5344CB8AC3E}">
        <p14:creationId xmlns:p14="http://schemas.microsoft.com/office/powerpoint/2010/main" val="41339557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05"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105" charset="0"/>
        <a:ea typeface="ＭＳ Ｐゴシック" pitchFamily="-105" charset="-128"/>
        <a:cs typeface="+mn-cs"/>
      </a:defRPr>
    </a:lvl2pPr>
    <a:lvl3pPr marL="914400" algn="l" rtl="0" eaLnBrk="0" fontAlgn="base" hangingPunct="0">
      <a:spcBef>
        <a:spcPct val="30000"/>
      </a:spcBef>
      <a:spcAft>
        <a:spcPct val="0"/>
      </a:spcAft>
      <a:defRPr sz="1200" kern="1200">
        <a:solidFill>
          <a:schemeClr val="tx1"/>
        </a:solidFill>
        <a:latin typeface="Arial" pitchFamily="-105" charset="0"/>
        <a:ea typeface="ＭＳ Ｐゴシック" pitchFamily="-105" charset="-128"/>
        <a:cs typeface="+mn-cs"/>
      </a:defRPr>
    </a:lvl3pPr>
    <a:lvl4pPr marL="1371600" algn="l" rtl="0" eaLnBrk="0" fontAlgn="base" hangingPunct="0">
      <a:spcBef>
        <a:spcPct val="30000"/>
      </a:spcBef>
      <a:spcAft>
        <a:spcPct val="0"/>
      </a:spcAft>
      <a:defRPr sz="1200" kern="1200">
        <a:solidFill>
          <a:schemeClr val="tx1"/>
        </a:solidFill>
        <a:latin typeface="Arial" pitchFamily="-105" charset="0"/>
        <a:ea typeface="ＭＳ Ｐゴシック" pitchFamily="-105" charset="-128"/>
        <a:cs typeface="+mn-cs"/>
      </a:defRPr>
    </a:lvl4pPr>
    <a:lvl5pPr marL="1828800" algn="l" rtl="0" eaLnBrk="0" fontAlgn="base" hangingPunct="0">
      <a:spcBef>
        <a:spcPct val="30000"/>
      </a:spcBef>
      <a:spcAft>
        <a:spcPct val="0"/>
      </a:spcAft>
      <a:defRPr sz="1200" kern="1200">
        <a:solidFill>
          <a:schemeClr val="tx1"/>
        </a:solidFill>
        <a:latin typeface="Arial" pitchFamily="-105" charset="0"/>
        <a:ea typeface="ＭＳ Ｐゴシック" pitchFamily="-10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141" userDrawn="1">
          <p15:clr>
            <a:srgbClr val="F26B43"/>
          </p15:clr>
        </p15:guide>
        <p15:guide id="2" pos="312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Title Slide – External Presentation</a:t>
            </a:r>
          </a:p>
          <a:p>
            <a:r>
              <a:rPr lang="en-US" dirty="0"/>
              <a:t>Update text for your presentation</a:t>
            </a:r>
            <a:endParaRPr lang="en-GB" dirty="0"/>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170FD97-476D-4749-9E22-BFD20E65B707}" type="slidenum">
              <a:rPr kumimoji="0" lang="en-US" sz="1200" b="0" i="0" u="none" strike="noStrike" kern="1200" cap="none" spc="0" normalizeH="0" baseline="0" noProof="0" smtClean="0">
                <a:ln>
                  <a:noFill/>
                </a:ln>
                <a:solidFill>
                  <a:srgbClr val="000000"/>
                </a:solidFill>
                <a:effectLst/>
                <a:uLnTx/>
                <a:uFillTx/>
                <a:latin typeface="Arial" pitchFamily="-105"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sz="1200" b="0" i="0" u="none" strike="noStrike" kern="1200" cap="none" spc="0" normalizeH="0" baseline="0" noProof="0" dirty="0">
              <a:ln>
                <a:noFill/>
              </a:ln>
              <a:solidFill>
                <a:srgbClr val="000000"/>
              </a:solidFill>
              <a:effectLst/>
              <a:uLnTx/>
              <a:uFillTx/>
              <a:latin typeface="Arial" pitchFamily="-105" charset="0"/>
              <a:ea typeface="+mn-ea"/>
              <a:cs typeface="+mn-cs"/>
            </a:endParaRPr>
          </a:p>
        </p:txBody>
      </p:sp>
    </p:spTree>
    <p:extLst>
      <p:ext uri="{BB962C8B-B14F-4D97-AF65-F5344CB8AC3E}">
        <p14:creationId xmlns:p14="http://schemas.microsoft.com/office/powerpoint/2010/main" val="4175743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170FD97-476D-4749-9E22-BFD20E65B707}" type="slidenum">
              <a:rPr lang="en-US" smtClean="0"/>
              <a:pPr>
                <a:defRPr/>
              </a:pPr>
              <a:t>11</a:t>
            </a:fld>
            <a:endParaRPr lang="en-US" dirty="0"/>
          </a:p>
        </p:txBody>
      </p:sp>
    </p:spTree>
    <p:extLst>
      <p:ext uri="{BB962C8B-B14F-4D97-AF65-F5344CB8AC3E}">
        <p14:creationId xmlns:p14="http://schemas.microsoft.com/office/powerpoint/2010/main" val="986312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8C31F-324F-512E-EC73-B45A636E94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5A3DB-15E1-3835-B729-F56CFFD840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F021D9-57B1-645C-5041-F9844671A235}"/>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Choose one closing slide and delete the others as required.</a:t>
            </a:r>
          </a:p>
        </p:txBody>
      </p:sp>
      <p:sp>
        <p:nvSpPr>
          <p:cNvPr id="4" name="Slide Number Placeholder 3">
            <a:extLst>
              <a:ext uri="{FF2B5EF4-FFF2-40B4-BE49-F238E27FC236}">
                <a16:creationId xmlns:a16="http://schemas.microsoft.com/office/drawing/2014/main" id="{AF2A1E53-33AB-3ECB-4A53-24E71C38770D}"/>
              </a:ext>
            </a:extLst>
          </p:cNvPr>
          <p:cNvSpPr>
            <a:spLocks noGrp="1"/>
          </p:cNvSpPr>
          <p:nvPr>
            <p:ph type="sldNum" sz="quarter" idx="5"/>
          </p:nvPr>
        </p:nvSpPr>
        <p:spPr/>
        <p:txBody>
          <a:bodyPr/>
          <a:lstStyle/>
          <a:p>
            <a:pPr>
              <a:defRPr/>
            </a:pPr>
            <a:fld id="{A170FD97-476D-4749-9E22-BFD20E65B707}" type="slidenum">
              <a:rPr lang="en-US" smtClean="0"/>
              <a:pPr>
                <a:defRPr/>
              </a:pPr>
              <a:t>26</a:t>
            </a:fld>
            <a:endParaRPr lang="en-US" dirty="0"/>
          </a:p>
        </p:txBody>
      </p:sp>
    </p:spTree>
    <p:extLst>
      <p:ext uri="{BB962C8B-B14F-4D97-AF65-F5344CB8AC3E}">
        <p14:creationId xmlns:p14="http://schemas.microsoft.com/office/powerpoint/2010/main" val="41145939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ubheader">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E926421-C844-5D0F-1D6E-8EAAAD77721D}"/>
              </a:ext>
            </a:extLst>
          </p:cNvPr>
          <p:cNvSpPr>
            <a:spLocks noGrp="1"/>
          </p:cNvSpPr>
          <p:nvPr>
            <p:ph type="body" sz="quarter" idx="10"/>
          </p:nvPr>
        </p:nvSpPr>
        <p:spPr>
          <a:xfrm>
            <a:off x="335360" y="260648"/>
            <a:ext cx="11521279" cy="507831"/>
          </a:xfrm>
          <a:prstGeom prst="rect">
            <a:avLst/>
          </a:prstGeom>
        </p:spPr>
        <p:txBody>
          <a:bodyPr wrap="square" lIns="0">
            <a:spAutoFit/>
          </a:bodyPr>
          <a:lstStyle>
            <a:lvl1pPr marL="0" indent="0">
              <a:buNone/>
              <a:defRPr sz="3000" b="1">
                <a:solidFill>
                  <a:srgbClr val="EA560D"/>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5" name="Text Placeholder 24">
            <a:extLst>
              <a:ext uri="{FF2B5EF4-FFF2-40B4-BE49-F238E27FC236}">
                <a16:creationId xmlns:a16="http://schemas.microsoft.com/office/drawing/2014/main" id="{45704CC9-A005-C937-CAD3-68085734431D}"/>
              </a:ext>
            </a:extLst>
          </p:cNvPr>
          <p:cNvSpPr>
            <a:spLocks noGrp="1"/>
          </p:cNvSpPr>
          <p:nvPr>
            <p:ph type="body" sz="quarter" idx="12"/>
          </p:nvPr>
        </p:nvSpPr>
        <p:spPr>
          <a:xfrm>
            <a:off x="335359" y="891713"/>
            <a:ext cx="11521279" cy="286232"/>
          </a:xfrm>
          <a:prstGeom prst="rect">
            <a:avLst/>
          </a:prstGeom>
        </p:spPr>
        <p:txBody>
          <a:bodyPr lIns="0">
            <a:spAutoFit/>
          </a:bodyPr>
          <a:lstStyle>
            <a:lvl1pPr marL="0" indent="0">
              <a:buFont typeface="Arial" panose="020B0604020202020204" pitchFamily="34" charset="0"/>
              <a:buNone/>
              <a:defRPr sz="1400">
                <a:solidFill>
                  <a:srgbClr val="56626F"/>
                </a:solidFill>
                <a:latin typeface="Arial" panose="020B0604020202020204" pitchFamily="34" charset="0"/>
                <a:cs typeface="Arial" panose="020B0604020202020204" pitchFamily="34" charset="0"/>
              </a:defRPr>
            </a:lvl1pPr>
            <a:lvl2pPr marL="7429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2pPr>
            <a:lvl3pPr marL="12001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3pPr>
            <a:lvl4pPr marL="16573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4pPr>
            <a:lvl5pPr marL="1828800" indent="0">
              <a:buNone/>
              <a:defRPr sz="1400">
                <a:solidFill>
                  <a:srgbClr val="56626F"/>
                </a:solidFill>
                <a:latin typeface="Arial" panose="020B0604020202020204" pitchFamily="34" charset="0"/>
                <a:cs typeface="Arial" panose="020B0604020202020204" pitchFamily="34" charset="0"/>
              </a:defRPr>
            </a:lvl5pPr>
          </a:lstStyle>
          <a:p>
            <a:pPr lvl="0"/>
            <a:r>
              <a:rPr lang="en-US"/>
              <a:t>Click to edit Master text styles</a:t>
            </a:r>
          </a:p>
        </p:txBody>
      </p:sp>
      <p:pic>
        <p:nvPicPr>
          <p:cNvPr id="6" name="Graphic 5">
            <a:extLst>
              <a:ext uri="{FF2B5EF4-FFF2-40B4-BE49-F238E27FC236}">
                <a16:creationId xmlns:a16="http://schemas.microsoft.com/office/drawing/2014/main" id="{43B910D2-38E0-BDDB-16FD-74395A00860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9154316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Subheaders">
    <p:spTree>
      <p:nvGrpSpPr>
        <p:cNvPr id="1" name=""/>
        <p:cNvGrpSpPr/>
        <p:nvPr/>
      </p:nvGrpSpPr>
      <p:grpSpPr>
        <a:xfrm>
          <a:off x="0" y="0"/>
          <a:ext cx="0" cy="0"/>
          <a:chOff x="0" y="0"/>
          <a:chExt cx="0" cy="0"/>
        </a:xfrm>
      </p:grpSpPr>
      <p:sp>
        <p:nvSpPr>
          <p:cNvPr id="3" name="Text Placeholder 24">
            <a:extLst>
              <a:ext uri="{FF2B5EF4-FFF2-40B4-BE49-F238E27FC236}">
                <a16:creationId xmlns:a16="http://schemas.microsoft.com/office/drawing/2014/main" id="{BE487DA5-86A9-4057-5F9E-4DE6ECEE65EA}"/>
              </a:ext>
            </a:extLst>
          </p:cNvPr>
          <p:cNvSpPr>
            <a:spLocks noGrp="1"/>
          </p:cNvSpPr>
          <p:nvPr>
            <p:ph type="body" sz="quarter" idx="14"/>
          </p:nvPr>
        </p:nvSpPr>
        <p:spPr>
          <a:xfrm>
            <a:off x="6210927" y="891713"/>
            <a:ext cx="5645714" cy="286232"/>
          </a:xfrm>
          <a:prstGeom prst="rect">
            <a:avLst/>
          </a:prstGeom>
        </p:spPr>
        <p:txBody>
          <a:bodyPr lIns="0">
            <a:spAutoFit/>
          </a:bodyPr>
          <a:lstStyle>
            <a:lvl1pPr marL="0" indent="0">
              <a:buFont typeface="Arial" panose="020B0604020202020204" pitchFamily="34" charset="0"/>
              <a:buNone/>
              <a:defRPr sz="1400">
                <a:solidFill>
                  <a:srgbClr val="56626F"/>
                </a:solidFill>
                <a:latin typeface="Arial" panose="020B0604020202020204" pitchFamily="34" charset="0"/>
                <a:cs typeface="Arial" panose="020B0604020202020204" pitchFamily="34" charset="0"/>
              </a:defRPr>
            </a:lvl1pPr>
            <a:lvl2pPr marL="7429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2pPr>
            <a:lvl3pPr marL="12001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3pPr>
            <a:lvl4pPr marL="16573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4pPr>
            <a:lvl5pPr marL="1828800" indent="0">
              <a:buNone/>
              <a:defRPr sz="1400">
                <a:solidFill>
                  <a:srgbClr val="56626F"/>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4" name="Text Placeholder 17">
            <a:extLst>
              <a:ext uri="{FF2B5EF4-FFF2-40B4-BE49-F238E27FC236}">
                <a16:creationId xmlns:a16="http://schemas.microsoft.com/office/drawing/2014/main" id="{9951CE57-92F5-679E-7CBB-D1973BE43DF9}"/>
              </a:ext>
            </a:extLst>
          </p:cNvPr>
          <p:cNvSpPr>
            <a:spLocks noGrp="1"/>
          </p:cNvSpPr>
          <p:nvPr>
            <p:ph type="body" sz="quarter" idx="10"/>
          </p:nvPr>
        </p:nvSpPr>
        <p:spPr>
          <a:xfrm>
            <a:off x="335360" y="260648"/>
            <a:ext cx="11521279" cy="507831"/>
          </a:xfrm>
          <a:prstGeom prst="rect">
            <a:avLst/>
          </a:prstGeom>
        </p:spPr>
        <p:txBody>
          <a:bodyPr wrap="square" lIns="0">
            <a:spAutoFit/>
          </a:bodyPr>
          <a:lstStyle>
            <a:lvl1pPr marL="0" indent="0">
              <a:buNone/>
              <a:defRPr sz="3000" b="1">
                <a:solidFill>
                  <a:srgbClr val="EA560D"/>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 name="Text Placeholder 24">
            <a:extLst>
              <a:ext uri="{FF2B5EF4-FFF2-40B4-BE49-F238E27FC236}">
                <a16:creationId xmlns:a16="http://schemas.microsoft.com/office/drawing/2014/main" id="{6B23C1F2-5B6C-50C7-B2E5-AA44EA6CF41F}"/>
              </a:ext>
            </a:extLst>
          </p:cNvPr>
          <p:cNvSpPr>
            <a:spLocks noGrp="1"/>
          </p:cNvSpPr>
          <p:nvPr>
            <p:ph type="body" sz="quarter" idx="15"/>
          </p:nvPr>
        </p:nvSpPr>
        <p:spPr>
          <a:xfrm>
            <a:off x="335360" y="897755"/>
            <a:ext cx="5645714" cy="286232"/>
          </a:xfrm>
          <a:prstGeom prst="rect">
            <a:avLst/>
          </a:prstGeom>
        </p:spPr>
        <p:txBody>
          <a:bodyPr lIns="0">
            <a:spAutoFit/>
          </a:bodyPr>
          <a:lstStyle>
            <a:lvl1pPr marL="0" indent="0">
              <a:buFont typeface="Arial" panose="020B0604020202020204" pitchFamily="34" charset="0"/>
              <a:buNone/>
              <a:defRPr sz="1400">
                <a:solidFill>
                  <a:srgbClr val="56626F"/>
                </a:solidFill>
                <a:latin typeface="Arial" panose="020B0604020202020204" pitchFamily="34" charset="0"/>
                <a:cs typeface="Arial" panose="020B0604020202020204" pitchFamily="34" charset="0"/>
              </a:defRPr>
            </a:lvl1pPr>
            <a:lvl2pPr marL="7429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2pPr>
            <a:lvl3pPr marL="12001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3pPr>
            <a:lvl4pPr marL="16573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4pPr>
            <a:lvl5pPr marL="1828800" indent="0">
              <a:buNone/>
              <a:defRPr sz="1400">
                <a:solidFill>
                  <a:srgbClr val="56626F"/>
                </a:solidFill>
                <a:latin typeface="Arial" panose="020B0604020202020204" pitchFamily="34" charset="0"/>
                <a:cs typeface="Arial" panose="020B0604020202020204" pitchFamily="34" charset="0"/>
              </a:defRPr>
            </a:lvl5pPr>
          </a:lstStyle>
          <a:p>
            <a:pPr lvl="0"/>
            <a:r>
              <a:rPr lang="en-US"/>
              <a:t>Click to edit Master text styles</a:t>
            </a:r>
          </a:p>
        </p:txBody>
      </p:sp>
      <p:pic>
        <p:nvPicPr>
          <p:cNvPr id="7" name="Graphic 6">
            <a:extLst>
              <a:ext uri="{FF2B5EF4-FFF2-40B4-BE49-F238E27FC236}">
                <a16:creationId xmlns:a16="http://schemas.microsoft.com/office/drawing/2014/main" id="{E253B12F-D351-1047-AC37-8262A0AD24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9180150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Header,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82A20C1-0DB3-FBA6-D2A4-C7EADF7EF35B}"/>
              </a:ext>
            </a:extLst>
          </p:cNvPr>
          <p:cNvSpPr>
            <a:spLocks noGrp="1"/>
          </p:cNvSpPr>
          <p:nvPr>
            <p:ph type="pic" sz="quarter" idx="16"/>
          </p:nvPr>
        </p:nvSpPr>
        <p:spPr>
          <a:xfrm>
            <a:off x="6210927" y="891713"/>
            <a:ext cx="5646737" cy="5446750"/>
          </a:xfrm>
          <a:prstGeom prst="rect">
            <a:avLst/>
          </a:prstGeom>
        </p:spPr>
        <p:txBody>
          <a:bodyPr/>
          <a:lstStyle>
            <a:lvl1pPr marL="0" indent="0">
              <a:buNone/>
              <a:defRPr>
                <a:solidFill>
                  <a:srgbClr val="EA560D"/>
                </a:solidFill>
                <a:latin typeface="Arial" panose="020B0604020202020204" pitchFamily="34" charset="0"/>
                <a:cs typeface="Arial" panose="020B0604020202020204" pitchFamily="34" charset="0"/>
              </a:defRPr>
            </a:lvl1pPr>
          </a:lstStyle>
          <a:p>
            <a:r>
              <a:rPr lang="en-US"/>
              <a:t>Click icon to add picture</a:t>
            </a:r>
            <a:endParaRPr lang="en-GB" dirty="0"/>
          </a:p>
        </p:txBody>
      </p:sp>
      <p:sp>
        <p:nvSpPr>
          <p:cNvPr id="3" name="Text Placeholder 17">
            <a:extLst>
              <a:ext uri="{FF2B5EF4-FFF2-40B4-BE49-F238E27FC236}">
                <a16:creationId xmlns:a16="http://schemas.microsoft.com/office/drawing/2014/main" id="{6910920F-8847-37C8-B96F-8CD65B47F711}"/>
              </a:ext>
            </a:extLst>
          </p:cNvPr>
          <p:cNvSpPr>
            <a:spLocks noGrp="1"/>
          </p:cNvSpPr>
          <p:nvPr>
            <p:ph type="body" sz="quarter" idx="10"/>
          </p:nvPr>
        </p:nvSpPr>
        <p:spPr>
          <a:xfrm>
            <a:off x="335360" y="260648"/>
            <a:ext cx="11521279" cy="507831"/>
          </a:xfrm>
          <a:prstGeom prst="rect">
            <a:avLst/>
          </a:prstGeom>
        </p:spPr>
        <p:txBody>
          <a:bodyPr wrap="square" lIns="0">
            <a:spAutoFit/>
          </a:bodyPr>
          <a:lstStyle>
            <a:lvl1pPr marL="0" indent="0">
              <a:buNone/>
              <a:defRPr sz="3000" b="1">
                <a:solidFill>
                  <a:srgbClr val="EA560D"/>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 name="Text Placeholder 24">
            <a:extLst>
              <a:ext uri="{FF2B5EF4-FFF2-40B4-BE49-F238E27FC236}">
                <a16:creationId xmlns:a16="http://schemas.microsoft.com/office/drawing/2014/main" id="{697DD1F2-0D38-2CAD-8805-6616A7BC241A}"/>
              </a:ext>
            </a:extLst>
          </p:cNvPr>
          <p:cNvSpPr>
            <a:spLocks noGrp="1"/>
          </p:cNvSpPr>
          <p:nvPr>
            <p:ph type="body" sz="quarter" idx="15"/>
          </p:nvPr>
        </p:nvSpPr>
        <p:spPr>
          <a:xfrm>
            <a:off x="335360" y="897755"/>
            <a:ext cx="5645714" cy="286232"/>
          </a:xfrm>
          <a:prstGeom prst="rect">
            <a:avLst/>
          </a:prstGeom>
        </p:spPr>
        <p:txBody>
          <a:bodyPr lIns="0">
            <a:spAutoFit/>
          </a:bodyPr>
          <a:lstStyle>
            <a:lvl1pPr marL="0" indent="0">
              <a:buFont typeface="Arial" panose="020B0604020202020204" pitchFamily="34" charset="0"/>
              <a:buNone/>
              <a:defRPr sz="1400">
                <a:solidFill>
                  <a:srgbClr val="56626F"/>
                </a:solidFill>
                <a:latin typeface="Arial" panose="020B0604020202020204" pitchFamily="34" charset="0"/>
                <a:cs typeface="Arial" panose="020B0604020202020204" pitchFamily="34" charset="0"/>
              </a:defRPr>
            </a:lvl1pPr>
            <a:lvl2pPr marL="7429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2pPr>
            <a:lvl3pPr marL="12001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3pPr>
            <a:lvl4pPr marL="16573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4pPr>
            <a:lvl5pPr marL="1828800" indent="0">
              <a:buNone/>
              <a:defRPr sz="1400">
                <a:solidFill>
                  <a:srgbClr val="56626F"/>
                </a:solidFill>
                <a:latin typeface="Arial" panose="020B0604020202020204" pitchFamily="34" charset="0"/>
                <a:cs typeface="Arial" panose="020B0604020202020204" pitchFamily="34" charset="0"/>
              </a:defRPr>
            </a:lvl5pPr>
          </a:lstStyle>
          <a:p>
            <a:pPr lvl="0"/>
            <a:r>
              <a:rPr lang="en-US"/>
              <a:t>Click to edit Master text styles</a:t>
            </a:r>
          </a:p>
        </p:txBody>
      </p:sp>
      <p:pic>
        <p:nvPicPr>
          <p:cNvPr id="5" name="Graphic 4">
            <a:extLst>
              <a:ext uri="{FF2B5EF4-FFF2-40B4-BE49-F238E27FC236}">
                <a16:creationId xmlns:a16="http://schemas.microsoft.com/office/drawing/2014/main" id="{BA97BCA6-88E7-8E32-159B-226C8E29D2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898804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id Background">
    <p:spTree>
      <p:nvGrpSpPr>
        <p:cNvPr id="1" name=""/>
        <p:cNvGrpSpPr/>
        <p:nvPr/>
      </p:nvGrpSpPr>
      <p:grpSpPr>
        <a:xfrm>
          <a:off x="0" y="0"/>
          <a:ext cx="0" cy="0"/>
          <a:chOff x="0" y="0"/>
          <a:chExt cx="0" cy="0"/>
        </a:xfrm>
      </p:grpSpPr>
      <p:sp>
        <p:nvSpPr>
          <p:cNvPr id="3" name="Text Placeholder 17">
            <a:extLst>
              <a:ext uri="{FF2B5EF4-FFF2-40B4-BE49-F238E27FC236}">
                <a16:creationId xmlns:a16="http://schemas.microsoft.com/office/drawing/2014/main" id="{DCBA6AA3-F850-3E3E-7779-75333C0BF534}"/>
              </a:ext>
            </a:extLst>
          </p:cNvPr>
          <p:cNvSpPr>
            <a:spLocks noGrp="1"/>
          </p:cNvSpPr>
          <p:nvPr>
            <p:ph type="body" sz="quarter" idx="10"/>
          </p:nvPr>
        </p:nvSpPr>
        <p:spPr>
          <a:xfrm>
            <a:off x="335360" y="260648"/>
            <a:ext cx="11521279" cy="507831"/>
          </a:xfrm>
          <a:prstGeom prst="rect">
            <a:avLst/>
          </a:prstGeom>
        </p:spPr>
        <p:txBody>
          <a:bodyPr wrap="square" lIns="0">
            <a:spAutoFit/>
          </a:bodyPr>
          <a:lstStyle>
            <a:lvl1pPr marL="0" indent="0">
              <a:buNone/>
              <a:defRPr sz="3000" b="1">
                <a:solidFill>
                  <a:srgbClr val="EA560D"/>
                </a:solidFill>
                <a:latin typeface="Arial" panose="020B0604020202020204" pitchFamily="34" charset="0"/>
                <a:cs typeface="Arial" panose="020B0604020202020204" pitchFamily="34" charset="0"/>
              </a:defRPr>
            </a:lvl1pPr>
          </a:lstStyle>
          <a:p>
            <a:pPr lvl="0"/>
            <a:r>
              <a:rPr lang="en-US"/>
              <a:t>Click to edit Master text styles</a:t>
            </a:r>
          </a:p>
        </p:txBody>
      </p:sp>
      <p:pic>
        <p:nvPicPr>
          <p:cNvPr id="4" name="Graphic 3">
            <a:extLst>
              <a:ext uri="{FF2B5EF4-FFF2-40B4-BE49-F238E27FC236}">
                <a16:creationId xmlns:a16="http://schemas.microsoft.com/office/drawing/2014/main" id="{FD029388-B928-1758-8F2C-7F613F7E6619}"/>
              </a:ext>
            </a:extLst>
          </p:cNvPr>
          <p:cNvPicPr>
            <a:picLocks noGrp="1" noRot="1" noMove="1" noResize="1" noEditPoints="1" noAdjustHandles="1" noChangeArrowheads="1" noChangeShapeType="1" noCrop="1"/>
          </p:cNvPicPr>
          <p:nvPr userDrawn="1"/>
        </p:nvPicPr>
        <p:blipFill rotWithShape="1">
          <a:blip>
            <a:extLst>
              <a:ext uri="{96DAC541-7B7A-43D3-8B79-37D633B846F1}">
                <asvg:svgBlip xmlns:asvg="http://schemas.microsoft.com/office/drawing/2016/SVG/main" r:embed="rId2"/>
              </a:ext>
            </a:extLst>
          </a:blip>
          <a:srcRect l="59" r="-1"/>
          <a:stretch/>
        </p:blipFill>
        <p:spPr>
          <a:xfrm>
            <a:off x="0" y="0"/>
            <a:ext cx="12192000" cy="6858000"/>
          </a:xfrm>
          <a:prstGeom prst="rect">
            <a:avLst/>
          </a:prstGeom>
        </p:spPr>
      </p:pic>
      <p:pic>
        <p:nvPicPr>
          <p:cNvPr id="2" name="Graphic 1">
            <a:extLst>
              <a:ext uri="{FF2B5EF4-FFF2-40B4-BE49-F238E27FC236}">
                <a16:creationId xmlns:a16="http://schemas.microsoft.com/office/drawing/2014/main" id="{715886A1-BC6B-3893-440E-94D828BAEB1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16234191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range Heading Slide">
    <p:bg>
      <p:bgPr>
        <a:solidFill>
          <a:schemeClr val="accent1"/>
        </a:solidFill>
        <a:effectLst/>
      </p:bgPr>
    </p:bg>
    <p:spTree>
      <p:nvGrpSpPr>
        <p:cNvPr id="1" name=""/>
        <p:cNvGrpSpPr/>
        <p:nvPr/>
      </p:nvGrpSpPr>
      <p:grpSpPr>
        <a:xfrm>
          <a:off x="0" y="0"/>
          <a:ext cx="0" cy="0"/>
          <a:chOff x="0" y="0"/>
          <a:chExt cx="0" cy="0"/>
        </a:xfrm>
      </p:grpSpPr>
      <p:sp>
        <p:nvSpPr>
          <p:cNvPr id="2" name="Footer Placeholder 1"/>
          <p:cNvSpPr txBox="1">
            <a:spLocks/>
          </p:cNvSpPr>
          <p:nvPr userDrawn="1"/>
        </p:nvSpPr>
        <p:spPr>
          <a:xfrm>
            <a:off x="239349" y="6377044"/>
            <a:ext cx="12192000" cy="360363"/>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1pPr>
            <a:lvl2pPr marL="742950" indent="-28575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2pPr>
            <a:lvl3pPr marL="11430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3pPr>
            <a:lvl4pPr marL="16002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4pPr>
            <a:lvl5pPr marL="20574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5pPr>
            <a:lvl6pPr marL="25146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6pPr>
            <a:lvl7pPr marL="29718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7pPr>
            <a:lvl8pPr marL="34290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8pPr>
            <a:lvl9pPr marL="38862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9pPr>
          </a:lstStyle>
          <a:p>
            <a:pPr eaLnBrk="1" hangingPunct="1"/>
            <a:r>
              <a:rPr lang="en-GB" sz="1600" b="0" i="0" dirty="0">
                <a:solidFill>
                  <a:srgbClr val="404040"/>
                </a:solidFill>
                <a:latin typeface="New Rail Alphabet Light" panose="02000503060000020004" pitchFamily="2" charset="0"/>
                <a:cs typeface="New Rail Alphabet Medium"/>
              </a:rPr>
              <a:t>  </a:t>
            </a:r>
            <a:endParaRPr lang="en-US" sz="1200" b="0" i="0" dirty="0">
              <a:solidFill>
                <a:srgbClr val="404040"/>
              </a:solidFill>
              <a:latin typeface="New Rail Alphabet Light" panose="02000503060000020004" pitchFamily="2" charset="0"/>
              <a:cs typeface="New Rail Alphabet Medium"/>
            </a:endParaRPr>
          </a:p>
        </p:txBody>
      </p:sp>
      <p:sp>
        <p:nvSpPr>
          <p:cNvPr id="6" name="Text Placeholder 5">
            <a:extLst>
              <a:ext uri="{FF2B5EF4-FFF2-40B4-BE49-F238E27FC236}">
                <a16:creationId xmlns:a16="http://schemas.microsoft.com/office/drawing/2014/main" id="{82C6E837-653F-4A6E-AD33-ECACE4E3663F}"/>
              </a:ext>
            </a:extLst>
          </p:cNvPr>
          <p:cNvSpPr>
            <a:spLocks noGrp="1"/>
          </p:cNvSpPr>
          <p:nvPr>
            <p:ph type="body" sz="quarter" idx="10" hasCustomPrompt="1"/>
          </p:nvPr>
        </p:nvSpPr>
        <p:spPr>
          <a:xfrm>
            <a:off x="9821" y="3087340"/>
            <a:ext cx="12182179" cy="683320"/>
          </a:xfrm>
          <a:prstGeom prst="rect">
            <a:avLst/>
          </a:prstGeom>
        </p:spPr>
        <p:txBody>
          <a:bodyPr anchor="ctr"/>
          <a:lstStyle>
            <a:lvl1pPr algn="ctr">
              <a:buNone/>
              <a:defRPr sz="7200" b="1">
                <a:solidFill>
                  <a:schemeClr val="bg1"/>
                </a:solidFill>
              </a:defRPr>
            </a:lvl1pPr>
          </a:lstStyle>
          <a:p>
            <a:pPr lvl="0"/>
            <a:r>
              <a:rPr lang="en-GB" dirty="0"/>
              <a:t>Break title slide</a:t>
            </a:r>
          </a:p>
        </p:txBody>
      </p:sp>
      <p:pic>
        <p:nvPicPr>
          <p:cNvPr id="3" name="Picture 2" descr="A black and white background with white triangles&#10;&#10;Description automatically generated">
            <a:extLst>
              <a:ext uri="{FF2B5EF4-FFF2-40B4-BE49-F238E27FC236}">
                <a16:creationId xmlns:a16="http://schemas.microsoft.com/office/drawing/2014/main" id="{2D343E53-A79D-4B39-E874-5B760DB9E297}"/>
              </a:ext>
            </a:extLst>
          </p:cNvPr>
          <p:cNvPicPr>
            <a:picLocks noChangeAspect="1"/>
          </p:cNvPicPr>
          <p:nvPr userDrawn="1"/>
        </p:nvPicPr>
        <p:blipFill rotWithShape="1">
          <a:blip r:embed="rId2" cstate="print">
            <a:alphaModFix amt="10000"/>
            <a:extLst>
              <a:ext uri="{28A0092B-C50C-407E-A947-70E740481C1C}">
                <a14:useLocalDpi xmlns:a14="http://schemas.microsoft.com/office/drawing/2010/main"/>
              </a:ext>
            </a:extLst>
          </a:blip>
          <a:srcRect/>
          <a:stretch/>
        </p:blipFill>
        <p:spPr>
          <a:xfrm>
            <a:off x="0" y="4869160"/>
            <a:ext cx="12192000" cy="1988771"/>
          </a:xfrm>
          <a:prstGeom prst="rect">
            <a:avLst/>
          </a:prstGeom>
        </p:spPr>
      </p:pic>
    </p:spTree>
    <p:extLst>
      <p:ext uri="{BB962C8B-B14F-4D97-AF65-F5344CB8AC3E}">
        <p14:creationId xmlns:p14="http://schemas.microsoft.com/office/powerpoint/2010/main" val="32589304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3931">
          <p15:clr>
            <a:srgbClr val="FBAE40"/>
          </p15:clr>
        </p15:guide>
        <p15:guide id="4" pos="374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ject Image Break Page, Gradient (for dark pictures)">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5C3B526-7CB3-F700-499B-7A7231AAE952}"/>
              </a:ext>
            </a:extLst>
          </p:cNvPr>
          <p:cNvSpPr>
            <a:spLocks noGrp="1"/>
          </p:cNvSpPr>
          <p:nvPr>
            <p:ph type="pic" sz="quarter" idx="10"/>
          </p:nvPr>
        </p:nvSpPr>
        <p:spPr>
          <a:xfrm>
            <a:off x="0" y="0"/>
            <a:ext cx="12192000" cy="6858001"/>
          </a:xfrm>
          <a:prstGeom prst="rect">
            <a:avLst/>
          </a:prstGeom>
          <a:solidFill>
            <a:schemeClr val="tx1">
              <a:lumMod val="20000"/>
              <a:lumOff val="80000"/>
            </a:schemeClr>
          </a:solidFill>
        </p:spPr>
        <p:txBody>
          <a:bodyPr/>
          <a:lstStyle>
            <a:lvl1pPr marL="0" indent="0" algn="ctr">
              <a:buNone/>
              <a:defRPr sz="2800"/>
            </a:lvl1pPr>
          </a:lstStyle>
          <a:p>
            <a:r>
              <a:rPr lang="en-US"/>
              <a:t>Click icon to add picture</a:t>
            </a:r>
            <a:endParaRPr lang="en-GB" dirty="0"/>
          </a:p>
        </p:txBody>
      </p:sp>
      <p:sp>
        <p:nvSpPr>
          <p:cNvPr id="10" name="Text Placeholder 8">
            <a:extLst>
              <a:ext uri="{FF2B5EF4-FFF2-40B4-BE49-F238E27FC236}">
                <a16:creationId xmlns:a16="http://schemas.microsoft.com/office/drawing/2014/main" id="{2BEC6CEB-A982-333B-4F87-74AE104E72AD}"/>
              </a:ext>
            </a:extLst>
          </p:cNvPr>
          <p:cNvSpPr>
            <a:spLocks noGrp="1"/>
          </p:cNvSpPr>
          <p:nvPr>
            <p:ph type="body" sz="quarter" idx="12" hasCustomPrompt="1"/>
          </p:nvPr>
        </p:nvSpPr>
        <p:spPr>
          <a:xfrm>
            <a:off x="6205388" y="6453336"/>
            <a:ext cx="5761038" cy="307975"/>
          </a:xfrm>
          <a:prstGeom prst="rect">
            <a:avLst/>
          </a:prstGeom>
        </p:spPr>
        <p:txBody>
          <a:bodyPr/>
          <a:lstStyle>
            <a:lvl1pPr marL="0" indent="0" algn="r">
              <a:buNone/>
              <a:defRPr sz="1400" b="1">
                <a:solidFill>
                  <a:schemeClr val="bg1"/>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Project Name, City | Architect</a:t>
            </a:r>
            <a:endParaRPr lang="en-GB" dirty="0"/>
          </a:p>
        </p:txBody>
      </p:sp>
      <p:sp>
        <p:nvSpPr>
          <p:cNvPr id="9" name="Text Placeholder 8">
            <a:extLst>
              <a:ext uri="{FF2B5EF4-FFF2-40B4-BE49-F238E27FC236}">
                <a16:creationId xmlns:a16="http://schemas.microsoft.com/office/drawing/2014/main" id="{9CD42D8D-FB99-DA96-3CBB-B0B97EAFCC5E}"/>
              </a:ext>
            </a:extLst>
          </p:cNvPr>
          <p:cNvSpPr>
            <a:spLocks noGrp="1"/>
          </p:cNvSpPr>
          <p:nvPr>
            <p:ph type="body" sz="quarter" idx="11" hasCustomPrompt="1"/>
          </p:nvPr>
        </p:nvSpPr>
        <p:spPr>
          <a:xfrm>
            <a:off x="6205388" y="6211026"/>
            <a:ext cx="5761038" cy="307975"/>
          </a:xfrm>
          <a:prstGeom prst="rect">
            <a:avLst/>
          </a:prstGeom>
        </p:spPr>
        <p:txBody>
          <a:bodyPr/>
          <a:lstStyle>
            <a:lvl1pPr marL="0" indent="0" algn="r">
              <a:buNone/>
              <a:defRPr sz="1400" b="0">
                <a:solidFill>
                  <a:srgbClr val="EA560D"/>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Year Awards ─ Award</a:t>
            </a:r>
            <a:endParaRPr lang="en-GB" dirty="0"/>
          </a:p>
        </p:txBody>
      </p:sp>
      <p:pic>
        <p:nvPicPr>
          <p:cNvPr id="3" name="Graphic 2">
            <a:extLst>
              <a:ext uri="{FF2B5EF4-FFF2-40B4-BE49-F238E27FC236}">
                <a16:creationId xmlns:a16="http://schemas.microsoft.com/office/drawing/2014/main" id="{74758648-C0D1-5D2B-B34D-E3D1DB5237A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361" y="6338001"/>
            <a:ext cx="1008000" cy="343990"/>
          </a:xfrm>
          <a:prstGeom prst="rect">
            <a:avLst/>
          </a:prstGeom>
        </p:spPr>
      </p:pic>
    </p:spTree>
    <p:extLst>
      <p:ext uri="{BB962C8B-B14F-4D97-AF65-F5344CB8AC3E}">
        <p14:creationId xmlns:p14="http://schemas.microsoft.com/office/powerpoint/2010/main" val="14831418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roject Image Break Page (for lighter pictures)">
    <p:spTree>
      <p:nvGrpSpPr>
        <p:cNvPr id="1" name=""/>
        <p:cNvGrpSpPr/>
        <p:nvPr/>
      </p:nvGrpSpPr>
      <p:grpSpPr>
        <a:xfrm>
          <a:off x="0" y="0"/>
          <a:ext cx="0" cy="0"/>
          <a:chOff x="0" y="0"/>
          <a:chExt cx="0" cy="0"/>
        </a:xfrm>
      </p:grpSpPr>
      <p:sp>
        <p:nvSpPr>
          <p:cNvPr id="9" name="Picture Placeholder 6">
            <a:extLst>
              <a:ext uri="{FF2B5EF4-FFF2-40B4-BE49-F238E27FC236}">
                <a16:creationId xmlns:a16="http://schemas.microsoft.com/office/drawing/2014/main" id="{634C4703-DB80-F3DD-AAB1-F99A5CF2722B}"/>
              </a:ext>
            </a:extLst>
          </p:cNvPr>
          <p:cNvSpPr>
            <a:spLocks noGrp="1"/>
          </p:cNvSpPr>
          <p:nvPr>
            <p:ph type="pic" sz="quarter" idx="10"/>
          </p:nvPr>
        </p:nvSpPr>
        <p:spPr>
          <a:xfrm>
            <a:off x="0" y="0"/>
            <a:ext cx="12192000" cy="6858001"/>
          </a:xfrm>
          <a:prstGeom prst="rect">
            <a:avLst/>
          </a:prstGeom>
        </p:spPr>
        <p:txBody>
          <a:bodyPr/>
          <a:lstStyle>
            <a:lvl1pPr marL="0" indent="0" algn="ctr">
              <a:buNone/>
              <a:defRPr sz="2800"/>
            </a:lvl1pPr>
          </a:lstStyle>
          <a:p>
            <a:r>
              <a:rPr lang="en-US"/>
              <a:t>Click icon to add picture</a:t>
            </a:r>
            <a:endParaRPr lang="en-GB" dirty="0"/>
          </a:p>
        </p:txBody>
      </p:sp>
      <p:sp>
        <p:nvSpPr>
          <p:cNvPr id="5" name="Text Placeholder 8">
            <a:extLst>
              <a:ext uri="{FF2B5EF4-FFF2-40B4-BE49-F238E27FC236}">
                <a16:creationId xmlns:a16="http://schemas.microsoft.com/office/drawing/2014/main" id="{0548A413-862B-0A55-10A6-E6DB78C39DED}"/>
              </a:ext>
            </a:extLst>
          </p:cNvPr>
          <p:cNvSpPr>
            <a:spLocks noGrp="1"/>
          </p:cNvSpPr>
          <p:nvPr>
            <p:ph type="body" sz="quarter" idx="12" hasCustomPrompt="1"/>
          </p:nvPr>
        </p:nvSpPr>
        <p:spPr>
          <a:xfrm>
            <a:off x="6205388" y="6453336"/>
            <a:ext cx="5761038" cy="307975"/>
          </a:xfrm>
          <a:prstGeom prst="rect">
            <a:avLst/>
          </a:prstGeom>
        </p:spPr>
        <p:txBody>
          <a:bodyPr/>
          <a:lstStyle>
            <a:lvl1pPr marL="0" indent="0" algn="r">
              <a:buNone/>
              <a:defRPr sz="1400" b="1">
                <a:solidFill>
                  <a:srgbClr val="56626F"/>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Project Name, City | Architect</a:t>
            </a:r>
            <a:endParaRPr lang="en-GB" dirty="0"/>
          </a:p>
        </p:txBody>
      </p:sp>
      <p:sp>
        <p:nvSpPr>
          <p:cNvPr id="6" name="Text Placeholder 8">
            <a:extLst>
              <a:ext uri="{FF2B5EF4-FFF2-40B4-BE49-F238E27FC236}">
                <a16:creationId xmlns:a16="http://schemas.microsoft.com/office/drawing/2014/main" id="{088C26DB-2167-18AA-6C53-47D8A8060D2C}"/>
              </a:ext>
            </a:extLst>
          </p:cNvPr>
          <p:cNvSpPr>
            <a:spLocks noGrp="1"/>
          </p:cNvSpPr>
          <p:nvPr>
            <p:ph type="body" sz="quarter" idx="11" hasCustomPrompt="1"/>
          </p:nvPr>
        </p:nvSpPr>
        <p:spPr>
          <a:xfrm>
            <a:off x="6205388" y="6211026"/>
            <a:ext cx="5761038" cy="307975"/>
          </a:xfrm>
          <a:prstGeom prst="rect">
            <a:avLst/>
          </a:prstGeom>
        </p:spPr>
        <p:txBody>
          <a:bodyPr/>
          <a:lstStyle>
            <a:lvl1pPr marL="0" indent="0" algn="r">
              <a:buNone/>
              <a:defRPr sz="1400" b="1">
                <a:solidFill>
                  <a:srgbClr val="EA560D"/>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Year Awards ─ Award</a:t>
            </a:r>
            <a:endParaRPr lang="en-GB" dirty="0"/>
          </a:p>
        </p:txBody>
      </p:sp>
      <p:pic>
        <p:nvPicPr>
          <p:cNvPr id="2" name="Graphic 1">
            <a:extLst>
              <a:ext uri="{FF2B5EF4-FFF2-40B4-BE49-F238E27FC236}">
                <a16:creationId xmlns:a16="http://schemas.microsoft.com/office/drawing/2014/main" id="{45E1CF08-8D7E-0ED3-6CAB-C544155475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13802534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oject Image Break Page Dark Background">
    <p:bg>
      <p:bgPr>
        <a:solidFill>
          <a:schemeClr val="tx2"/>
        </a:solidFill>
        <a:effectLst/>
      </p:bgPr>
    </p:bg>
    <p:spTree>
      <p:nvGrpSpPr>
        <p:cNvPr id="1" name=""/>
        <p:cNvGrpSpPr/>
        <p:nvPr/>
      </p:nvGrpSpPr>
      <p:grpSpPr>
        <a:xfrm>
          <a:off x="0" y="0"/>
          <a:ext cx="0" cy="0"/>
          <a:chOff x="0" y="0"/>
          <a:chExt cx="0" cy="0"/>
        </a:xfrm>
      </p:grpSpPr>
      <p:sp>
        <p:nvSpPr>
          <p:cNvPr id="9" name="Picture Placeholder 6">
            <a:extLst>
              <a:ext uri="{FF2B5EF4-FFF2-40B4-BE49-F238E27FC236}">
                <a16:creationId xmlns:a16="http://schemas.microsoft.com/office/drawing/2014/main" id="{634C4703-DB80-F3DD-AAB1-F99A5CF2722B}"/>
              </a:ext>
            </a:extLst>
          </p:cNvPr>
          <p:cNvSpPr>
            <a:spLocks noGrp="1"/>
          </p:cNvSpPr>
          <p:nvPr>
            <p:ph type="pic" sz="quarter" idx="10"/>
          </p:nvPr>
        </p:nvSpPr>
        <p:spPr>
          <a:xfrm>
            <a:off x="335361" y="338999"/>
            <a:ext cx="11521279" cy="5754297"/>
          </a:xfrm>
          <a:prstGeom prst="rect">
            <a:avLst/>
          </a:prstGeom>
          <a:noFill/>
        </p:spPr>
        <p:txBody>
          <a:bodyPr/>
          <a:lstStyle>
            <a:lvl1pPr marL="0" indent="0" algn="ctr">
              <a:buNone/>
              <a:defRPr sz="2800">
                <a:solidFill>
                  <a:schemeClr val="bg1"/>
                </a:solidFill>
              </a:defRPr>
            </a:lvl1pPr>
          </a:lstStyle>
          <a:p>
            <a:r>
              <a:rPr lang="en-US"/>
              <a:t>Click icon to add picture</a:t>
            </a:r>
            <a:endParaRPr lang="en-GB" dirty="0"/>
          </a:p>
        </p:txBody>
      </p:sp>
      <p:sp>
        <p:nvSpPr>
          <p:cNvPr id="5" name="Text Placeholder 8">
            <a:extLst>
              <a:ext uri="{FF2B5EF4-FFF2-40B4-BE49-F238E27FC236}">
                <a16:creationId xmlns:a16="http://schemas.microsoft.com/office/drawing/2014/main" id="{0548A413-862B-0A55-10A6-E6DB78C39DED}"/>
              </a:ext>
            </a:extLst>
          </p:cNvPr>
          <p:cNvSpPr>
            <a:spLocks noGrp="1"/>
          </p:cNvSpPr>
          <p:nvPr>
            <p:ph type="body" sz="quarter" idx="12" hasCustomPrompt="1"/>
          </p:nvPr>
        </p:nvSpPr>
        <p:spPr>
          <a:xfrm>
            <a:off x="6095601" y="6453336"/>
            <a:ext cx="5761038" cy="307975"/>
          </a:xfrm>
          <a:prstGeom prst="rect">
            <a:avLst/>
          </a:prstGeom>
        </p:spPr>
        <p:txBody>
          <a:bodyPr/>
          <a:lstStyle>
            <a:lvl1pPr marL="0" indent="0" algn="r">
              <a:buNone/>
              <a:defRPr sz="1400" b="1">
                <a:solidFill>
                  <a:schemeClr val="bg1"/>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Project Name, City | Architect</a:t>
            </a:r>
            <a:endParaRPr lang="en-GB" dirty="0"/>
          </a:p>
        </p:txBody>
      </p:sp>
      <p:sp>
        <p:nvSpPr>
          <p:cNvPr id="6" name="Text Placeholder 8">
            <a:extLst>
              <a:ext uri="{FF2B5EF4-FFF2-40B4-BE49-F238E27FC236}">
                <a16:creationId xmlns:a16="http://schemas.microsoft.com/office/drawing/2014/main" id="{088C26DB-2167-18AA-6C53-47D8A8060D2C}"/>
              </a:ext>
            </a:extLst>
          </p:cNvPr>
          <p:cNvSpPr>
            <a:spLocks noGrp="1"/>
          </p:cNvSpPr>
          <p:nvPr>
            <p:ph type="body" sz="quarter" idx="11" hasCustomPrompt="1"/>
          </p:nvPr>
        </p:nvSpPr>
        <p:spPr>
          <a:xfrm>
            <a:off x="6095601" y="6211026"/>
            <a:ext cx="5761038" cy="307975"/>
          </a:xfrm>
          <a:prstGeom prst="rect">
            <a:avLst/>
          </a:prstGeom>
        </p:spPr>
        <p:txBody>
          <a:bodyPr/>
          <a:lstStyle>
            <a:lvl1pPr marL="0" indent="0" algn="r">
              <a:buNone/>
              <a:defRPr sz="1400" b="1">
                <a:solidFill>
                  <a:srgbClr val="EA560D"/>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Year Awards ─ Award</a:t>
            </a:r>
            <a:endParaRPr lang="en-GB" dirty="0"/>
          </a:p>
        </p:txBody>
      </p:sp>
      <p:pic>
        <p:nvPicPr>
          <p:cNvPr id="2" name="Graphic 1">
            <a:extLst>
              <a:ext uri="{FF2B5EF4-FFF2-40B4-BE49-F238E27FC236}">
                <a16:creationId xmlns:a16="http://schemas.microsoft.com/office/drawing/2014/main" id="{9714B586-05D0-61EC-FE8D-B81547A223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361" y="6338001"/>
            <a:ext cx="1008000" cy="343990"/>
          </a:xfrm>
          <a:prstGeom prst="rect">
            <a:avLst/>
          </a:prstGeom>
        </p:spPr>
      </p:pic>
    </p:spTree>
    <p:extLst>
      <p:ext uri="{BB962C8B-B14F-4D97-AF65-F5344CB8AC3E}">
        <p14:creationId xmlns:p14="http://schemas.microsoft.com/office/powerpoint/2010/main" val="20665964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roject Page 1 Top Left Heading">
    <p:bg>
      <p:bgPr>
        <a:solidFill>
          <a:schemeClr val="bg1"/>
        </a:solidFill>
        <a:effectLst/>
      </p:bgPr>
    </p:bg>
    <p:spTree>
      <p:nvGrpSpPr>
        <p:cNvPr id="1" name=""/>
        <p:cNvGrpSpPr/>
        <p:nvPr/>
      </p:nvGrpSpPr>
      <p:grpSpPr>
        <a:xfrm>
          <a:off x="0" y="0"/>
          <a:ext cx="0" cy="0"/>
          <a:chOff x="0" y="0"/>
          <a:chExt cx="0" cy="0"/>
        </a:xfrm>
      </p:grpSpPr>
      <p:sp>
        <p:nvSpPr>
          <p:cNvPr id="43" name="Picture Placeholder 22">
            <a:extLst>
              <a:ext uri="{FF2B5EF4-FFF2-40B4-BE49-F238E27FC236}">
                <a16:creationId xmlns:a16="http://schemas.microsoft.com/office/drawing/2014/main" id="{D6A0C7F8-16F8-C919-DBB3-ADA6317976D2}"/>
              </a:ext>
            </a:extLst>
          </p:cNvPr>
          <p:cNvSpPr>
            <a:spLocks noGrp="1"/>
          </p:cNvSpPr>
          <p:nvPr>
            <p:ph type="pic" sz="quarter" idx="10" hasCustomPrompt="1"/>
          </p:nvPr>
        </p:nvSpPr>
        <p:spPr>
          <a:xfrm>
            <a:off x="8120742" y="0"/>
            <a:ext cx="4071258" cy="2414865"/>
          </a:xfrm>
          <a:prstGeom prst="rect">
            <a:avLst/>
          </a:prstGeom>
        </p:spPr>
        <p:txBody>
          <a:bodyPr/>
          <a:lstStyle>
            <a:lvl1pPr marL="0" indent="0" algn="ctr">
              <a:buFontTx/>
              <a:buNone/>
              <a:defRPr sz="900">
                <a:solidFill>
                  <a:srgbClr val="56626F"/>
                </a:solidFill>
              </a:defRPr>
            </a:lvl1pPr>
          </a:lstStyle>
          <a:p>
            <a:r>
              <a:rPr lang="en-GB" dirty="0"/>
              <a:t>Insert Picture Here</a:t>
            </a:r>
          </a:p>
        </p:txBody>
      </p:sp>
      <p:sp>
        <p:nvSpPr>
          <p:cNvPr id="4" name="Picture Placeholder 22">
            <a:extLst>
              <a:ext uri="{FF2B5EF4-FFF2-40B4-BE49-F238E27FC236}">
                <a16:creationId xmlns:a16="http://schemas.microsoft.com/office/drawing/2014/main" id="{60DB3189-BE8F-9DA4-C1CF-1C55CA8E4999}"/>
              </a:ext>
            </a:extLst>
          </p:cNvPr>
          <p:cNvSpPr>
            <a:spLocks noGrp="1"/>
          </p:cNvSpPr>
          <p:nvPr>
            <p:ph type="pic" sz="quarter" idx="25" hasCustomPrompt="1"/>
          </p:nvPr>
        </p:nvSpPr>
        <p:spPr>
          <a:xfrm>
            <a:off x="8120742" y="2452084"/>
            <a:ext cx="4071258" cy="4405916"/>
          </a:xfrm>
          <a:prstGeom prst="rect">
            <a:avLst/>
          </a:prstGeom>
        </p:spPr>
        <p:txBody>
          <a:bodyPr/>
          <a:lstStyle>
            <a:lvl1pPr marL="0" indent="0" algn="ctr">
              <a:buFontTx/>
              <a:buNone/>
              <a:defRPr sz="900">
                <a:solidFill>
                  <a:srgbClr val="56626F"/>
                </a:solidFill>
              </a:defRPr>
            </a:lvl1pPr>
          </a:lstStyle>
          <a:p>
            <a:r>
              <a:rPr lang="en-GB" dirty="0"/>
              <a:t>Insert Picture Here</a:t>
            </a:r>
          </a:p>
        </p:txBody>
      </p:sp>
      <p:sp>
        <p:nvSpPr>
          <p:cNvPr id="47" name="Picture Placeholder 22">
            <a:extLst>
              <a:ext uri="{FF2B5EF4-FFF2-40B4-BE49-F238E27FC236}">
                <a16:creationId xmlns:a16="http://schemas.microsoft.com/office/drawing/2014/main" id="{5FFE036B-404F-0DAC-64E6-90FF581565D9}"/>
              </a:ext>
            </a:extLst>
          </p:cNvPr>
          <p:cNvSpPr>
            <a:spLocks noGrp="1"/>
          </p:cNvSpPr>
          <p:nvPr>
            <p:ph type="pic" sz="quarter" idx="22" hasCustomPrompt="1"/>
          </p:nvPr>
        </p:nvSpPr>
        <p:spPr>
          <a:xfrm>
            <a:off x="335696" y="2549287"/>
            <a:ext cx="3789953" cy="3654582"/>
          </a:xfrm>
          <a:prstGeom prst="rect">
            <a:avLst/>
          </a:prstGeom>
        </p:spPr>
        <p:txBody>
          <a:bodyPr/>
          <a:lstStyle>
            <a:lvl1pPr marL="0" indent="0" algn="ctr">
              <a:buFontTx/>
              <a:buNone/>
              <a:defRPr sz="900">
                <a:solidFill>
                  <a:srgbClr val="56626F"/>
                </a:solidFill>
              </a:defRPr>
            </a:lvl1pPr>
          </a:lstStyle>
          <a:p>
            <a:r>
              <a:rPr lang="en-US" dirty="0"/>
              <a:t>Insert Project Photography Here</a:t>
            </a:r>
            <a:endParaRPr lang="en-GB" dirty="0"/>
          </a:p>
        </p:txBody>
      </p:sp>
      <p:sp>
        <p:nvSpPr>
          <p:cNvPr id="7" name="Rectangle: Single Corner Snipped 6">
            <a:extLst>
              <a:ext uri="{FF2B5EF4-FFF2-40B4-BE49-F238E27FC236}">
                <a16:creationId xmlns:a16="http://schemas.microsoft.com/office/drawing/2014/main" id="{F6BD2082-5EF8-F35E-5E15-933B919C2257}"/>
              </a:ext>
            </a:extLst>
          </p:cNvPr>
          <p:cNvSpPr/>
          <p:nvPr/>
        </p:nvSpPr>
        <p:spPr>
          <a:xfrm flipV="1">
            <a:off x="335696" y="215422"/>
            <a:ext cx="3829878" cy="2133458"/>
          </a:xfrm>
          <a:prstGeom prst="snip1Rect">
            <a:avLst/>
          </a:prstGeom>
          <a:solidFill>
            <a:srgbClr val="56626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6" name="Text Placeholder 12">
            <a:extLst>
              <a:ext uri="{FF2B5EF4-FFF2-40B4-BE49-F238E27FC236}">
                <a16:creationId xmlns:a16="http://schemas.microsoft.com/office/drawing/2014/main" id="{4FFD9C8B-A586-B03F-4946-2C109BDA8913}"/>
              </a:ext>
            </a:extLst>
          </p:cNvPr>
          <p:cNvSpPr>
            <a:spLocks noGrp="1"/>
          </p:cNvSpPr>
          <p:nvPr>
            <p:ph type="body" sz="quarter" idx="14" hasCustomPrompt="1"/>
          </p:nvPr>
        </p:nvSpPr>
        <p:spPr>
          <a:xfrm>
            <a:off x="479376" y="381944"/>
            <a:ext cx="3328788" cy="272187"/>
          </a:xfrm>
          <a:prstGeom prst="rect">
            <a:avLst/>
          </a:prstGeom>
        </p:spPr>
        <p:txBody>
          <a:bodyPr lIns="0" tIns="0" rIns="0" bIns="0"/>
          <a:lstStyle>
            <a:lvl1pPr marL="0" indent="0">
              <a:buNone/>
              <a:defRPr sz="1600" b="1">
                <a:solidFill>
                  <a:schemeClr val="bg1"/>
                </a:solidFill>
              </a:defRPr>
            </a:lvl1pPr>
          </a:lstStyle>
          <a:p>
            <a:pPr lvl="0"/>
            <a:r>
              <a:rPr lang="en-GB" dirty="0"/>
              <a:t>Insert Project Name Here</a:t>
            </a:r>
          </a:p>
          <a:p>
            <a:pPr lvl="0"/>
            <a:endParaRPr lang="en-GB" dirty="0"/>
          </a:p>
        </p:txBody>
      </p:sp>
      <p:sp>
        <p:nvSpPr>
          <p:cNvPr id="29" name="Text Placeholder 1">
            <a:extLst>
              <a:ext uri="{FF2B5EF4-FFF2-40B4-BE49-F238E27FC236}">
                <a16:creationId xmlns:a16="http://schemas.microsoft.com/office/drawing/2014/main" id="{35FFFC0C-9ED1-515C-4691-762B9C629F4B}"/>
              </a:ext>
            </a:extLst>
          </p:cNvPr>
          <p:cNvSpPr txBox="1">
            <a:spLocks/>
          </p:cNvSpPr>
          <p:nvPr userDrawn="1"/>
        </p:nvSpPr>
        <p:spPr>
          <a:xfrm>
            <a:off x="473988" y="713311"/>
            <a:ext cx="655106" cy="138882"/>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Location: </a:t>
            </a:r>
          </a:p>
          <a:p>
            <a:pPr marL="0" indent="0">
              <a:buNone/>
            </a:pPr>
            <a:endParaRPr lang="en-US" sz="1000" b="1" kern="0" dirty="0">
              <a:solidFill>
                <a:schemeClr val="bg1"/>
              </a:solidFill>
            </a:endParaRPr>
          </a:p>
        </p:txBody>
      </p:sp>
      <p:sp>
        <p:nvSpPr>
          <p:cNvPr id="30" name="Text Placeholder 1">
            <a:extLst>
              <a:ext uri="{FF2B5EF4-FFF2-40B4-BE49-F238E27FC236}">
                <a16:creationId xmlns:a16="http://schemas.microsoft.com/office/drawing/2014/main" id="{E541FF32-54CD-B202-B065-F82EE8D9D9E9}"/>
              </a:ext>
            </a:extLst>
          </p:cNvPr>
          <p:cNvSpPr txBox="1">
            <a:spLocks/>
          </p:cNvSpPr>
          <p:nvPr userDrawn="1"/>
        </p:nvSpPr>
        <p:spPr>
          <a:xfrm>
            <a:off x="473988" y="922444"/>
            <a:ext cx="448358" cy="145376"/>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Client:</a:t>
            </a:r>
          </a:p>
          <a:p>
            <a:pPr marL="0" indent="0">
              <a:buNone/>
            </a:pPr>
            <a:endParaRPr lang="en-US" sz="1000" b="1" kern="0" dirty="0">
              <a:solidFill>
                <a:schemeClr val="bg1"/>
              </a:solidFill>
            </a:endParaRPr>
          </a:p>
        </p:txBody>
      </p:sp>
      <p:sp>
        <p:nvSpPr>
          <p:cNvPr id="31" name="Text Placeholder 1">
            <a:extLst>
              <a:ext uri="{FF2B5EF4-FFF2-40B4-BE49-F238E27FC236}">
                <a16:creationId xmlns:a16="http://schemas.microsoft.com/office/drawing/2014/main" id="{EB0608D3-EA7E-0CB7-C0EC-36B1441E128C}"/>
              </a:ext>
            </a:extLst>
          </p:cNvPr>
          <p:cNvSpPr txBox="1">
            <a:spLocks/>
          </p:cNvSpPr>
          <p:nvPr userDrawn="1"/>
        </p:nvSpPr>
        <p:spPr>
          <a:xfrm>
            <a:off x="479376" y="1140559"/>
            <a:ext cx="649718" cy="145376"/>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Architect:</a:t>
            </a:r>
          </a:p>
          <a:p>
            <a:pPr marL="0" indent="0">
              <a:buNone/>
            </a:pPr>
            <a:endParaRPr lang="en-US" sz="1000" b="1" kern="0" dirty="0">
              <a:solidFill>
                <a:schemeClr val="bg1"/>
              </a:solidFill>
            </a:endParaRPr>
          </a:p>
        </p:txBody>
      </p:sp>
      <p:sp>
        <p:nvSpPr>
          <p:cNvPr id="32" name="Text Placeholder 1">
            <a:extLst>
              <a:ext uri="{FF2B5EF4-FFF2-40B4-BE49-F238E27FC236}">
                <a16:creationId xmlns:a16="http://schemas.microsoft.com/office/drawing/2014/main" id="{9360D890-843A-1566-97DD-6E3BA6A98F81}"/>
              </a:ext>
            </a:extLst>
          </p:cNvPr>
          <p:cNvSpPr txBox="1">
            <a:spLocks/>
          </p:cNvSpPr>
          <p:nvPr userDrawn="1"/>
        </p:nvSpPr>
        <p:spPr>
          <a:xfrm>
            <a:off x="479376" y="1344106"/>
            <a:ext cx="376460" cy="151606"/>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Date:</a:t>
            </a:r>
          </a:p>
          <a:p>
            <a:pPr marL="0" indent="0">
              <a:buNone/>
            </a:pPr>
            <a:endParaRPr lang="en-US" sz="1000" b="1" kern="0" dirty="0">
              <a:solidFill>
                <a:schemeClr val="bg1"/>
              </a:solidFill>
            </a:endParaRPr>
          </a:p>
        </p:txBody>
      </p:sp>
      <p:sp>
        <p:nvSpPr>
          <p:cNvPr id="33" name="Text Placeholder 1">
            <a:extLst>
              <a:ext uri="{FF2B5EF4-FFF2-40B4-BE49-F238E27FC236}">
                <a16:creationId xmlns:a16="http://schemas.microsoft.com/office/drawing/2014/main" id="{EDAB5F3E-EB18-DD02-84E7-3637E0F666D6}"/>
              </a:ext>
            </a:extLst>
          </p:cNvPr>
          <p:cNvSpPr txBox="1">
            <a:spLocks/>
          </p:cNvSpPr>
          <p:nvPr userDrawn="1"/>
        </p:nvSpPr>
        <p:spPr>
          <a:xfrm>
            <a:off x="479376" y="1560432"/>
            <a:ext cx="441272" cy="138882"/>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Value:</a:t>
            </a:r>
          </a:p>
          <a:p>
            <a:pPr marL="0" indent="0">
              <a:buNone/>
            </a:pPr>
            <a:endParaRPr lang="en-US" sz="1000" b="1" kern="0" dirty="0">
              <a:solidFill>
                <a:schemeClr val="bg1"/>
              </a:solidFill>
            </a:endParaRPr>
          </a:p>
        </p:txBody>
      </p:sp>
      <p:sp>
        <p:nvSpPr>
          <p:cNvPr id="34" name="Text Placeholder 1">
            <a:extLst>
              <a:ext uri="{FF2B5EF4-FFF2-40B4-BE49-F238E27FC236}">
                <a16:creationId xmlns:a16="http://schemas.microsoft.com/office/drawing/2014/main" id="{B35F1BFE-547D-6C4E-A446-F65179E592E6}"/>
              </a:ext>
            </a:extLst>
          </p:cNvPr>
          <p:cNvSpPr txBox="1">
            <a:spLocks/>
          </p:cNvSpPr>
          <p:nvPr userDrawn="1"/>
        </p:nvSpPr>
        <p:spPr>
          <a:xfrm>
            <a:off x="479376" y="1771198"/>
            <a:ext cx="1240556" cy="138882"/>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Services Provided:</a:t>
            </a:r>
          </a:p>
          <a:p>
            <a:pPr marL="0" indent="0">
              <a:buNone/>
            </a:pPr>
            <a:endParaRPr lang="en-US" sz="1000" b="1" kern="0" dirty="0">
              <a:solidFill>
                <a:schemeClr val="bg1"/>
              </a:solidFill>
            </a:endParaRPr>
          </a:p>
        </p:txBody>
      </p:sp>
      <p:sp>
        <p:nvSpPr>
          <p:cNvPr id="35" name="Text Placeholder 30">
            <a:extLst>
              <a:ext uri="{FF2B5EF4-FFF2-40B4-BE49-F238E27FC236}">
                <a16:creationId xmlns:a16="http://schemas.microsoft.com/office/drawing/2014/main" id="{A739C897-612A-E5AF-1955-B9198AA41FCC}"/>
              </a:ext>
            </a:extLst>
          </p:cNvPr>
          <p:cNvSpPr>
            <a:spLocks noGrp="1"/>
          </p:cNvSpPr>
          <p:nvPr>
            <p:ph type="body" sz="quarter" idx="15" hasCustomPrompt="1"/>
          </p:nvPr>
        </p:nvSpPr>
        <p:spPr>
          <a:xfrm>
            <a:off x="479376" y="1960355"/>
            <a:ext cx="3328788" cy="332724"/>
          </a:xfrm>
          <a:prstGeom prst="rect">
            <a:avLst/>
          </a:prstGeom>
        </p:spPr>
        <p:txBody>
          <a:bodyPr lIns="0" tIns="0" rIns="0" bIns="0" anchor="t"/>
          <a:lstStyle>
            <a:lvl1pPr marL="0" indent="0">
              <a:buNone/>
              <a:defRPr sz="1050" b="1">
                <a:solidFill>
                  <a:schemeClr val="bg1"/>
                </a:solidFill>
                <a:highlight>
                  <a:srgbClr val="EA560D"/>
                </a:highlight>
              </a:defRPr>
            </a:lvl1pPr>
          </a:lstStyle>
          <a:p>
            <a:pPr lvl="0"/>
            <a:r>
              <a:rPr lang="en-GB" dirty="0"/>
              <a:t>Fun Fact Inserted Here</a:t>
            </a:r>
          </a:p>
        </p:txBody>
      </p:sp>
      <p:sp>
        <p:nvSpPr>
          <p:cNvPr id="36" name="Text Placeholder 33">
            <a:extLst>
              <a:ext uri="{FF2B5EF4-FFF2-40B4-BE49-F238E27FC236}">
                <a16:creationId xmlns:a16="http://schemas.microsoft.com/office/drawing/2014/main" id="{658D7181-C377-1E53-061D-E9FFA361035A}"/>
              </a:ext>
            </a:extLst>
          </p:cNvPr>
          <p:cNvSpPr>
            <a:spLocks noGrp="1"/>
          </p:cNvSpPr>
          <p:nvPr>
            <p:ph type="body" sz="quarter" idx="16" hasCustomPrompt="1"/>
          </p:nvPr>
        </p:nvSpPr>
        <p:spPr>
          <a:xfrm>
            <a:off x="1142866" y="713312"/>
            <a:ext cx="2665298"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37" name="Text Placeholder 33">
            <a:extLst>
              <a:ext uri="{FF2B5EF4-FFF2-40B4-BE49-F238E27FC236}">
                <a16:creationId xmlns:a16="http://schemas.microsoft.com/office/drawing/2014/main" id="{36484CF9-5015-3189-6A68-C01A88D0644B}"/>
              </a:ext>
            </a:extLst>
          </p:cNvPr>
          <p:cNvSpPr>
            <a:spLocks noGrp="1"/>
          </p:cNvSpPr>
          <p:nvPr>
            <p:ph type="body" sz="quarter" idx="17" hasCustomPrompt="1"/>
          </p:nvPr>
        </p:nvSpPr>
        <p:spPr>
          <a:xfrm>
            <a:off x="934420" y="923706"/>
            <a:ext cx="2873744"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38" name="Text Placeholder 33">
            <a:extLst>
              <a:ext uri="{FF2B5EF4-FFF2-40B4-BE49-F238E27FC236}">
                <a16:creationId xmlns:a16="http://schemas.microsoft.com/office/drawing/2014/main" id="{8F5FDB46-5B36-C2D1-D5FD-9F26789AC072}"/>
              </a:ext>
            </a:extLst>
          </p:cNvPr>
          <p:cNvSpPr>
            <a:spLocks noGrp="1"/>
          </p:cNvSpPr>
          <p:nvPr>
            <p:ph type="body" sz="quarter" idx="18" hasCustomPrompt="1"/>
          </p:nvPr>
        </p:nvSpPr>
        <p:spPr>
          <a:xfrm>
            <a:off x="1144394" y="1138357"/>
            <a:ext cx="2663770"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39" name="Text Placeholder 33">
            <a:extLst>
              <a:ext uri="{FF2B5EF4-FFF2-40B4-BE49-F238E27FC236}">
                <a16:creationId xmlns:a16="http://schemas.microsoft.com/office/drawing/2014/main" id="{13230699-63FA-AC38-ED94-7CC80358B9BB}"/>
              </a:ext>
            </a:extLst>
          </p:cNvPr>
          <p:cNvSpPr>
            <a:spLocks noGrp="1"/>
          </p:cNvSpPr>
          <p:nvPr>
            <p:ph type="body" sz="quarter" idx="19" hasCustomPrompt="1"/>
          </p:nvPr>
        </p:nvSpPr>
        <p:spPr>
          <a:xfrm>
            <a:off x="870342" y="1347587"/>
            <a:ext cx="2937821"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40" name="Text Placeholder 33">
            <a:extLst>
              <a:ext uri="{FF2B5EF4-FFF2-40B4-BE49-F238E27FC236}">
                <a16:creationId xmlns:a16="http://schemas.microsoft.com/office/drawing/2014/main" id="{C7AD068D-4B5C-DEC8-9739-5B860AF477FF}"/>
              </a:ext>
            </a:extLst>
          </p:cNvPr>
          <p:cNvSpPr>
            <a:spLocks noGrp="1"/>
          </p:cNvSpPr>
          <p:nvPr>
            <p:ph type="body" sz="quarter" idx="20" hasCustomPrompt="1"/>
          </p:nvPr>
        </p:nvSpPr>
        <p:spPr>
          <a:xfrm>
            <a:off x="934420" y="1565265"/>
            <a:ext cx="2873743"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41" name="Text Placeholder 33">
            <a:extLst>
              <a:ext uri="{FF2B5EF4-FFF2-40B4-BE49-F238E27FC236}">
                <a16:creationId xmlns:a16="http://schemas.microsoft.com/office/drawing/2014/main" id="{2A19D43B-9EAC-4BA6-6E00-0AC27172E4AA}"/>
              </a:ext>
            </a:extLst>
          </p:cNvPr>
          <p:cNvSpPr>
            <a:spLocks noGrp="1"/>
          </p:cNvSpPr>
          <p:nvPr>
            <p:ph type="body" sz="quarter" idx="21" hasCustomPrompt="1"/>
          </p:nvPr>
        </p:nvSpPr>
        <p:spPr>
          <a:xfrm>
            <a:off x="1732220" y="1771198"/>
            <a:ext cx="2075943"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48" name="Picture Placeholder 22">
            <a:extLst>
              <a:ext uri="{FF2B5EF4-FFF2-40B4-BE49-F238E27FC236}">
                <a16:creationId xmlns:a16="http://schemas.microsoft.com/office/drawing/2014/main" id="{1EE1CE76-EC8C-3648-8CFD-2F3339B170A4}"/>
              </a:ext>
            </a:extLst>
          </p:cNvPr>
          <p:cNvSpPr>
            <a:spLocks noGrp="1"/>
          </p:cNvSpPr>
          <p:nvPr>
            <p:ph type="pic" sz="quarter" idx="12" hasCustomPrompt="1"/>
          </p:nvPr>
        </p:nvSpPr>
        <p:spPr>
          <a:xfrm>
            <a:off x="4463356" y="654131"/>
            <a:ext cx="3303984" cy="2774869"/>
          </a:xfrm>
          <a:prstGeom prst="rect">
            <a:avLst/>
          </a:prstGeom>
        </p:spPr>
        <p:txBody>
          <a:bodyPr/>
          <a:lstStyle>
            <a:lvl1pPr marL="0" indent="0" algn="ctr">
              <a:buFontTx/>
              <a:buNone/>
              <a:defRPr sz="900">
                <a:solidFill>
                  <a:srgbClr val="56626F"/>
                </a:solidFill>
              </a:defRPr>
            </a:lvl1pPr>
          </a:lstStyle>
          <a:p>
            <a:r>
              <a:rPr lang="en-US" dirty="0"/>
              <a:t>Insert Picture Here</a:t>
            </a:r>
            <a:endParaRPr lang="en-GB" dirty="0"/>
          </a:p>
        </p:txBody>
      </p:sp>
      <p:sp>
        <p:nvSpPr>
          <p:cNvPr id="49" name="Text Placeholder 40">
            <a:extLst>
              <a:ext uri="{FF2B5EF4-FFF2-40B4-BE49-F238E27FC236}">
                <a16:creationId xmlns:a16="http://schemas.microsoft.com/office/drawing/2014/main" id="{EFCBFE30-DB91-D8FD-A4CA-CABEBB728896}"/>
              </a:ext>
            </a:extLst>
          </p:cNvPr>
          <p:cNvSpPr>
            <a:spLocks noGrp="1"/>
          </p:cNvSpPr>
          <p:nvPr>
            <p:ph type="body" sz="quarter" idx="23" hasCustomPrompt="1"/>
          </p:nvPr>
        </p:nvSpPr>
        <p:spPr>
          <a:xfrm>
            <a:off x="4462748" y="215900"/>
            <a:ext cx="3303984" cy="314085"/>
          </a:xfrm>
          <a:prstGeom prst="rect">
            <a:avLst/>
          </a:prstGeom>
        </p:spPr>
        <p:txBody>
          <a:bodyPr lIns="0" tIns="0" rIns="0" bIns="0"/>
          <a:lstStyle>
            <a:lvl1pPr marL="0" indent="0">
              <a:buNone/>
              <a:defRPr sz="1100" b="1"/>
            </a:lvl1pPr>
          </a:lstStyle>
          <a:p>
            <a:pPr lvl="0"/>
            <a:r>
              <a:rPr lang="en-GB" dirty="0"/>
              <a:t>Caption Title:</a:t>
            </a:r>
          </a:p>
        </p:txBody>
      </p:sp>
      <p:sp>
        <p:nvSpPr>
          <p:cNvPr id="50" name="Picture Placeholder 22">
            <a:extLst>
              <a:ext uri="{FF2B5EF4-FFF2-40B4-BE49-F238E27FC236}">
                <a16:creationId xmlns:a16="http://schemas.microsoft.com/office/drawing/2014/main" id="{FDB4D6F3-9485-72D3-DB5E-C5FAFBE5F63D}"/>
              </a:ext>
            </a:extLst>
          </p:cNvPr>
          <p:cNvSpPr>
            <a:spLocks noGrp="1"/>
          </p:cNvSpPr>
          <p:nvPr>
            <p:ph type="pic" sz="quarter" idx="24" hasCustomPrompt="1"/>
          </p:nvPr>
        </p:nvSpPr>
        <p:spPr>
          <a:xfrm>
            <a:off x="4462747" y="3637160"/>
            <a:ext cx="3303985" cy="2933411"/>
          </a:xfrm>
          <a:prstGeom prst="rect">
            <a:avLst/>
          </a:prstGeom>
        </p:spPr>
        <p:txBody>
          <a:bodyPr/>
          <a:lstStyle>
            <a:lvl1pPr marL="0" indent="0" algn="ctr">
              <a:buFontTx/>
              <a:buNone/>
              <a:defRPr sz="900">
                <a:solidFill>
                  <a:srgbClr val="56626F"/>
                </a:solidFill>
              </a:defRPr>
            </a:lvl1pPr>
          </a:lstStyle>
          <a:p>
            <a:r>
              <a:rPr lang="en-US" dirty="0"/>
              <a:t>Insert Picture Here</a:t>
            </a:r>
            <a:endParaRPr lang="en-GB" dirty="0"/>
          </a:p>
        </p:txBody>
      </p:sp>
      <p:pic>
        <p:nvPicPr>
          <p:cNvPr id="2" name="Graphic 1">
            <a:extLst>
              <a:ext uri="{FF2B5EF4-FFF2-40B4-BE49-F238E27FC236}">
                <a16:creationId xmlns:a16="http://schemas.microsoft.com/office/drawing/2014/main" id="{BDA8AC87-9092-BE2B-E654-91C5DE7CC5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1118625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guide id="3" pos="166">
          <p15:clr>
            <a:srgbClr val="FBAE40"/>
          </p15:clr>
        </p15:guide>
        <p15:guide id="5" pos="751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roject Page 2, Top Right Heading">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661FE82-DBD1-6E03-E1C7-10BFA5AA115D}"/>
              </a:ext>
            </a:extLst>
          </p:cNvPr>
          <p:cNvSpPr>
            <a:spLocks noGrp="1"/>
          </p:cNvSpPr>
          <p:nvPr>
            <p:ph type="subTitle" idx="1"/>
          </p:nvPr>
        </p:nvSpPr>
        <p:spPr>
          <a:xfrm>
            <a:off x="371474" y="3454442"/>
            <a:ext cx="9143999" cy="276999"/>
          </a:xfrm>
        </p:spPr>
        <p:txBody>
          <a:bodyPr>
            <a:normAutofit/>
          </a:bodyPr>
          <a:lstStyle>
            <a:lvl1pPr marL="0" indent="0" algn="l" defTabSz="914400" rtl="0" eaLnBrk="1" latinLnBrk="0" hangingPunct="1">
              <a:buNone/>
              <a:defRPr lang="en-GB" sz="1200" kern="1200" dirty="0">
                <a:solidFill>
                  <a:schemeClr val="bg1"/>
                </a:solidFill>
                <a:effectLst/>
                <a:latin typeface="Arial Nova Light" panose="020B0304020202020204" pitchFamily="34" charset="0"/>
                <a:ea typeface="Open Sans" panose="020B0606030504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Rectangle: Single Corner Snipped 6">
            <a:extLst>
              <a:ext uri="{FF2B5EF4-FFF2-40B4-BE49-F238E27FC236}">
                <a16:creationId xmlns:a16="http://schemas.microsoft.com/office/drawing/2014/main" id="{F6BD2082-5EF8-F35E-5E15-933B919C2257}"/>
              </a:ext>
            </a:extLst>
          </p:cNvPr>
          <p:cNvSpPr/>
          <p:nvPr/>
        </p:nvSpPr>
        <p:spPr>
          <a:xfrm flipH="1" flipV="1">
            <a:off x="8102091" y="215422"/>
            <a:ext cx="3829878" cy="2133458"/>
          </a:xfrm>
          <a:prstGeom prst="snip1Rect">
            <a:avLst/>
          </a:prstGeom>
          <a:solidFill>
            <a:srgbClr val="56626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6" name="Text Placeholder 12">
            <a:extLst>
              <a:ext uri="{FF2B5EF4-FFF2-40B4-BE49-F238E27FC236}">
                <a16:creationId xmlns:a16="http://schemas.microsoft.com/office/drawing/2014/main" id="{4FFD9C8B-A586-B03F-4946-2C109BDA8913}"/>
              </a:ext>
            </a:extLst>
          </p:cNvPr>
          <p:cNvSpPr>
            <a:spLocks noGrp="1"/>
          </p:cNvSpPr>
          <p:nvPr>
            <p:ph type="body" sz="quarter" idx="14" hasCustomPrompt="1"/>
          </p:nvPr>
        </p:nvSpPr>
        <p:spPr>
          <a:xfrm>
            <a:off x="8475343" y="381944"/>
            <a:ext cx="3328788" cy="272187"/>
          </a:xfrm>
          <a:prstGeom prst="rect">
            <a:avLst/>
          </a:prstGeom>
        </p:spPr>
        <p:txBody>
          <a:bodyPr lIns="0" tIns="0" rIns="0" bIns="0"/>
          <a:lstStyle>
            <a:lvl1pPr marL="0" indent="0">
              <a:buNone/>
              <a:defRPr sz="1600" b="1">
                <a:solidFill>
                  <a:schemeClr val="bg1"/>
                </a:solidFill>
              </a:defRPr>
            </a:lvl1pPr>
          </a:lstStyle>
          <a:p>
            <a:pPr lvl="0"/>
            <a:r>
              <a:rPr lang="en-GB" dirty="0"/>
              <a:t>Insert Project Name Here</a:t>
            </a:r>
          </a:p>
          <a:p>
            <a:pPr lvl="0"/>
            <a:endParaRPr lang="en-GB" dirty="0"/>
          </a:p>
        </p:txBody>
      </p:sp>
      <p:sp>
        <p:nvSpPr>
          <p:cNvPr id="29" name="Text Placeholder 1">
            <a:extLst>
              <a:ext uri="{FF2B5EF4-FFF2-40B4-BE49-F238E27FC236}">
                <a16:creationId xmlns:a16="http://schemas.microsoft.com/office/drawing/2014/main" id="{35FFFC0C-9ED1-515C-4691-762B9C629F4B}"/>
              </a:ext>
            </a:extLst>
          </p:cNvPr>
          <p:cNvSpPr txBox="1">
            <a:spLocks/>
          </p:cNvSpPr>
          <p:nvPr userDrawn="1"/>
        </p:nvSpPr>
        <p:spPr>
          <a:xfrm>
            <a:off x="8469955" y="713311"/>
            <a:ext cx="655106" cy="138882"/>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Location: </a:t>
            </a:r>
          </a:p>
          <a:p>
            <a:pPr marL="0" indent="0">
              <a:buNone/>
            </a:pPr>
            <a:endParaRPr lang="en-US" sz="1000" b="1" kern="0" dirty="0">
              <a:solidFill>
                <a:schemeClr val="bg1"/>
              </a:solidFill>
            </a:endParaRPr>
          </a:p>
        </p:txBody>
      </p:sp>
      <p:sp>
        <p:nvSpPr>
          <p:cNvPr id="30" name="Text Placeholder 1">
            <a:extLst>
              <a:ext uri="{FF2B5EF4-FFF2-40B4-BE49-F238E27FC236}">
                <a16:creationId xmlns:a16="http://schemas.microsoft.com/office/drawing/2014/main" id="{E541FF32-54CD-B202-B065-F82EE8D9D9E9}"/>
              </a:ext>
            </a:extLst>
          </p:cNvPr>
          <p:cNvSpPr txBox="1">
            <a:spLocks/>
          </p:cNvSpPr>
          <p:nvPr userDrawn="1"/>
        </p:nvSpPr>
        <p:spPr>
          <a:xfrm>
            <a:off x="8469955" y="922444"/>
            <a:ext cx="448358" cy="145376"/>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Client:</a:t>
            </a:r>
          </a:p>
          <a:p>
            <a:pPr marL="0" indent="0">
              <a:buNone/>
            </a:pPr>
            <a:endParaRPr lang="en-US" sz="1000" b="1" kern="0" dirty="0">
              <a:solidFill>
                <a:schemeClr val="bg1"/>
              </a:solidFill>
            </a:endParaRPr>
          </a:p>
        </p:txBody>
      </p:sp>
      <p:sp>
        <p:nvSpPr>
          <p:cNvPr id="31" name="Text Placeholder 1">
            <a:extLst>
              <a:ext uri="{FF2B5EF4-FFF2-40B4-BE49-F238E27FC236}">
                <a16:creationId xmlns:a16="http://schemas.microsoft.com/office/drawing/2014/main" id="{EB0608D3-EA7E-0CB7-C0EC-36B1441E128C}"/>
              </a:ext>
            </a:extLst>
          </p:cNvPr>
          <p:cNvSpPr txBox="1">
            <a:spLocks/>
          </p:cNvSpPr>
          <p:nvPr userDrawn="1"/>
        </p:nvSpPr>
        <p:spPr>
          <a:xfrm>
            <a:off x="8475343" y="1140559"/>
            <a:ext cx="649718" cy="145376"/>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Architect:</a:t>
            </a:r>
          </a:p>
          <a:p>
            <a:pPr marL="0" indent="0">
              <a:buNone/>
            </a:pPr>
            <a:endParaRPr lang="en-US" sz="1000" b="1" kern="0" dirty="0">
              <a:solidFill>
                <a:schemeClr val="bg1"/>
              </a:solidFill>
            </a:endParaRPr>
          </a:p>
        </p:txBody>
      </p:sp>
      <p:sp>
        <p:nvSpPr>
          <p:cNvPr id="32" name="Text Placeholder 1">
            <a:extLst>
              <a:ext uri="{FF2B5EF4-FFF2-40B4-BE49-F238E27FC236}">
                <a16:creationId xmlns:a16="http://schemas.microsoft.com/office/drawing/2014/main" id="{9360D890-843A-1566-97DD-6E3BA6A98F81}"/>
              </a:ext>
            </a:extLst>
          </p:cNvPr>
          <p:cNvSpPr txBox="1">
            <a:spLocks/>
          </p:cNvSpPr>
          <p:nvPr userDrawn="1"/>
        </p:nvSpPr>
        <p:spPr>
          <a:xfrm>
            <a:off x="8475343" y="1344106"/>
            <a:ext cx="376460" cy="151606"/>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Date:</a:t>
            </a:r>
          </a:p>
          <a:p>
            <a:pPr marL="0" indent="0">
              <a:buNone/>
            </a:pPr>
            <a:endParaRPr lang="en-US" sz="1000" b="1" kern="0" dirty="0">
              <a:solidFill>
                <a:schemeClr val="bg1"/>
              </a:solidFill>
            </a:endParaRPr>
          </a:p>
        </p:txBody>
      </p:sp>
      <p:sp>
        <p:nvSpPr>
          <p:cNvPr id="33" name="Text Placeholder 1">
            <a:extLst>
              <a:ext uri="{FF2B5EF4-FFF2-40B4-BE49-F238E27FC236}">
                <a16:creationId xmlns:a16="http://schemas.microsoft.com/office/drawing/2014/main" id="{EDAB5F3E-EB18-DD02-84E7-3637E0F666D6}"/>
              </a:ext>
            </a:extLst>
          </p:cNvPr>
          <p:cNvSpPr txBox="1">
            <a:spLocks/>
          </p:cNvSpPr>
          <p:nvPr userDrawn="1"/>
        </p:nvSpPr>
        <p:spPr>
          <a:xfrm>
            <a:off x="8475343" y="1560432"/>
            <a:ext cx="441272" cy="138882"/>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Value:</a:t>
            </a:r>
          </a:p>
          <a:p>
            <a:pPr marL="0" indent="0">
              <a:buNone/>
            </a:pPr>
            <a:endParaRPr lang="en-US" sz="1000" b="1" kern="0" dirty="0">
              <a:solidFill>
                <a:schemeClr val="bg1"/>
              </a:solidFill>
            </a:endParaRPr>
          </a:p>
        </p:txBody>
      </p:sp>
      <p:sp>
        <p:nvSpPr>
          <p:cNvPr id="34" name="Text Placeholder 1">
            <a:extLst>
              <a:ext uri="{FF2B5EF4-FFF2-40B4-BE49-F238E27FC236}">
                <a16:creationId xmlns:a16="http://schemas.microsoft.com/office/drawing/2014/main" id="{B35F1BFE-547D-6C4E-A446-F65179E592E6}"/>
              </a:ext>
            </a:extLst>
          </p:cNvPr>
          <p:cNvSpPr txBox="1">
            <a:spLocks/>
          </p:cNvSpPr>
          <p:nvPr userDrawn="1"/>
        </p:nvSpPr>
        <p:spPr>
          <a:xfrm>
            <a:off x="8475343" y="1771198"/>
            <a:ext cx="1240556" cy="138882"/>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Services Provided:</a:t>
            </a:r>
          </a:p>
          <a:p>
            <a:pPr marL="0" indent="0">
              <a:buNone/>
            </a:pPr>
            <a:endParaRPr lang="en-US" sz="1000" b="1" kern="0" dirty="0">
              <a:solidFill>
                <a:schemeClr val="bg1"/>
              </a:solidFill>
            </a:endParaRPr>
          </a:p>
        </p:txBody>
      </p:sp>
      <p:sp>
        <p:nvSpPr>
          <p:cNvPr id="35" name="Text Placeholder 30">
            <a:extLst>
              <a:ext uri="{FF2B5EF4-FFF2-40B4-BE49-F238E27FC236}">
                <a16:creationId xmlns:a16="http://schemas.microsoft.com/office/drawing/2014/main" id="{A739C897-612A-E5AF-1955-B9198AA41FCC}"/>
              </a:ext>
            </a:extLst>
          </p:cNvPr>
          <p:cNvSpPr>
            <a:spLocks noGrp="1"/>
          </p:cNvSpPr>
          <p:nvPr>
            <p:ph type="body" sz="quarter" idx="15" hasCustomPrompt="1"/>
          </p:nvPr>
        </p:nvSpPr>
        <p:spPr>
          <a:xfrm>
            <a:off x="8475343" y="1960355"/>
            <a:ext cx="3328788" cy="332724"/>
          </a:xfrm>
          <a:prstGeom prst="rect">
            <a:avLst/>
          </a:prstGeom>
        </p:spPr>
        <p:txBody>
          <a:bodyPr lIns="0" tIns="0" rIns="0" bIns="0" anchor="t"/>
          <a:lstStyle>
            <a:lvl1pPr marL="0" indent="0">
              <a:buNone/>
              <a:defRPr sz="1050" b="1">
                <a:solidFill>
                  <a:schemeClr val="bg1"/>
                </a:solidFill>
                <a:highlight>
                  <a:srgbClr val="EA560D"/>
                </a:highlight>
              </a:defRPr>
            </a:lvl1pPr>
          </a:lstStyle>
          <a:p>
            <a:pPr lvl="0"/>
            <a:r>
              <a:rPr lang="en-GB" dirty="0"/>
              <a:t>Fun Fact Inserted Here</a:t>
            </a:r>
          </a:p>
        </p:txBody>
      </p:sp>
      <p:sp>
        <p:nvSpPr>
          <p:cNvPr id="36" name="Text Placeholder 33">
            <a:extLst>
              <a:ext uri="{FF2B5EF4-FFF2-40B4-BE49-F238E27FC236}">
                <a16:creationId xmlns:a16="http://schemas.microsoft.com/office/drawing/2014/main" id="{658D7181-C377-1E53-061D-E9FFA361035A}"/>
              </a:ext>
            </a:extLst>
          </p:cNvPr>
          <p:cNvSpPr>
            <a:spLocks noGrp="1"/>
          </p:cNvSpPr>
          <p:nvPr>
            <p:ph type="body" sz="quarter" idx="16" hasCustomPrompt="1"/>
          </p:nvPr>
        </p:nvSpPr>
        <p:spPr>
          <a:xfrm>
            <a:off x="9138833" y="713312"/>
            <a:ext cx="2665298"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37" name="Text Placeholder 33">
            <a:extLst>
              <a:ext uri="{FF2B5EF4-FFF2-40B4-BE49-F238E27FC236}">
                <a16:creationId xmlns:a16="http://schemas.microsoft.com/office/drawing/2014/main" id="{36484CF9-5015-3189-6A68-C01A88D0644B}"/>
              </a:ext>
            </a:extLst>
          </p:cNvPr>
          <p:cNvSpPr>
            <a:spLocks noGrp="1"/>
          </p:cNvSpPr>
          <p:nvPr>
            <p:ph type="body" sz="quarter" idx="17" hasCustomPrompt="1"/>
          </p:nvPr>
        </p:nvSpPr>
        <p:spPr>
          <a:xfrm>
            <a:off x="8930387" y="923706"/>
            <a:ext cx="2873744"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38" name="Text Placeholder 33">
            <a:extLst>
              <a:ext uri="{FF2B5EF4-FFF2-40B4-BE49-F238E27FC236}">
                <a16:creationId xmlns:a16="http://schemas.microsoft.com/office/drawing/2014/main" id="{8F5FDB46-5B36-C2D1-D5FD-9F26789AC072}"/>
              </a:ext>
            </a:extLst>
          </p:cNvPr>
          <p:cNvSpPr>
            <a:spLocks noGrp="1"/>
          </p:cNvSpPr>
          <p:nvPr>
            <p:ph type="body" sz="quarter" idx="18" hasCustomPrompt="1"/>
          </p:nvPr>
        </p:nvSpPr>
        <p:spPr>
          <a:xfrm>
            <a:off x="9140361" y="1138357"/>
            <a:ext cx="2663770"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39" name="Text Placeholder 33">
            <a:extLst>
              <a:ext uri="{FF2B5EF4-FFF2-40B4-BE49-F238E27FC236}">
                <a16:creationId xmlns:a16="http://schemas.microsoft.com/office/drawing/2014/main" id="{13230699-63FA-AC38-ED94-7CC80358B9BB}"/>
              </a:ext>
            </a:extLst>
          </p:cNvPr>
          <p:cNvSpPr>
            <a:spLocks noGrp="1"/>
          </p:cNvSpPr>
          <p:nvPr>
            <p:ph type="body" sz="quarter" idx="19" hasCustomPrompt="1"/>
          </p:nvPr>
        </p:nvSpPr>
        <p:spPr>
          <a:xfrm>
            <a:off x="8866309" y="1347587"/>
            <a:ext cx="2937821"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40" name="Text Placeholder 33">
            <a:extLst>
              <a:ext uri="{FF2B5EF4-FFF2-40B4-BE49-F238E27FC236}">
                <a16:creationId xmlns:a16="http://schemas.microsoft.com/office/drawing/2014/main" id="{C7AD068D-4B5C-DEC8-9739-5B860AF477FF}"/>
              </a:ext>
            </a:extLst>
          </p:cNvPr>
          <p:cNvSpPr>
            <a:spLocks noGrp="1"/>
          </p:cNvSpPr>
          <p:nvPr>
            <p:ph type="body" sz="quarter" idx="20" hasCustomPrompt="1"/>
          </p:nvPr>
        </p:nvSpPr>
        <p:spPr>
          <a:xfrm>
            <a:off x="8930387" y="1565265"/>
            <a:ext cx="2873743"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41" name="Text Placeholder 33">
            <a:extLst>
              <a:ext uri="{FF2B5EF4-FFF2-40B4-BE49-F238E27FC236}">
                <a16:creationId xmlns:a16="http://schemas.microsoft.com/office/drawing/2014/main" id="{2A19D43B-9EAC-4BA6-6E00-0AC27172E4AA}"/>
              </a:ext>
            </a:extLst>
          </p:cNvPr>
          <p:cNvSpPr>
            <a:spLocks noGrp="1"/>
          </p:cNvSpPr>
          <p:nvPr>
            <p:ph type="body" sz="quarter" idx="21" hasCustomPrompt="1"/>
          </p:nvPr>
        </p:nvSpPr>
        <p:spPr>
          <a:xfrm>
            <a:off x="9728187" y="1771198"/>
            <a:ext cx="2075943"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43" name="Picture Placeholder 22">
            <a:extLst>
              <a:ext uri="{FF2B5EF4-FFF2-40B4-BE49-F238E27FC236}">
                <a16:creationId xmlns:a16="http://schemas.microsoft.com/office/drawing/2014/main" id="{D6A0C7F8-16F8-C919-DBB3-ADA6317976D2}"/>
              </a:ext>
            </a:extLst>
          </p:cNvPr>
          <p:cNvSpPr>
            <a:spLocks noGrp="1"/>
          </p:cNvSpPr>
          <p:nvPr>
            <p:ph type="pic" sz="quarter" idx="10" hasCustomPrompt="1"/>
          </p:nvPr>
        </p:nvSpPr>
        <p:spPr>
          <a:xfrm>
            <a:off x="8116512" y="2593195"/>
            <a:ext cx="3816424" cy="3977375"/>
          </a:xfrm>
          <a:prstGeom prst="rect">
            <a:avLst/>
          </a:prstGeom>
        </p:spPr>
        <p:txBody>
          <a:bodyPr/>
          <a:lstStyle>
            <a:lvl1pPr marL="0" indent="0" algn="ctr">
              <a:buFontTx/>
              <a:buNone/>
              <a:defRPr sz="900">
                <a:solidFill>
                  <a:srgbClr val="56626F"/>
                </a:solidFill>
              </a:defRPr>
            </a:lvl1pPr>
          </a:lstStyle>
          <a:p>
            <a:r>
              <a:rPr lang="en-GB" dirty="0"/>
              <a:t>Insert Picture Here</a:t>
            </a:r>
          </a:p>
        </p:txBody>
      </p:sp>
      <p:sp>
        <p:nvSpPr>
          <p:cNvPr id="48" name="Picture Placeholder 22">
            <a:extLst>
              <a:ext uri="{FF2B5EF4-FFF2-40B4-BE49-F238E27FC236}">
                <a16:creationId xmlns:a16="http://schemas.microsoft.com/office/drawing/2014/main" id="{1EE1CE76-EC8C-3648-8CFD-2F3339B170A4}"/>
              </a:ext>
            </a:extLst>
          </p:cNvPr>
          <p:cNvSpPr>
            <a:spLocks noGrp="1"/>
          </p:cNvSpPr>
          <p:nvPr>
            <p:ph type="pic" sz="quarter" idx="12" hasCustomPrompt="1"/>
          </p:nvPr>
        </p:nvSpPr>
        <p:spPr>
          <a:xfrm>
            <a:off x="4463356" y="654131"/>
            <a:ext cx="3303984" cy="2774869"/>
          </a:xfrm>
          <a:prstGeom prst="rect">
            <a:avLst/>
          </a:prstGeom>
        </p:spPr>
        <p:txBody>
          <a:bodyPr/>
          <a:lstStyle>
            <a:lvl1pPr marL="0" indent="0" algn="ctr">
              <a:buFontTx/>
              <a:buNone/>
              <a:defRPr sz="900">
                <a:solidFill>
                  <a:srgbClr val="56626F"/>
                </a:solidFill>
              </a:defRPr>
            </a:lvl1pPr>
          </a:lstStyle>
          <a:p>
            <a:r>
              <a:rPr lang="en-US" dirty="0"/>
              <a:t>Insert Picture Here</a:t>
            </a:r>
            <a:endParaRPr lang="en-GB" dirty="0"/>
          </a:p>
        </p:txBody>
      </p:sp>
      <p:sp>
        <p:nvSpPr>
          <p:cNvPr id="49" name="Text Placeholder 40">
            <a:extLst>
              <a:ext uri="{FF2B5EF4-FFF2-40B4-BE49-F238E27FC236}">
                <a16:creationId xmlns:a16="http://schemas.microsoft.com/office/drawing/2014/main" id="{EFCBFE30-DB91-D8FD-A4CA-CABEBB728896}"/>
              </a:ext>
            </a:extLst>
          </p:cNvPr>
          <p:cNvSpPr>
            <a:spLocks noGrp="1"/>
          </p:cNvSpPr>
          <p:nvPr>
            <p:ph type="body" sz="quarter" idx="23" hasCustomPrompt="1"/>
          </p:nvPr>
        </p:nvSpPr>
        <p:spPr>
          <a:xfrm>
            <a:off x="4464772" y="215900"/>
            <a:ext cx="3303984" cy="314085"/>
          </a:xfrm>
          <a:prstGeom prst="rect">
            <a:avLst/>
          </a:prstGeom>
        </p:spPr>
        <p:txBody>
          <a:bodyPr lIns="0" tIns="0" rIns="0" bIns="0"/>
          <a:lstStyle>
            <a:lvl1pPr marL="0" indent="0">
              <a:buNone/>
              <a:defRPr sz="1100" b="1"/>
            </a:lvl1pPr>
          </a:lstStyle>
          <a:p>
            <a:pPr lvl="0"/>
            <a:r>
              <a:rPr lang="en-GB" dirty="0"/>
              <a:t>Caption Title:</a:t>
            </a:r>
          </a:p>
        </p:txBody>
      </p:sp>
      <p:sp>
        <p:nvSpPr>
          <p:cNvPr id="50" name="Picture Placeholder 22">
            <a:extLst>
              <a:ext uri="{FF2B5EF4-FFF2-40B4-BE49-F238E27FC236}">
                <a16:creationId xmlns:a16="http://schemas.microsoft.com/office/drawing/2014/main" id="{FDB4D6F3-9485-72D3-DB5E-C5FAFBE5F63D}"/>
              </a:ext>
            </a:extLst>
          </p:cNvPr>
          <p:cNvSpPr>
            <a:spLocks noGrp="1"/>
          </p:cNvSpPr>
          <p:nvPr>
            <p:ph type="pic" sz="quarter" idx="24" hasCustomPrompt="1"/>
          </p:nvPr>
        </p:nvSpPr>
        <p:spPr>
          <a:xfrm>
            <a:off x="4462747" y="3637160"/>
            <a:ext cx="3303985" cy="2933411"/>
          </a:xfrm>
          <a:prstGeom prst="rect">
            <a:avLst/>
          </a:prstGeom>
        </p:spPr>
        <p:txBody>
          <a:bodyPr/>
          <a:lstStyle>
            <a:lvl1pPr marL="0" indent="0" algn="ctr">
              <a:buFontTx/>
              <a:buNone/>
              <a:defRPr sz="900">
                <a:solidFill>
                  <a:srgbClr val="56626F"/>
                </a:solidFill>
              </a:defRPr>
            </a:lvl1pPr>
          </a:lstStyle>
          <a:p>
            <a:r>
              <a:rPr lang="en-US" dirty="0"/>
              <a:t>Insert Picture Here</a:t>
            </a:r>
            <a:endParaRPr lang="en-GB" dirty="0"/>
          </a:p>
        </p:txBody>
      </p:sp>
      <p:sp>
        <p:nvSpPr>
          <p:cNvPr id="2" name="Picture Placeholder 22">
            <a:extLst>
              <a:ext uri="{FF2B5EF4-FFF2-40B4-BE49-F238E27FC236}">
                <a16:creationId xmlns:a16="http://schemas.microsoft.com/office/drawing/2014/main" id="{764D07C7-DD2B-8805-6C77-F3E47F0A2BF3}"/>
              </a:ext>
            </a:extLst>
          </p:cNvPr>
          <p:cNvSpPr>
            <a:spLocks noGrp="1"/>
          </p:cNvSpPr>
          <p:nvPr>
            <p:ph type="pic" sz="quarter" idx="25" hasCustomPrompt="1"/>
          </p:nvPr>
        </p:nvSpPr>
        <p:spPr>
          <a:xfrm>
            <a:off x="0" y="0"/>
            <a:ext cx="4071258" cy="2414865"/>
          </a:xfrm>
          <a:prstGeom prst="rect">
            <a:avLst/>
          </a:prstGeom>
        </p:spPr>
        <p:txBody>
          <a:bodyPr/>
          <a:lstStyle>
            <a:lvl1pPr marL="0" indent="0" algn="ctr">
              <a:buFontTx/>
              <a:buNone/>
              <a:defRPr sz="900">
                <a:solidFill>
                  <a:srgbClr val="56626F"/>
                </a:solidFill>
              </a:defRPr>
            </a:lvl1pPr>
          </a:lstStyle>
          <a:p>
            <a:r>
              <a:rPr lang="en-GB" dirty="0"/>
              <a:t>Insert Picture Here</a:t>
            </a:r>
          </a:p>
        </p:txBody>
      </p:sp>
      <p:sp>
        <p:nvSpPr>
          <p:cNvPr id="4" name="Picture Placeholder 22">
            <a:extLst>
              <a:ext uri="{FF2B5EF4-FFF2-40B4-BE49-F238E27FC236}">
                <a16:creationId xmlns:a16="http://schemas.microsoft.com/office/drawing/2014/main" id="{03A26C86-7DC4-9234-C33B-1FD5F1278D55}"/>
              </a:ext>
            </a:extLst>
          </p:cNvPr>
          <p:cNvSpPr>
            <a:spLocks noGrp="1"/>
          </p:cNvSpPr>
          <p:nvPr>
            <p:ph type="pic" sz="quarter" idx="26" hasCustomPrompt="1"/>
          </p:nvPr>
        </p:nvSpPr>
        <p:spPr>
          <a:xfrm>
            <a:off x="0" y="2452084"/>
            <a:ext cx="4071258" cy="4405916"/>
          </a:xfrm>
          <a:prstGeom prst="rect">
            <a:avLst/>
          </a:prstGeom>
        </p:spPr>
        <p:txBody>
          <a:bodyPr/>
          <a:lstStyle>
            <a:lvl1pPr marL="0" indent="0" algn="ctr">
              <a:buFontTx/>
              <a:buNone/>
              <a:defRPr sz="900">
                <a:solidFill>
                  <a:srgbClr val="56626F"/>
                </a:solidFill>
              </a:defRPr>
            </a:lvl1pPr>
          </a:lstStyle>
          <a:p>
            <a:r>
              <a:rPr lang="en-GB" dirty="0"/>
              <a:t>Insert Picture Here</a:t>
            </a:r>
          </a:p>
        </p:txBody>
      </p:sp>
      <p:pic>
        <p:nvPicPr>
          <p:cNvPr id="6" name="Graphic 5">
            <a:extLst>
              <a:ext uri="{FF2B5EF4-FFF2-40B4-BE49-F238E27FC236}">
                <a16:creationId xmlns:a16="http://schemas.microsoft.com/office/drawing/2014/main" id="{DB5DB66B-61E5-5A41-FD0E-EFFE6756CE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42078687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guide id="3" pos="166" userDrawn="1">
          <p15:clr>
            <a:srgbClr val="FBAE40"/>
          </p15:clr>
        </p15:guide>
        <p15:guide id="5" pos="751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roject Images x2, Gradient (for dark pictures)">
    <p:spTree>
      <p:nvGrpSpPr>
        <p:cNvPr id="1" name=""/>
        <p:cNvGrpSpPr/>
        <p:nvPr/>
      </p:nvGrpSpPr>
      <p:grpSpPr>
        <a:xfrm>
          <a:off x="0" y="0"/>
          <a:ext cx="0" cy="0"/>
          <a:chOff x="0" y="0"/>
          <a:chExt cx="0" cy="0"/>
        </a:xfrm>
      </p:grpSpPr>
      <p:sp>
        <p:nvSpPr>
          <p:cNvPr id="11" name="Picture Placeholder 7">
            <a:extLst>
              <a:ext uri="{FF2B5EF4-FFF2-40B4-BE49-F238E27FC236}">
                <a16:creationId xmlns:a16="http://schemas.microsoft.com/office/drawing/2014/main" id="{9EA0FDB5-2E16-9E9A-ABCF-5AD7A5A8D1C5}"/>
              </a:ext>
            </a:extLst>
          </p:cNvPr>
          <p:cNvSpPr>
            <a:spLocks noGrp="1"/>
          </p:cNvSpPr>
          <p:nvPr>
            <p:ph type="pic" sz="quarter" idx="10"/>
          </p:nvPr>
        </p:nvSpPr>
        <p:spPr>
          <a:xfrm>
            <a:off x="0" y="0"/>
            <a:ext cx="6023992" cy="6858000"/>
          </a:xfrm>
          <a:prstGeom prst="rect">
            <a:avLst/>
          </a:prstGeom>
          <a:solidFill>
            <a:schemeClr val="tx1">
              <a:lumMod val="20000"/>
              <a:lumOff val="80000"/>
            </a:schemeClr>
          </a:solidFill>
          <a:ln>
            <a:noFill/>
          </a:ln>
        </p:spPr>
        <p:txBody>
          <a:bodyPr/>
          <a:lstStyle>
            <a:lvl1pPr marL="0" indent="0" algn="ctr">
              <a:buFontTx/>
              <a:buNone/>
              <a:defRPr sz="2800" b="0"/>
            </a:lvl1pPr>
          </a:lstStyle>
          <a:p>
            <a:r>
              <a:rPr lang="en-US"/>
              <a:t>Click icon to add picture</a:t>
            </a:r>
            <a:endParaRPr lang="en-GB" dirty="0"/>
          </a:p>
        </p:txBody>
      </p:sp>
      <p:sp>
        <p:nvSpPr>
          <p:cNvPr id="12" name="Picture Placeholder 9">
            <a:extLst>
              <a:ext uri="{FF2B5EF4-FFF2-40B4-BE49-F238E27FC236}">
                <a16:creationId xmlns:a16="http://schemas.microsoft.com/office/drawing/2014/main" id="{9140535C-F86C-8C75-F026-B50395E38988}"/>
              </a:ext>
            </a:extLst>
          </p:cNvPr>
          <p:cNvSpPr>
            <a:spLocks noGrp="1"/>
          </p:cNvSpPr>
          <p:nvPr>
            <p:ph type="pic" sz="quarter" idx="11"/>
          </p:nvPr>
        </p:nvSpPr>
        <p:spPr>
          <a:xfrm>
            <a:off x="6096001" y="0"/>
            <a:ext cx="6096000" cy="6858000"/>
          </a:xfrm>
          <a:prstGeom prst="rect">
            <a:avLst/>
          </a:prstGeom>
          <a:solidFill>
            <a:schemeClr val="tx1">
              <a:lumMod val="20000"/>
              <a:lumOff val="80000"/>
            </a:schemeClr>
          </a:solidFill>
          <a:ln>
            <a:noFill/>
          </a:ln>
        </p:spPr>
        <p:txBody>
          <a:bodyPr/>
          <a:lstStyle>
            <a:lvl1pPr marL="0" indent="0" algn="ctr">
              <a:buFontTx/>
              <a:buNone/>
              <a:defRPr sz="2800" b="0"/>
            </a:lvl1pPr>
          </a:lstStyle>
          <a:p>
            <a:r>
              <a:rPr lang="en-US"/>
              <a:t>Click icon to add picture</a:t>
            </a:r>
            <a:endParaRPr lang="en-GB" dirty="0"/>
          </a:p>
        </p:txBody>
      </p:sp>
      <p:sp>
        <p:nvSpPr>
          <p:cNvPr id="7" name="Footer Placeholder 1">
            <a:extLst>
              <a:ext uri="{FF2B5EF4-FFF2-40B4-BE49-F238E27FC236}">
                <a16:creationId xmlns:a16="http://schemas.microsoft.com/office/drawing/2014/main" id="{93A7402D-8879-8D61-6E80-C1AF39EDE88D}"/>
              </a:ext>
            </a:extLst>
          </p:cNvPr>
          <p:cNvSpPr txBox="1">
            <a:spLocks/>
          </p:cNvSpPr>
          <p:nvPr userDrawn="1"/>
        </p:nvSpPr>
        <p:spPr>
          <a:xfrm>
            <a:off x="239349" y="6377044"/>
            <a:ext cx="12192000" cy="360363"/>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1pPr>
            <a:lvl2pPr marL="742950" indent="-28575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2pPr>
            <a:lvl3pPr marL="11430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3pPr>
            <a:lvl4pPr marL="16002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4pPr>
            <a:lvl5pPr marL="20574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5pPr>
            <a:lvl6pPr marL="25146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6pPr>
            <a:lvl7pPr marL="29718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7pPr>
            <a:lvl8pPr marL="34290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8pPr>
            <a:lvl9pPr marL="38862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9pPr>
          </a:lstStyle>
          <a:p>
            <a:pPr eaLnBrk="1" hangingPunct="1"/>
            <a:r>
              <a:rPr lang="en-GB" sz="1600" b="0" i="0">
                <a:solidFill>
                  <a:srgbClr val="404040"/>
                </a:solidFill>
                <a:latin typeface="New Rail Alphabet Light" panose="02000503060000020004" pitchFamily="2" charset="0"/>
                <a:cs typeface="New Rail Alphabet Medium"/>
              </a:rPr>
              <a:t>  </a:t>
            </a:r>
            <a:endParaRPr lang="en-US" sz="1200" b="0" i="0">
              <a:solidFill>
                <a:srgbClr val="404040"/>
              </a:solidFill>
              <a:latin typeface="New Rail Alphabet Light" panose="02000503060000020004" pitchFamily="2" charset="0"/>
              <a:cs typeface="New Rail Alphabet Medium"/>
            </a:endParaRPr>
          </a:p>
        </p:txBody>
      </p:sp>
      <p:sp>
        <p:nvSpPr>
          <p:cNvPr id="9" name="Footer Placeholder 1">
            <a:extLst>
              <a:ext uri="{FF2B5EF4-FFF2-40B4-BE49-F238E27FC236}">
                <a16:creationId xmlns:a16="http://schemas.microsoft.com/office/drawing/2014/main" id="{0B858688-B52C-797B-B3BF-DCA9D9EB659A}"/>
              </a:ext>
            </a:extLst>
          </p:cNvPr>
          <p:cNvSpPr txBox="1">
            <a:spLocks/>
          </p:cNvSpPr>
          <p:nvPr userDrawn="1"/>
        </p:nvSpPr>
        <p:spPr>
          <a:xfrm>
            <a:off x="239349" y="6377044"/>
            <a:ext cx="12192000" cy="360363"/>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1pPr>
            <a:lvl2pPr marL="742950" indent="-28575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2pPr>
            <a:lvl3pPr marL="11430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3pPr>
            <a:lvl4pPr marL="16002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4pPr>
            <a:lvl5pPr marL="20574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5pPr>
            <a:lvl6pPr marL="25146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6pPr>
            <a:lvl7pPr marL="29718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7pPr>
            <a:lvl8pPr marL="34290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8pPr>
            <a:lvl9pPr marL="38862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9pPr>
          </a:lstStyle>
          <a:p>
            <a:pPr eaLnBrk="1" hangingPunct="1"/>
            <a:r>
              <a:rPr lang="en-GB" sz="1600" b="0" i="0">
                <a:solidFill>
                  <a:srgbClr val="404040"/>
                </a:solidFill>
                <a:latin typeface="New Rail Alphabet Light" panose="02000503060000020004" pitchFamily="2" charset="0"/>
                <a:cs typeface="New Rail Alphabet Medium"/>
              </a:rPr>
              <a:t>  </a:t>
            </a:r>
            <a:endParaRPr lang="en-US" sz="1200" b="0" i="0">
              <a:solidFill>
                <a:srgbClr val="404040"/>
              </a:solidFill>
              <a:latin typeface="New Rail Alphabet Light" panose="02000503060000020004" pitchFamily="2" charset="0"/>
              <a:cs typeface="New Rail Alphabet Medium"/>
            </a:endParaRPr>
          </a:p>
        </p:txBody>
      </p:sp>
      <p:sp>
        <p:nvSpPr>
          <p:cNvPr id="2" name="Text Placeholder 8">
            <a:extLst>
              <a:ext uri="{FF2B5EF4-FFF2-40B4-BE49-F238E27FC236}">
                <a16:creationId xmlns:a16="http://schemas.microsoft.com/office/drawing/2014/main" id="{A48AA66C-F084-F2B5-4667-A2380BC598AC}"/>
              </a:ext>
            </a:extLst>
          </p:cNvPr>
          <p:cNvSpPr>
            <a:spLocks noGrp="1"/>
          </p:cNvSpPr>
          <p:nvPr>
            <p:ph type="body" sz="quarter" idx="12" hasCustomPrompt="1"/>
          </p:nvPr>
        </p:nvSpPr>
        <p:spPr>
          <a:xfrm>
            <a:off x="6205388" y="6453336"/>
            <a:ext cx="5761038" cy="307975"/>
          </a:xfrm>
          <a:prstGeom prst="rect">
            <a:avLst/>
          </a:prstGeom>
        </p:spPr>
        <p:txBody>
          <a:bodyPr/>
          <a:lstStyle>
            <a:lvl1pPr marL="0" indent="0" algn="r">
              <a:buNone/>
              <a:defRPr sz="1400" b="1">
                <a:solidFill>
                  <a:schemeClr val="bg1"/>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Project Name, City | Architect</a:t>
            </a:r>
            <a:endParaRPr lang="en-GB" dirty="0"/>
          </a:p>
        </p:txBody>
      </p:sp>
      <p:sp>
        <p:nvSpPr>
          <p:cNvPr id="3" name="Text Placeholder 8">
            <a:extLst>
              <a:ext uri="{FF2B5EF4-FFF2-40B4-BE49-F238E27FC236}">
                <a16:creationId xmlns:a16="http://schemas.microsoft.com/office/drawing/2014/main" id="{25B45145-FE0A-5BF4-1025-A77B6A67A279}"/>
              </a:ext>
            </a:extLst>
          </p:cNvPr>
          <p:cNvSpPr>
            <a:spLocks noGrp="1"/>
          </p:cNvSpPr>
          <p:nvPr>
            <p:ph type="body" sz="quarter" idx="16" hasCustomPrompt="1"/>
          </p:nvPr>
        </p:nvSpPr>
        <p:spPr>
          <a:xfrm>
            <a:off x="6205388" y="6211026"/>
            <a:ext cx="5761038" cy="307975"/>
          </a:xfrm>
          <a:prstGeom prst="rect">
            <a:avLst/>
          </a:prstGeom>
        </p:spPr>
        <p:txBody>
          <a:bodyPr/>
          <a:lstStyle>
            <a:lvl1pPr marL="0" indent="0" algn="r">
              <a:buNone/>
              <a:defRPr sz="1400" b="1">
                <a:solidFill>
                  <a:srgbClr val="EA560D"/>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Year Awards ─ Award</a:t>
            </a:r>
            <a:endParaRPr lang="en-GB" dirty="0"/>
          </a:p>
        </p:txBody>
      </p:sp>
      <p:pic>
        <p:nvPicPr>
          <p:cNvPr id="4" name="Graphic 3">
            <a:extLst>
              <a:ext uri="{FF2B5EF4-FFF2-40B4-BE49-F238E27FC236}">
                <a16:creationId xmlns:a16="http://schemas.microsoft.com/office/drawing/2014/main" id="{B6A1AF96-4055-A63D-E807-3E7C2DDE40E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361" y="6338001"/>
            <a:ext cx="1008000" cy="343990"/>
          </a:xfrm>
          <a:prstGeom prst="rect">
            <a:avLst/>
          </a:prstGeom>
        </p:spPr>
      </p:pic>
    </p:spTree>
    <p:extLst>
      <p:ext uri="{BB962C8B-B14F-4D97-AF65-F5344CB8AC3E}">
        <p14:creationId xmlns:p14="http://schemas.microsoft.com/office/powerpoint/2010/main" val="17452155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ject Images x2, No Gradient (for lighter pictures)">
    <p:spTree>
      <p:nvGrpSpPr>
        <p:cNvPr id="1" name=""/>
        <p:cNvGrpSpPr/>
        <p:nvPr/>
      </p:nvGrpSpPr>
      <p:grpSpPr>
        <a:xfrm>
          <a:off x="0" y="0"/>
          <a:ext cx="0" cy="0"/>
          <a:chOff x="0" y="0"/>
          <a:chExt cx="0" cy="0"/>
        </a:xfrm>
      </p:grpSpPr>
      <p:sp>
        <p:nvSpPr>
          <p:cNvPr id="4" name="Picture Placeholder 7">
            <a:extLst>
              <a:ext uri="{FF2B5EF4-FFF2-40B4-BE49-F238E27FC236}">
                <a16:creationId xmlns:a16="http://schemas.microsoft.com/office/drawing/2014/main" id="{E482F801-EC46-231B-8AAE-0A2CCA6A2E5E}"/>
              </a:ext>
            </a:extLst>
          </p:cNvPr>
          <p:cNvSpPr>
            <a:spLocks noGrp="1"/>
          </p:cNvSpPr>
          <p:nvPr>
            <p:ph type="pic" sz="quarter" idx="10"/>
          </p:nvPr>
        </p:nvSpPr>
        <p:spPr>
          <a:xfrm>
            <a:off x="0" y="0"/>
            <a:ext cx="6023992" cy="6858000"/>
          </a:xfrm>
          <a:prstGeom prst="rect">
            <a:avLst/>
          </a:prstGeom>
          <a:solidFill>
            <a:schemeClr val="tx1">
              <a:lumMod val="20000"/>
              <a:lumOff val="80000"/>
            </a:schemeClr>
          </a:solidFill>
          <a:ln>
            <a:noFill/>
          </a:ln>
        </p:spPr>
        <p:txBody>
          <a:bodyPr/>
          <a:lstStyle>
            <a:lvl1pPr marL="0" indent="0" algn="ctr">
              <a:buFontTx/>
              <a:buNone/>
              <a:defRPr sz="2800" b="0"/>
            </a:lvl1pPr>
          </a:lstStyle>
          <a:p>
            <a:r>
              <a:rPr lang="en-US"/>
              <a:t>Click icon to add picture</a:t>
            </a:r>
            <a:endParaRPr lang="en-GB" dirty="0"/>
          </a:p>
        </p:txBody>
      </p:sp>
      <p:sp>
        <p:nvSpPr>
          <p:cNvPr id="5" name="Picture Placeholder 9">
            <a:extLst>
              <a:ext uri="{FF2B5EF4-FFF2-40B4-BE49-F238E27FC236}">
                <a16:creationId xmlns:a16="http://schemas.microsoft.com/office/drawing/2014/main" id="{8313A9F8-86FA-EB35-06C2-8E6A25A74274}"/>
              </a:ext>
            </a:extLst>
          </p:cNvPr>
          <p:cNvSpPr>
            <a:spLocks noGrp="1"/>
          </p:cNvSpPr>
          <p:nvPr>
            <p:ph type="pic" sz="quarter" idx="11"/>
          </p:nvPr>
        </p:nvSpPr>
        <p:spPr>
          <a:xfrm>
            <a:off x="6096001" y="0"/>
            <a:ext cx="6095999" cy="6858000"/>
          </a:xfrm>
          <a:prstGeom prst="rect">
            <a:avLst/>
          </a:prstGeom>
          <a:solidFill>
            <a:schemeClr val="tx1">
              <a:lumMod val="20000"/>
              <a:lumOff val="80000"/>
            </a:schemeClr>
          </a:solidFill>
          <a:ln>
            <a:noFill/>
          </a:ln>
        </p:spPr>
        <p:txBody>
          <a:bodyPr/>
          <a:lstStyle>
            <a:lvl1pPr marL="0" indent="0" algn="ctr">
              <a:buFontTx/>
              <a:buNone/>
              <a:defRPr sz="2800" b="0"/>
            </a:lvl1pPr>
          </a:lstStyle>
          <a:p>
            <a:r>
              <a:rPr lang="en-US"/>
              <a:t>Click icon to add picture</a:t>
            </a:r>
            <a:endParaRPr lang="en-GB" dirty="0"/>
          </a:p>
        </p:txBody>
      </p:sp>
      <p:sp>
        <p:nvSpPr>
          <p:cNvPr id="8" name="Text Placeholder 8">
            <a:extLst>
              <a:ext uri="{FF2B5EF4-FFF2-40B4-BE49-F238E27FC236}">
                <a16:creationId xmlns:a16="http://schemas.microsoft.com/office/drawing/2014/main" id="{4E7C6935-43A8-FEFF-FB53-485706C006DC}"/>
              </a:ext>
            </a:extLst>
          </p:cNvPr>
          <p:cNvSpPr>
            <a:spLocks noGrp="1"/>
          </p:cNvSpPr>
          <p:nvPr>
            <p:ph type="body" sz="quarter" idx="12" hasCustomPrompt="1"/>
          </p:nvPr>
        </p:nvSpPr>
        <p:spPr>
          <a:xfrm>
            <a:off x="6205388" y="6453336"/>
            <a:ext cx="5761038" cy="307975"/>
          </a:xfrm>
          <a:prstGeom prst="rect">
            <a:avLst/>
          </a:prstGeom>
        </p:spPr>
        <p:txBody>
          <a:bodyPr/>
          <a:lstStyle>
            <a:lvl1pPr marL="0" indent="0" algn="r">
              <a:buNone/>
              <a:defRPr sz="1400" b="1">
                <a:solidFill>
                  <a:srgbClr val="56626F"/>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Project Name, City | Architect</a:t>
            </a:r>
            <a:endParaRPr lang="en-GB" dirty="0"/>
          </a:p>
        </p:txBody>
      </p:sp>
      <p:sp>
        <p:nvSpPr>
          <p:cNvPr id="10" name="Text Placeholder 8">
            <a:extLst>
              <a:ext uri="{FF2B5EF4-FFF2-40B4-BE49-F238E27FC236}">
                <a16:creationId xmlns:a16="http://schemas.microsoft.com/office/drawing/2014/main" id="{AA69FD0B-7D5A-8AFE-587F-22C8BC0D1D56}"/>
              </a:ext>
            </a:extLst>
          </p:cNvPr>
          <p:cNvSpPr>
            <a:spLocks noGrp="1"/>
          </p:cNvSpPr>
          <p:nvPr>
            <p:ph type="body" sz="quarter" idx="16" hasCustomPrompt="1"/>
          </p:nvPr>
        </p:nvSpPr>
        <p:spPr>
          <a:xfrm>
            <a:off x="6205388" y="6211026"/>
            <a:ext cx="5761038" cy="307975"/>
          </a:xfrm>
          <a:prstGeom prst="rect">
            <a:avLst/>
          </a:prstGeom>
        </p:spPr>
        <p:txBody>
          <a:bodyPr/>
          <a:lstStyle>
            <a:lvl1pPr marL="0" indent="0" algn="r">
              <a:buNone/>
              <a:defRPr sz="1400" b="1">
                <a:solidFill>
                  <a:srgbClr val="EA560D"/>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Year Awards ─ Award</a:t>
            </a:r>
            <a:endParaRPr lang="en-GB" dirty="0"/>
          </a:p>
        </p:txBody>
      </p:sp>
      <p:pic>
        <p:nvPicPr>
          <p:cNvPr id="3" name="Graphic 2">
            <a:extLst>
              <a:ext uri="{FF2B5EF4-FFF2-40B4-BE49-F238E27FC236}">
                <a16:creationId xmlns:a16="http://schemas.microsoft.com/office/drawing/2014/main" id="{9E43F999-5473-0508-A408-80C6C71CD02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361" y="6338001"/>
            <a:ext cx="1008000" cy="343990"/>
          </a:xfrm>
          <a:prstGeom prst="rect">
            <a:avLst/>
          </a:prstGeom>
        </p:spPr>
      </p:pic>
    </p:spTree>
    <p:extLst>
      <p:ext uri="{BB962C8B-B14F-4D97-AF65-F5344CB8AC3E}">
        <p14:creationId xmlns:p14="http://schemas.microsoft.com/office/powerpoint/2010/main" val="23416762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3931">
          <p15:clr>
            <a:srgbClr val="FBAE40"/>
          </p15:clr>
        </p15:guide>
        <p15:guide id="4" pos="374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roject Images x2 Text Left Aligne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80F8C3DF-B500-4BDB-BA5B-E76CC41B6CD8}"/>
              </a:ext>
            </a:extLst>
          </p:cNvPr>
          <p:cNvSpPr>
            <a:spLocks noGrp="1"/>
          </p:cNvSpPr>
          <p:nvPr>
            <p:ph type="pic" sz="quarter" idx="10"/>
          </p:nvPr>
        </p:nvSpPr>
        <p:spPr>
          <a:xfrm>
            <a:off x="4800600" y="-8032"/>
            <a:ext cx="7391400" cy="6858000"/>
          </a:xfrm>
          <a:prstGeom prst="rect">
            <a:avLst/>
          </a:prstGeom>
          <a:solidFill>
            <a:schemeClr val="bg1"/>
          </a:solidFill>
          <a:ln>
            <a:noFill/>
          </a:ln>
        </p:spPr>
        <p:txBody>
          <a:bodyPr/>
          <a:lstStyle>
            <a:lvl1pPr marL="0" indent="0" algn="ctr">
              <a:buFontTx/>
              <a:buNone/>
              <a:defRPr sz="2800" b="0"/>
            </a:lvl1pPr>
          </a:lstStyle>
          <a:p>
            <a:r>
              <a:rPr lang="en-US"/>
              <a:t>Click icon to add picture</a:t>
            </a:r>
            <a:endParaRPr lang="en-GB" dirty="0"/>
          </a:p>
        </p:txBody>
      </p:sp>
      <p:sp>
        <p:nvSpPr>
          <p:cNvPr id="10" name="Picture Placeholder 9">
            <a:extLst>
              <a:ext uri="{FF2B5EF4-FFF2-40B4-BE49-F238E27FC236}">
                <a16:creationId xmlns:a16="http://schemas.microsoft.com/office/drawing/2014/main" id="{FB4D35F5-5960-48E3-82D2-E517114940EF}"/>
              </a:ext>
            </a:extLst>
          </p:cNvPr>
          <p:cNvSpPr>
            <a:spLocks noGrp="1"/>
          </p:cNvSpPr>
          <p:nvPr>
            <p:ph type="pic" sz="quarter" idx="11"/>
          </p:nvPr>
        </p:nvSpPr>
        <p:spPr>
          <a:xfrm>
            <a:off x="-2456" y="0"/>
            <a:ext cx="4727847" cy="6858000"/>
          </a:xfrm>
          <a:prstGeom prst="rect">
            <a:avLst/>
          </a:prstGeom>
          <a:solidFill>
            <a:schemeClr val="bg1"/>
          </a:solidFill>
          <a:ln>
            <a:noFill/>
          </a:ln>
        </p:spPr>
        <p:txBody>
          <a:bodyPr/>
          <a:lstStyle>
            <a:lvl1pPr marL="0" indent="0" algn="ctr">
              <a:buFontTx/>
              <a:buNone/>
              <a:defRPr sz="2800" b="0"/>
            </a:lvl1pPr>
          </a:lstStyle>
          <a:p>
            <a:r>
              <a:rPr lang="en-US"/>
              <a:t>Click icon to add picture</a:t>
            </a:r>
            <a:endParaRPr lang="en-GB" dirty="0"/>
          </a:p>
        </p:txBody>
      </p:sp>
      <p:sp>
        <p:nvSpPr>
          <p:cNvPr id="4" name="Text Placeholder 8">
            <a:extLst>
              <a:ext uri="{FF2B5EF4-FFF2-40B4-BE49-F238E27FC236}">
                <a16:creationId xmlns:a16="http://schemas.microsoft.com/office/drawing/2014/main" id="{144906E6-B241-14D6-958C-4D976BB60DFA}"/>
              </a:ext>
            </a:extLst>
          </p:cNvPr>
          <p:cNvSpPr>
            <a:spLocks noGrp="1"/>
          </p:cNvSpPr>
          <p:nvPr>
            <p:ph type="body" sz="quarter" idx="12" hasCustomPrompt="1"/>
          </p:nvPr>
        </p:nvSpPr>
        <p:spPr>
          <a:xfrm>
            <a:off x="6205388" y="6453336"/>
            <a:ext cx="5761038" cy="307975"/>
          </a:xfrm>
          <a:prstGeom prst="rect">
            <a:avLst/>
          </a:prstGeom>
        </p:spPr>
        <p:txBody>
          <a:bodyPr/>
          <a:lstStyle>
            <a:lvl1pPr marL="0" indent="0" algn="r">
              <a:buNone/>
              <a:defRPr sz="1400" b="1">
                <a:solidFill>
                  <a:srgbClr val="56626F"/>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Project Name, City | Architect</a:t>
            </a:r>
            <a:endParaRPr lang="en-GB" dirty="0"/>
          </a:p>
        </p:txBody>
      </p:sp>
      <p:sp>
        <p:nvSpPr>
          <p:cNvPr id="5" name="Text Placeholder 8">
            <a:extLst>
              <a:ext uri="{FF2B5EF4-FFF2-40B4-BE49-F238E27FC236}">
                <a16:creationId xmlns:a16="http://schemas.microsoft.com/office/drawing/2014/main" id="{628579FF-A002-C90E-2769-06BC50676935}"/>
              </a:ext>
            </a:extLst>
          </p:cNvPr>
          <p:cNvSpPr>
            <a:spLocks noGrp="1"/>
          </p:cNvSpPr>
          <p:nvPr>
            <p:ph type="body" sz="quarter" idx="16" hasCustomPrompt="1"/>
          </p:nvPr>
        </p:nvSpPr>
        <p:spPr>
          <a:xfrm>
            <a:off x="6205388" y="6211026"/>
            <a:ext cx="5761038" cy="307975"/>
          </a:xfrm>
          <a:prstGeom prst="rect">
            <a:avLst/>
          </a:prstGeom>
        </p:spPr>
        <p:txBody>
          <a:bodyPr/>
          <a:lstStyle>
            <a:lvl1pPr marL="0" indent="0" algn="r">
              <a:buNone/>
              <a:defRPr sz="1400" b="1">
                <a:solidFill>
                  <a:srgbClr val="EA560D"/>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Year Awards ─ Award</a:t>
            </a:r>
            <a:endParaRPr lang="en-GB" dirty="0"/>
          </a:p>
        </p:txBody>
      </p:sp>
      <p:pic>
        <p:nvPicPr>
          <p:cNvPr id="3" name="Graphic 2">
            <a:extLst>
              <a:ext uri="{FF2B5EF4-FFF2-40B4-BE49-F238E27FC236}">
                <a16:creationId xmlns:a16="http://schemas.microsoft.com/office/drawing/2014/main" id="{BBF191A4-061C-E4E6-213C-10924E6674A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7380508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3931">
          <p15:clr>
            <a:srgbClr val="FBAE40"/>
          </p15:clr>
        </p15:guide>
        <p15:guide id="4" pos="374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roject Images x3 Text Left Aligned">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DE4ADE62-F990-6315-3248-48052103D672}"/>
              </a:ext>
            </a:extLst>
          </p:cNvPr>
          <p:cNvSpPr>
            <a:spLocks noGrp="1"/>
          </p:cNvSpPr>
          <p:nvPr>
            <p:ph type="pic" sz="quarter" idx="10"/>
          </p:nvPr>
        </p:nvSpPr>
        <p:spPr>
          <a:xfrm>
            <a:off x="4800600" y="0"/>
            <a:ext cx="7391400" cy="6858000"/>
          </a:xfrm>
          <a:prstGeom prst="rect">
            <a:avLst/>
          </a:prstGeom>
          <a:solidFill>
            <a:schemeClr val="bg1"/>
          </a:solidFill>
          <a:ln>
            <a:noFill/>
          </a:ln>
        </p:spPr>
        <p:txBody>
          <a:bodyPr/>
          <a:lstStyle>
            <a:lvl1pPr marL="0" indent="0" algn="ctr">
              <a:buFontTx/>
              <a:buNone/>
              <a:defRPr sz="2800" b="0"/>
            </a:lvl1pPr>
          </a:lstStyle>
          <a:p>
            <a:r>
              <a:rPr lang="en-US"/>
              <a:t>Click icon to add picture</a:t>
            </a:r>
            <a:endParaRPr lang="en-GB" dirty="0"/>
          </a:p>
        </p:txBody>
      </p:sp>
      <p:sp>
        <p:nvSpPr>
          <p:cNvPr id="3" name="Picture Placeholder 9">
            <a:extLst>
              <a:ext uri="{FF2B5EF4-FFF2-40B4-BE49-F238E27FC236}">
                <a16:creationId xmlns:a16="http://schemas.microsoft.com/office/drawing/2014/main" id="{26187E47-FACB-86FA-A297-62D084F0721A}"/>
              </a:ext>
            </a:extLst>
          </p:cNvPr>
          <p:cNvSpPr>
            <a:spLocks noGrp="1"/>
          </p:cNvSpPr>
          <p:nvPr>
            <p:ph type="pic" sz="quarter" idx="11"/>
          </p:nvPr>
        </p:nvSpPr>
        <p:spPr>
          <a:xfrm>
            <a:off x="0" y="0"/>
            <a:ext cx="4727847" cy="3429000"/>
          </a:xfrm>
          <a:prstGeom prst="rect">
            <a:avLst/>
          </a:prstGeom>
          <a:solidFill>
            <a:schemeClr val="bg1"/>
          </a:solidFill>
          <a:ln>
            <a:noFill/>
          </a:ln>
        </p:spPr>
        <p:txBody>
          <a:bodyPr/>
          <a:lstStyle>
            <a:lvl1pPr marL="0" indent="0" algn="ctr">
              <a:buFontTx/>
              <a:buNone/>
              <a:defRPr sz="2800" b="0"/>
            </a:lvl1pPr>
          </a:lstStyle>
          <a:p>
            <a:r>
              <a:rPr lang="en-US"/>
              <a:t>Click icon to add picture</a:t>
            </a:r>
            <a:endParaRPr lang="en-GB" dirty="0"/>
          </a:p>
        </p:txBody>
      </p:sp>
      <p:sp>
        <p:nvSpPr>
          <p:cNvPr id="6" name="Picture Placeholder 9">
            <a:extLst>
              <a:ext uri="{FF2B5EF4-FFF2-40B4-BE49-F238E27FC236}">
                <a16:creationId xmlns:a16="http://schemas.microsoft.com/office/drawing/2014/main" id="{C1B64088-1701-1EE9-972C-470A0D0A3594}"/>
              </a:ext>
            </a:extLst>
          </p:cNvPr>
          <p:cNvSpPr>
            <a:spLocks noGrp="1"/>
          </p:cNvSpPr>
          <p:nvPr>
            <p:ph type="pic" sz="quarter" idx="16"/>
          </p:nvPr>
        </p:nvSpPr>
        <p:spPr>
          <a:xfrm>
            <a:off x="0" y="3501008"/>
            <a:ext cx="4727847" cy="3356992"/>
          </a:xfrm>
          <a:prstGeom prst="rect">
            <a:avLst/>
          </a:prstGeom>
          <a:solidFill>
            <a:schemeClr val="bg1"/>
          </a:solidFill>
          <a:ln>
            <a:noFill/>
          </a:ln>
        </p:spPr>
        <p:txBody>
          <a:bodyPr/>
          <a:lstStyle>
            <a:lvl1pPr marL="0" indent="0" algn="ctr">
              <a:buFontTx/>
              <a:buNone/>
              <a:defRPr sz="2800" b="0"/>
            </a:lvl1pPr>
          </a:lstStyle>
          <a:p>
            <a:r>
              <a:rPr lang="en-US"/>
              <a:t>Click icon to add picture</a:t>
            </a:r>
            <a:endParaRPr lang="en-GB" dirty="0"/>
          </a:p>
        </p:txBody>
      </p:sp>
      <p:sp>
        <p:nvSpPr>
          <p:cNvPr id="9" name="Text Placeholder 8">
            <a:extLst>
              <a:ext uri="{FF2B5EF4-FFF2-40B4-BE49-F238E27FC236}">
                <a16:creationId xmlns:a16="http://schemas.microsoft.com/office/drawing/2014/main" id="{964886FB-4871-8EF6-B1E0-A47BF0A1F047}"/>
              </a:ext>
            </a:extLst>
          </p:cNvPr>
          <p:cNvSpPr>
            <a:spLocks noGrp="1"/>
          </p:cNvSpPr>
          <p:nvPr>
            <p:ph type="body" sz="quarter" idx="12" hasCustomPrompt="1"/>
          </p:nvPr>
        </p:nvSpPr>
        <p:spPr>
          <a:xfrm>
            <a:off x="6205388" y="6453336"/>
            <a:ext cx="5761038" cy="307975"/>
          </a:xfrm>
          <a:prstGeom prst="rect">
            <a:avLst/>
          </a:prstGeom>
        </p:spPr>
        <p:txBody>
          <a:bodyPr/>
          <a:lstStyle>
            <a:lvl1pPr marL="0" indent="0" algn="r">
              <a:buNone/>
              <a:defRPr sz="1400" b="1">
                <a:solidFill>
                  <a:srgbClr val="56626F"/>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Project Name, City | Architect</a:t>
            </a:r>
            <a:endParaRPr lang="en-GB" dirty="0"/>
          </a:p>
        </p:txBody>
      </p:sp>
      <p:sp>
        <p:nvSpPr>
          <p:cNvPr id="10" name="Text Placeholder 8">
            <a:extLst>
              <a:ext uri="{FF2B5EF4-FFF2-40B4-BE49-F238E27FC236}">
                <a16:creationId xmlns:a16="http://schemas.microsoft.com/office/drawing/2014/main" id="{12D73664-A9E7-25EB-5611-CA148DD07A4F}"/>
              </a:ext>
            </a:extLst>
          </p:cNvPr>
          <p:cNvSpPr>
            <a:spLocks noGrp="1"/>
          </p:cNvSpPr>
          <p:nvPr>
            <p:ph type="body" sz="quarter" idx="17" hasCustomPrompt="1"/>
          </p:nvPr>
        </p:nvSpPr>
        <p:spPr>
          <a:xfrm>
            <a:off x="6205388" y="6211026"/>
            <a:ext cx="5761038" cy="307975"/>
          </a:xfrm>
          <a:prstGeom prst="rect">
            <a:avLst/>
          </a:prstGeom>
        </p:spPr>
        <p:txBody>
          <a:bodyPr/>
          <a:lstStyle>
            <a:lvl1pPr marL="0" indent="0" algn="r">
              <a:buNone/>
              <a:defRPr sz="1400" b="1">
                <a:solidFill>
                  <a:srgbClr val="EA560D"/>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Year Awards ─ Award</a:t>
            </a:r>
            <a:endParaRPr lang="en-GB" dirty="0"/>
          </a:p>
        </p:txBody>
      </p:sp>
      <p:pic>
        <p:nvPicPr>
          <p:cNvPr id="5" name="Graphic 4">
            <a:extLst>
              <a:ext uri="{FF2B5EF4-FFF2-40B4-BE49-F238E27FC236}">
                <a16:creationId xmlns:a16="http://schemas.microsoft.com/office/drawing/2014/main" id="{397DBE32-8F94-CF2F-7C2C-A0D1196C1D0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36577718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3931">
          <p15:clr>
            <a:srgbClr val="FBAE40"/>
          </p15:clr>
        </p15:guide>
        <p15:guide id="4" pos="374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110E1629-1648-4E02-82F0-96435AEA0A75}"/>
              </a:ext>
            </a:extLst>
          </p:cNvPr>
          <p:cNvGraphicFramePr>
            <a:graphicFrameLocks noGrp="1"/>
          </p:cNvGraphicFramePr>
          <p:nvPr userDrawn="1">
            <p:extLst>
              <p:ext uri="{D42A27DB-BD31-4B8C-83A1-F6EECF244321}">
                <p14:modId xmlns:p14="http://schemas.microsoft.com/office/powerpoint/2010/main" val="2091564469"/>
              </p:ext>
            </p:extLst>
          </p:nvPr>
        </p:nvGraphicFramePr>
        <p:xfrm>
          <a:off x="1919536" y="2132856"/>
          <a:ext cx="8128000" cy="1483360"/>
        </p:xfrm>
        <a:graphic>
          <a:graphicData uri="http://schemas.openxmlformats.org/drawingml/2006/table">
            <a:tbl>
              <a:tblPr firstRow="1" bandRow="1"/>
              <a:tblGrid>
                <a:gridCol w="1625600">
                  <a:extLst>
                    <a:ext uri="{9D8B030D-6E8A-4147-A177-3AD203B41FA5}">
                      <a16:colId xmlns:a16="http://schemas.microsoft.com/office/drawing/2014/main" val="2029831633"/>
                    </a:ext>
                  </a:extLst>
                </a:gridCol>
                <a:gridCol w="1625600">
                  <a:extLst>
                    <a:ext uri="{9D8B030D-6E8A-4147-A177-3AD203B41FA5}">
                      <a16:colId xmlns:a16="http://schemas.microsoft.com/office/drawing/2014/main" val="3057663532"/>
                    </a:ext>
                  </a:extLst>
                </a:gridCol>
                <a:gridCol w="1625600">
                  <a:extLst>
                    <a:ext uri="{9D8B030D-6E8A-4147-A177-3AD203B41FA5}">
                      <a16:colId xmlns:a16="http://schemas.microsoft.com/office/drawing/2014/main" val="2614372082"/>
                    </a:ext>
                  </a:extLst>
                </a:gridCol>
                <a:gridCol w="1625600">
                  <a:extLst>
                    <a:ext uri="{9D8B030D-6E8A-4147-A177-3AD203B41FA5}">
                      <a16:colId xmlns:a16="http://schemas.microsoft.com/office/drawing/2014/main" val="2581056001"/>
                    </a:ext>
                  </a:extLst>
                </a:gridCol>
                <a:gridCol w="1625600">
                  <a:extLst>
                    <a:ext uri="{9D8B030D-6E8A-4147-A177-3AD203B41FA5}">
                      <a16:colId xmlns:a16="http://schemas.microsoft.com/office/drawing/2014/main" val="3119448561"/>
                    </a:ext>
                  </a:extLst>
                </a:gridCol>
              </a:tblGrid>
              <a:tr h="370840">
                <a:tc>
                  <a:txBody>
                    <a:bodyPr/>
                    <a:lstStyle/>
                    <a:p>
                      <a:r>
                        <a:rPr lang="en-GB" sz="1400" b="1" dirty="0">
                          <a:solidFill>
                            <a:schemeClr val="bg1"/>
                          </a:solidFill>
                        </a:rPr>
                        <a:t>Title</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bg2"/>
                    </a:solidFill>
                  </a:tcPr>
                </a:tc>
                <a:tc>
                  <a:txBody>
                    <a:bodyPr/>
                    <a:lstStyle/>
                    <a:p>
                      <a:r>
                        <a:rPr lang="en-GB" sz="1400" b="1" dirty="0">
                          <a:solidFill>
                            <a:schemeClr val="bg1"/>
                          </a:solidFill>
                        </a:rPr>
                        <a:t>Title</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bg2"/>
                    </a:solidFill>
                  </a:tcPr>
                </a:tc>
                <a:tc>
                  <a:txBody>
                    <a:bodyPr/>
                    <a:lstStyle/>
                    <a:p>
                      <a:r>
                        <a:rPr lang="en-GB" sz="1400" b="1" dirty="0">
                          <a:solidFill>
                            <a:schemeClr val="bg1"/>
                          </a:solidFill>
                        </a:rPr>
                        <a:t>Title</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bg2"/>
                    </a:solidFill>
                  </a:tcPr>
                </a:tc>
                <a:tc>
                  <a:txBody>
                    <a:bodyPr/>
                    <a:lstStyle/>
                    <a:p>
                      <a:r>
                        <a:rPr lang="en-GB" sz="1400" b="1" dirty="0">
                          <a:solidFill>
                            <a:schemeClr val="bg1"/>
                          </a:solidFill>
                        </a:rPr>
                        <a:t>Title</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bg2"/>
                    </a:solidFill>
                  </a:tcPr>
                </a:tc>
                <a:tc>
                  <a:txBody>
                    <a:bodyPr/>
                    <a:lstStyle/>
                    <a:p>
                      <a:r>
                        <a:rPr lang="en-GB" sz="1400" b="1" dirty="0">
                          <a:solidFill>
                            <a:schemeClr val="bg1"/>
                          </a:solidFill>
                        </a:rPr>
                        <a:t>Title</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529860090"/>
                  </a:ext>
                </a:extLst>
              </a:tr>
              <a:tr h="370840">
                <a:tc>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1891513969"/>
                  </a:ext>
                </a:extLst>
              </a:tr>
              <a:tr h="370840">
                <a:tc>
                  <a:txBody>
                    <a:bodyPr/>
                    <a:lstStyle/>
                    <a:p>
                      <a:endParaRPr lang="en-GB"/>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1621928918"/>
                  </a:ext>
                </a:extLst>
              </a:tr>
              <a:tr h="370840">
                <a:tc>
                  <a:txBody>
                    <a:bodyPr/>
                    <a:lstStyle/>
                    <a:p>
                      <a:endParaRPr lang="en-GB"/>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743404183"/>
                  </a:ext>
                </a:extLst>
              </a:tr>
            </a:tbl>
          </a:graphicData>
        </a:graphic>
      </p:graphicFrame>
      <p:pic>
        <p:nvPicPr>
          <p:cNvPr id="4" name="Graphic 3">
            <a:extLst>
              <a:ext uri="{FF2B5EF4-FFF2-40B4-BE49-F238E27FC236}">
                <a16:creationId xmlns:a16="http://schemas.microsoft.com/office/drawing/2014/main" id="{6E4A2BA7-1A5B-69DE-140F-4B86B588D27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30036996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247">
          <p15:clr>
            <a:srgbClr val="FBAE40"/>
          </p15:clr>
        </p15:guide>
        <p15:guide id="2" orient="horz" pos="397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110E1629-1648-4E02-82F0-96435AEA0A75}"/>
              </a:ext>
            </a:extLst>
          </p:cNvPr>
          <p:cNvGraphicFramePr>
            <a:graphicFrameLocks noGrp="1"/>
          </p:cNvGraphicFramePr>
          <p:nvPr userDrawn="1">
            <p:extLst>
              <p:ext uri="{D42A27DB-BD31-4B8C-83A1-F6EECF244321}">
                <p14:modId xmlns:p14="http://schemas.microsoft.com/office/powerpoint/2010/main" val="2345649643"/>
              </p:ext>
            </p:extLst>
          </p:nvPr>
        </p:nvGraphicFramePr>
        <p:xfrm>
          <a:off x="1919536" y="2060848"/>
          <a:ext cx="8128000" cy="3294842"/>
        </p:xfrm>
        <a:graphic>
          <a:graphicData uri="http://schemas.openxmlformats.org/drawingml/2006/table">
            <a:tbl>
              <a:tblPr firstRow="1" bandRow="1"/>
              <a:tblGrid>
                <a:gridCol w="1625600">
                  <a:extLst>
                    <a:ext uri="{9D8B030D-6E8A-4147-A177-3AD203B41FA5}">
                      <a16:colId xmlns:a16="http://schemas.microsoft.com/office/drawing/2014/main" val="2029831633"/>
                    </a:ext>
                  </a:extLst>
                </a:gridCol>
                <a:gridCol w="1625600">
                  <a:extLst>
                    <a:ext uri="{9D8B030D-6E8A-4147-A177-3AD203B41FA5}">
                      <a16:colId xmlns:a16="http://schemas.microsoft.com/office/drawing/2014/main" val="3057663532"/>
                    </a:ext>
                  </a:extLst>
                </a:gridCol>
                <a:gridCol w="1625600">
                  <a:extLst>
                    <a:ext uri="{9D8B030D-6E8A-4147-A177-3AD203B41FA5}">
                      <a16:colId xmlns:a16="http://schemas.microsoft.com/office/drawing/2014/main" val="2614372082"/>
                    </a:ext>
                  </a:extLst>
                </a:gridCol>
                <a:gridCol w="1625600">
                  <a:extLst>
                    <a:ext uri="{9D8B030D-6E8A-4147-A177-3AD203B41FA5}">
                      <a16:colId xmlns:a16="http://schemas.microsoft.com/office/drawing/2014/main" val="2581056001"/>
                    </a:ext>
                  </a:extLst>
                </a:gridCol>
                <a:gridCol w="1625600">
                  <a:extLst>
                    <a:ext uri="{9D8B030D-6E8A-4147-A177-3AD203B41FA5}">
                      <a16:colId xmlns:a16="http://schemas.microsoft.com/office/drawing/2014/main" val="3119448561"/>
                    </a:ext>
                  </a:extLst>
                </a:gridCol>
              </a:tblGrid>
              <a:tr h="370840">
                <a:tc rowSpan="3">
                  <a:txBody>
                    <a:bodyPr/>
                    <a:lstStyle/>
                    <a:p>
                      <a:r>
                        <a:rPr lang="en-GB" sz="1400" b="1" dirty="0">
                          <a:solidFill>
                            <a:schemeClr val="bg1"/>
                          </a:solidFill>
                        </a:rPr>
                        <a:t>Title</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bg2"/>
                    </a:solidFill>
                  </a:tcPr>
                </a:tc>
                <a:tc>
                  <a:txBody>
                    <a:bodyPr/>
                    <a:lstStyle/>
                    <a:p>
                      <a:r>
                        <a:rPr lang="en-GB" sz="1400" b="1" dirty="0">
                          <a:solidFill>
                            <a:schemeClr val="bg2"/>
                          </a:solidFill>
                        </a:rPr>
                        <a:t>Title or </a:t>
                      </a:r>
                      <a:r>
                        <a:rPr lang="en-GB" sz="1400" b="0" dirty="0">
                          <a:solidFill>
                            <a:schemeClr val="bg2"/>
                          </a:solidFill>
                        </a:rPr>
                        <a:t>cell text</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b="1" dirty="0">
                          <a:solidFill>
                            <a:schemeClr val="bg2"/>
                          </a:solidFill>
                        </a:rPr>
                        <a:t>Title or </a:t>
                      </a:r>
                      <a:r>
                        <a:rPr lang="en-GB" sz="1400" b="0" dirty="0">
                          <a:solidFill>
                            <a:schemeClr val="bg2"/>
                          </a:solidFill>
                        </a:rPr>
                        <a:t>cell text</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b="1" dirty="0">
                          <a:solidFill>
                            <a:schemeClr val="bg2"/>
                          </a:solidFill>
                        </a:rPr>
                        <a:t>Title or </a:t>
                      </a:r>
                      <a:r>
                        <a:rPr lang="en-GB" sz="1400" b="0" dirty="0">
                          <a:solidFill>
                            <a:schemeClr val="bg2"/>
                          </a:solidFill>
                        </a:rPr>
                        <a:t>cell text</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b="1" dirty="0">
                          <a:solidFill>
                            <a:schemeClr val="bg2"/>
                          </a:solidFill>
                        </a:rPr>
                        <a:t>Title or </a:t>
                      </a:r>
                      <a:r>
                        <a:rPr lang="en-GB" sz="1400" b="0" dirty="0">
                          <a:solidFill>
                            <a:schemeClr val="bg2"/>
                          </a:solidFill>
                        </a:rPr>
                        <a:t>cell text</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2529860090"/>
                  </a:ext>
                </a:extLst>
              </a:tr>
              <a:tr h="370840">
                <a:tc vMerge="1">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1891513969"/>
                  </a:ext>
                </a:extLst>
              </a:tr>
              <a:tr h="370840">
                <a:tc vMerge="1">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1621928918"/>
                  </a:ext>
                </a:extLst>
              </a:tr>
              <a:tr h="370840">
                <a:tc rowSpan="3">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b="1" dirty="0">
                          <a:solidFill>
                            <a:schemeClr val="bg1"/>
                          </a:solidFill>
                        </a:rPr>
                        <a:t>Title</a:t>
                      </a:r>
                    </a:p>
                    <a:p>
                      <a:endParaRPr lang="en-GB" sz="1400" dirty="0"/>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bg2"/>
                    </a:solidFill>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743404183"/>
                  </a:ext>
                </a:extLst>
              </a:tr>
              <a:tr h="370840">
                <a:tc vMerge="1">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917321246"/>
                  </a:ext>
                </a:extLst>
              </a:tr>
              <a:tr h="370840">
                <a:tc vMerge="1">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726734990"/>
                  </a:ext>
                </a:extLst>
              </a:tr>
              <a:tr h="460202">
                <a:tc rowSpan="3">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b="1" dirty="0">
                          <a:solidFill>
                            <a:schemeClr val="bg1"/>
                          </a:solidFill>
                        </a:rPr>
                        <a:t>Title</a:t>
                      </a:r>
                    </a:p>
                    <a:p>
                      <a:endParaRPr lang="en-GB" sz="1400" dirty="0"/>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bg2"/>
                    </a:solidFill>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2178860039"/>
                  </a:ext>
                </a:extLst>
              </a:tr>
              <a:tr h="233378">
                <a:tc vMerge="1">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3512043558"/>
                  </a:ext>
                </a:extLst>
              </a:tr>
              <a:tr h="233378">
                <a:tc vMerge="1">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2591906669"/>
                  </a:ext>
                </a:extLst>
              </a:tr>
            </a:tbl>
          </a:graphicData>
        </a:graphic>
      </p:graphicFrame>
      <p:pic>
        <p:nvPicPr>
          <p:cNvPr id="4" name="Graphic 3">
            <a:extLst>
              <a:ext uri="{FF2B5EF4-FFF2-40B4-BE49-F238E27FC236}">
                <a16:creationId xmlns:a16="http://schemas.microsoft.com/office/drawing/2014/main" id="{155F102E-C91C-10AD-5E33-C9C86CC6B1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39198391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247">
          <p15:clr>
            <a:srgbClr val="FBAE40"/>
          </p15:clr>
        </p15:guide>
        <p15:guide id="2" orient="horz" pos="397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3">
    <p:spTree>
      <p:nvGrpSpPr>
        <p:cNvPr id="1" name=""/>
        <p:cNvGrpSpPr/>
        <p:nvPr/>
      </p:nvGrpSpPr>
      <p:grpSpPr>
        <a:xfrm>
          <a:off x="0" y="0"/>
          <a:ext cx="0" cy="0"/>
          <a:chOff x="0" y="0"/>
          <a:chExt cx="0" cy="0"/>
        </a:xfrm>
      </p:grpSpPr>
      <p:graphicFrame>
        <p:nvGraphicFramePr>
          <p:cNvPr id="2" name="Table 8">
            <a:extLst>
              <a:ext uri="{FF2B5EF4-FFF2-40B4-BE49-F238E27FC236}">
                <a16:creationId xmlns:a16="http://schemas.microsoft.com/office/drawing/2014/main" id="{110E1629-1648-4E02-82F0-96435AEA0A75}"/>
              </a:ext>
            </a:extLst>
          </p:cNvPr>
          <p:cNvGraphicFramePr>
            <a:graphicFrameLocks noGrp="1"/>
          </p:cNvGraphicFramePr>
          <p:nvPr userDrawn="1">
            <p:extLst>
              <p:ext uri="{D42A27DB-BD31-4B8C-83A1-F6EECF244321}">
                <p14:modId xmlns:p14="http://schemas.microsoft.com/office/powerpoint/2010/main" val="3677763892"/>
              </p:ext>
            </p:extLst>
          </p:nvPr>
        </p:nvGraphicFramePr>
        <p:xfrm>
          <a:off x="1919536" y="2060848"/>
          <a:ext cx="8128000" cy="3665682"/>
        </p:xfrm>
        <a:graphic>
          <a:graphicData uri="http://schemas.openxmlformats.org/drawingml/2006/table">
            <a:tbl>
              <a:tblPr firstRow="1" bandRow="1"/>
              <a:tblGrid>
                <a:gridCol w="1625600">
                  <a:extLst>
                    <a:ext uri="{9D8B030D-6E8A-4147-A177-3AD203B41FA5}">
                      <a16:colId xmlns:a16="http://schemas.microsoft.com/office/drawing/2014/main" val="2029831633"/>
                    </a:ext>
                  </a:extLst>
                </a:gridCol>
                <a:gridCol w="1625600">
                  <a:extLst>
                    <a:ext uri="{9D8B030D-6E8A-4147-A177-3AD203B41FA5}">
                      <a16:colId xmlns:a16="http://schemas.microsoft.com/office/drawing/2014/main" val="3057663532"/>
                    </a:ext>
                  </a:extLst>
                </a:gridCol>
                <a:gridCol w="1625600">
                  <a:extLst>
                    <a:ext uri="{9D8B030D-6E8A-4147-A177-3AD203B41FA5}">
                      <a16:colId xmlns:a16="http://schemas.microsoft.com/office/drawing/2014/main" val="2614372082"/>
                    </a:ext>
                  </a:extLst>
                </a:gridCol>
                <a:gridCol w="1625600">
                  <a:extLst>
                    <a:ext uri="{9D8B030D-6E8A-4147-A177-3AD203B41FA5}">
                      <a16:colId xmlns:a16="http://schemas.microsoft.com/office/drawing/2014/main" val="2581056001"/>
                    </a:ext>
                  </a:extLst>
                </a:gridCol>
                <a:gridCol w="1625600">
                  <a:extLst>
                    <a:ext uri="{9D8B030D-6E8A-4147-A177-3AD203B41FA5}">
                      <a16:colId xmlns:a16="http://schemas.microsoft.com/office/drawing/2014/main" val="3119448561"/>
                    </a:ext>
                  </a:extLst>
                </a:gridCol>
              </a:tblGrid>
              <a:tr h="370840">
                <a:tc>
                  <a:txBody>
                    <a:bodyPr/>
                    <a:lstStyle/>
                    <a:p>
                      <a:r>
                        <a:rPr lang="en-GB" sz="1400" b="1" dirty="0">
                          <a:solidFill>
                            <a:schemeClr val="bg1"/>
                          </a:solidFill>
                        </a:rPr>
                        <a:t>Title</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bg2"/>
                    </a:solidFill>
                  </a:tcPr>
                </a:tc>
                <a:tc>
                  <a:txBody>
                    <a:bodyPr/>
                    <a:lstStyle/>
                    <a:p>
                      <a:r>
                        <a:rPr lang="en-GB" sz="1400" b="1" dirty="0">
                          <a:solidFill>
                            <a:schemeClr val="bg1"/>
                          </a:solidFill>
                        </a:rPr>
                        <a:t>Title</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bg2"/>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b="1" dirty="0">
                          <a:solidFill>
                            <a:schemeClr val="bg1"/>
                          </a:solidFill>
                        </a:rPr>
                        <a:t>Title</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bg2"/>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b="1" dirty="0">
                          <a:solidFill>
                            <a:schemeClr val="bg1"/>
                          </a:solidFill>
                        </a:rPr>
                        <a:t>Title</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bg2"/>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b="1" dirty="0">
                          <a:solidFill>
                            <a:schemeClr val="bg1"/>
                          </a:solidFill>
                        </a:rPr>
                        <a:t>Title</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449654206"/>
                  </a:ext>
                </a:extLst>
              </a:tr>
              <a:tr h="370840">
                <a:tc rowSpan="3">
                  <a:txBody>
                    <a:bodyPr/>
                    <a:lstStyle/>
                    <a:p>
                      <a:r>
                        <a:rPr lang="en-GB" sz="1400" b="1" dirty="0">
                          <a:solidFill>
                            <a:schemeClr val="bg2"/>
                          </a:solidFill>
                        </a:rPr>
                        <a:t>Title</a:t>
                      </a: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tx1">
                        <a:lumMod val="20000"/>
                        <a:lumOff val="80000"/>
                      </a:schemeClr>
                    </a:solidFill>
                  </a:tcPr>
                </a:tc>
                <a:tc>
                  <a:txBody>
                    <a:bodyPr/>
                    <a:lstStyle/>
                    <a:p>
                      <a:endParaRPr lang="en-GB" sz="1400" b="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GB" sz="1400" b="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GB" sz="1400" b="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GB" sz="1400" b="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2529860090"/>
                  </a:ext>
                </a:extLst>
              </a:tr>
              <a:tr h="370840">
                <a:tc vMerge="1">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1891513969"/>
                  </a:ext>
                </a:extLst>
              </a:tr>
              <a:tr h="370840">
                <a:tc vMerge="1">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1621928918"/>
                  </a:ext>
                </a:extLst>
              </a:tr>
              <a:tr h="370840">
                <a:tc rowSpan="3">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b="1" dirty="0">
                          <a:solidFill>
                            <a:schemeClr val="bg2"/>
                          </a:solidFill>
                        </a:rPr>
                        <a:t>Title</a:t>
                      </a:r>
                    </a:p>
                    <a:p>
                      <a:endParaRPr lang="en-GB" sz="1400" dirty="0">
                        <a:solidFill>
                          <a:schemeClr val="bg2"/>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tx1">
                        <a:lumMod val="20000"/>
                        <a:lumOff val="80000"/>
                      </a:schemeClr>
                    </a:solidFill>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743404183"/>
                  </a:ext>
                </a:extLst>
              </a:tr>
              <a:tr h="370840">
                <a:tc vMerge="1">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917321246"/>
                  </a:ext>
                </a:extLst>
              </a:tr>
              <a:tr h="370840">
                <a:tc vMerge="1">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726734990"/>
                  </a:ext>
                </a:extLst>
              </a:tr>
              <a:tr h="460202">
                <a:tc rowSpan="3">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b="1" dirty="0">
                          <a:solidFill>
                            <a:schemeClr val="bg2"/>
                          </a:solidFill>
                        </a:rPr>
                        <a:t>Title</a:t>
                      </a:r>
                    </a:p>
                    <a:p>
                      <a:endParaRPr lang="en-GB" sz="1400" dirty="0">
                        <a:solidFill>
                          <a:schemeClr val="bg2"/>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solidFill>
                      <a:schemeClr val="tx1">
                        <a:lumMod val="20000"/>
                        <a:lumOff val="80000"/>
                      </a:schemeClr>
                    </a:solidFill>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2178860039"/>
                  </a:ext>
                </a:extLst>
              </a:tr>
              <a:tr h="233378">
                <a:tc vMerge="1">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3512043558"/>
                  </a:ext>
                </a:extLst>
              </a:tr>
              <a:tr h="233378">
                <a:tc vMerge="1">
                  <a:txBody>
                    <a:bodyPr/>
                    <a:lstStyle/>
                    <a:p>
                      <a:endParaRPr lang="en-GB" dirty="0"/>
                    </a:p>
                  </a:txBody>
                  <a:tcP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endParaRPr lang="en-GB" sz="1400" dirty="0">
                        <a:solidFill>
                          <a:schemeClr val="tx1"/>
                        </a:solidFill>
                      </a:endParaRPr>
                    </a:p>
                  </a:txBody>
                  <a:tcPr anchor="ctr">
                    <a:lnL w="12700" cap="flat" cmpd="sng" algn="ctr">
                      <a:solidFill>
                        <a:schemeClr val="tx1">
                          <a:lumMod val="60000"/>
                          <a:lumOff val="40000"/>
                        </a:schemeClr>
                      </a:solidFill>
                      <a:prstDash val="solid"/>
                      <a:round/>
                      <a:headEnd type="none" w="med" len="med"/>
                      <a:tailEnd type="none" w="med" len="med"/>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2591906669"/>
                  </a:ext>
                </a:extLst>
              </a:tr>
            </a:tbl>
          </a:graphicData>
        </a:graphic>
      </p:graphicFrame>
      <p:pic>
        <p:nvPicPr>
          <p:cNvPr id="4" name="Graphic 3">
            <a:extLst>
              <a:ext uri="{FF2B5EF4-FFF2-40B4-BE49-F238E27FC236}">
                <a16:creationId xmlns:a16="http://schemas.microsoft.com/office/drawing/2014/main" id="{E9B72973-E281-EB4F-008C-30308421F6E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37280421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247">
          <p15:clr>
            <a:srgbClr val="FBAE40"/>
          </p15:clr>
        </p15:guide>
        <p15:guide id="2" orient="horz" pos="397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Subheader">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E926421-C844-5D0F-1D6E-8EAAAD77721D}"/>
              </a:ext>
            </a:extLst>
          </p:cNvPr>
          <p:cNvSpPr>
            <a:spLocks noGrp="1"/>
          </p:cNvSpPr>
          <p:nvPr>
            <p:ph type="body" sz="quarter" idx="10"/>
          </p:nvPr>
        </p:nvSpPr>
        <p:spPr>
          <a:xfrm>
            <a:off x="335360" y="260648"/>
            <a:ext cx="11521279" cy="507831"/>
          </a:xfrm>
          <a:prstGeom prst="rect">
            <a:avLst/>
          </a:prstGeom>
        </p:spPr>
        <p:txBody>
          <a:bodyPr wrap="square" lIns="0">
            <a:spAutoFit/>
          </a:bodyPr>
          <a:lstStyle>
            <a:lvl1pPr marL="0" indent="0">
              <a:buNone/>
              <a:defRPr sz="3000" b="1">
                <a:solidFill>
                  <a:srgbClr val="EA560D"/>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5" name="Text Placeholder 24">
            <a:extLst>
              <a:ext uri="{FF2B5EF4-FFF2-40B4-BE49-F238E27FC236}">
                <a16:creationId xmlns:a16="http://schemas.microsoft.com/office/drawing/2014/main" id="{45704CC9-A005-C937-CAD3-68085734431D}"/>
              </a:ext>
            </a:extLst>
          </p:cNvPr>
          <p:cNvSpPr>
            <a:spLocks noGrp="1"/>
          </p:cNvSpPr>
          <p:nvPr>
            <p:ph type="body" sz="quarter" idx="12"/>
          </p:nvPr>
        </p:nvSpPr>
        <p:spPr>
          <a:xfrm>
            <a:off x="335359" y="891713"/>
            <a:ext cx="11521279" cy="286232"/>
          </a:xfrm>
          <a:prstGeom prst="rect">
            <a:avLst/>
          </a:prstGeom>
        </p:spPr>
        <p:txBody>
          <a:bodyPr lIns="0">
            <a:spAutoFit/>
          </a:bodyPr>
          <a:lstStyle>
            <a:lvl1pPr marL="0" indent="0">
              <a:buFont typeface="Arial" panose="020B0604020202020204" pitchFamily="34" charset="0"/>
              <a:buNone/>
              <a:defRPr sz="1400">
                <a:solidFill>
                  <a:srgbClr val="56626F"/>
                </a:solidFill>
                <a:latin typeface="Arial" panose="020B0604020202020204" pitchFamily="34" charset="0"/>
                <a:cs typeface="Arial" panose="020B0604020202020204" pitchFamily="34" charset="0"/>
              </a:defRPr>
            </a:lvl1pPr>
            <a:lvl2pPr marL="7429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2pPr>
            <a:lvl3pPr marL="12001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3pPr>
            <a:lvl4pPr marL="16573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4pPr>
            <a:lvl5pPr marL="1828800" indent="0">
              <a:buNone/>
              <a:defRPr sz="1400">
                <a:solidFill>
                  <a:srgbClr val="56626F"/>
                </a:solidFill>
                <a:latin typeface="Arial" panose="020B0604020202020204" pitchFamily="34" charset="0"/>
                <a:cs typeface="Arial" panose="020B0604020202020204" pitchFamily="34" charset="0"/>
              </a:defRPr>
            </a:lvl5pPr>
          </a:lstStyle>
          <a:p>
            <a:pPr lvl="0"/>
            <a:r>
              <a:rPr lang="en-US"/>
              <a:t>Click to edit Master text styles</a:t>
            </a:r>
          </a:p>
        </p:txBody>
      </p:sp>
      <p:pic>
        <p:nvPicPr>
          <p:cNvPr id="6" name="Graphic 5">
            <a:extLst>
              <a:ext uri="{FF2B5EF4-FFF2-40B4-BE49-F238E27FC236}">
                <a16:creationId xmlns:a16="http://schemas.microsoft.com/office/drawing/2014/main" id="{43B910D2-38E0-BDDB-16FD-74395A00860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9154316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2 Subheaders">
    <p:spTree>
      <p:nvGrpSpPr>
        <p:cNvPr id="1" name=""/>
        <p:cNvGrpSpPr/>
        <p:nvPr/>
      </p:nvGrpSpPr>
      <p:grpSpPr>
        <a:xfrm>
          <a:off x="0" y="0"/>
          <a:ext cx="0" cy="0"/>
          <a:chOff x="0" y="0"/>
          <a:chExt cx="0" cy="0"/>
        </a:xfrm>
      </p:grpSpPr>
      <p:sp>
        <p:nvSpPr>
          <p:cNvPr id="3" name="Text Placeholder 24">
            <a:extLst>
              <a:ext uri="{FF2B5EF4-FFF2-40B4-BE49-F238E27FC236}">
                <a16:creationId xmlns:a16="http://schemas.microsoft.com/office/drawing/2014/main" id="{BE487DA5-86A9-4057-5F9E-4DE6ECEE65EA}"/>
              </a:ext>
            </a:extLst>
          </p:cNvPr>
          <p:cNvSpPr>
            <a:spLocks noGrp="1"/>
          </p:cNvSpPr>
          <p:nvPr>
            <p:ph type="body" sz="quarter" idx="14"/>
          </p:nvPr>
        </p:nvSpPr>
        <p:spPr>
          <a:xfrm>
            <a:off x="6210927" y="891713"/>
            <a:ext cx="5645714" cy="286232"/>
          </a:xfrm>
          <a:prstGeom prst="rect">
            <a:avLst/>
          </a:prstGeom>
        </p:spPr>
        <p:txBody>
          <a:bodyPr lIns="0">
            <a:spAutoFit/>
          </a:bodyPr>
          <a:lstStyle>
            <a:lvl1pPr marL="0" indent="0">
              <a:buFont typeface="Arial" panose="020B0604020202020204" pitchFamily="34" charset="0"/>
              <a:buNone/>
              <a:defRPr sz="1400">
                <a:solidFill>
                  <a:srgbClr val="56626F"/>
                </a:solidFill>
                <a:latin typeface="Arial" panose="020B0604020202020204" pitchFamily="34" charset="0"/>
                <a:cs typeface="Arial" panose="020B0604020202020204" pitchFamily="34" charset="0"/>
              </a:defRPr>
            </a:lvl1pPr>
            <a:lvl2pPr marL="7429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2pPr>
            <a:lvl3pPr marL="12001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3pPr>
            <a:lvl4pPr marL="16573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4pPr>
            <a:lvl5pPr marL="1828800" indent="0">
              <a:buNone/>
              <a:defRPr sz="1400">
                <a:solidFill>
                  <a:srgbClr val="56626F"/>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4" name="Text Placeholder 17">
            <a:extLst>
              <a:ext uri="{FF2B5EF4-FFF2-40B4-BE49-F238E27FC236}">
                <a16:creationId xmlns:a16="http://schemas.microsoft.com/office/drawing/2014/main" id="{9951CE57-92F5-679E-7CBB-D1973BE43DF9}"/>
              </a:ext>
            </a:extLst>
          </p:cNvPr>
          <p:cNvSpPr>
            <a:spLocks noGrp="1"/>
          </p:cNvSpPr>
          <p:nvPr>
            <p:ph type="body" sz="quarter" idx="10"/>
          </p:nvPr>
        </p:nvSpPr>
        <p:spPr>
          <a:xfrm>
            <a:off x="335360" y="260648"/>
            <a:ext cx="11521279" cy="507831"/>
          </a:xfrm>
          <a:prstGeom prst="rect">
            <a:avLst/>
          </a:prstGeom>
        </p:spPr>
        <p:txBody>
          <a:bodyPr wrap="square" lIns="0">
            <a:spAutoFit/>
          </a:bodyPr>
          <a:lstStyle>
            <a:lvl1pPr marL="0" indent="0">
              <a:buNone/>
              <a:defRPr sz="3000" b="1">
                <a:solidFill>
                  <a:srgbClr val="EA560D"/>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 name="Text Placeholder 24">
            <a:extLst>
              <a:ext uri="{FF2B5EF4-FFF2-40B4-BE49-F238E27FC236}">
                <a16:creationId xmlns:a16="http://schemas.microsoft.com/office/drawing/2014/main" id="{6B23C1F2-5B6C-50C7-B2E5-AA44EA6CF41F}"/>
              </a:ext>
            </a:extLst>
          </p:cNvPr>
          <p:cNvSpPr>
            <a:spLocks noGrp="1"/>
          </p:cNvSpPr>
          <p:nvPr>
            <p:ph type="body" sz="quarter" idx="15"/>
          </p:nvPr>
        </p:nvSpPr>
        <p:spPr>
          <a:xfrm>
            <a:off x="335360" y="897755"/>
            <a:ext cx="5645714" cy="286232"/>
          </a:xfrm>
          <a:prstGeom prst="rect">
            <a:avLst/>
          </a:prstGeom>
        </p:spPr>
        <p:txBody>
          <a:bodyPr lIns="0">
            <a:spAutoFit/>
          </a:bodyPr>
          <a:lstStyle>
            <a:lvl1pPr marL="0" indent="0">
              <a:buFont typeface="Arial" panose="020B0604020202020204" pitchFamily="34" charset="0"/>
              <a:buNone/>
              <a:defRPr sz="1400">
                <a:solidFill>
                  <a:srgbClr val="56626F"/>
                </a:solidFill>
                <a:latin typeface="Arial" panose="020B0604020202020204" pitchFamily="34" charset="0"/>
                <a:cs typeface="Arial" panose="020B0604020202020204" pitchFamily="34" charset="0"/>
              </a:defRPr>
            </a:lvl1pPr>
            <a:lvl2pPr marL="7429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2pPr>
            <a:lvl3pPr marL="12001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3pPr>
            <a:lvl4pPr marL="16573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4pPr>
            <a:lvl5pPr marL="1828800" indent="0">
              <a:buNone/>
              <a:defRPr sz="1400">
                <a:solidFill>
                  <a:srgbClr val="56626F"/>
                </a:solidFill>
                <a:latin typeface="Arial" panose="020B0604020202020204" pitchFamily="34" charset="0"/>
                <a:cs typeface="Arial" panose="020B0604020202020204" pitchFamily="34" charset="0"/>
              </a:defRPr>
            </a:lvl5pPr>
          </a:lstStyle>
          <a:p>
            <a:pPr lvl="0"/>
            <a:r>
              <a:rPr lang="en-US"/>
              <a:t>Click to edit Master text styles</a:t>
            </a:r>
          </a:p>
        </p:txBody>
      </p:sp>
      <p:pic>
        <p:nvPicPr>
          <p:cNvPr id="7" name="Graphic 6">
            <a:extLst>
              <a:ext uri="{FF2B5EF4-FFF2-40B4-BE49-F238E27FC236}">
                <a16:creationId xmlns:a16="http://schemas.microsoft.com/office/drawing/2014/main" id="{E253B12F-D351-1047-AC37-8262A0AD24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9180150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Header,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82A20C1-0DB3-FBA6-D2A4-C7EADF7EF35B}"/>
              </a:ext>
            </a:extLst>
          </p:cNvPr>
          <p:cNvSpPr>
            <a:spLocks noGrp="1"/>
          </p:cNvSpPr>
          <p:nvPr>
            <p:ph type="pic" sz="quarter" idx="16"/>
          </p:nvPr>
        </p:nvSpPr>
        <p:spPr>
          <a:xfrm>
            <a:off x="6210927" y="891713"/>
            <a:ext cx="5646737" cy="5446750"/>
          </a:xfrm>
          <a:prstGeom prst="rect">
            <a:avLst/>
          </a:prstGeom>
        </p:spPr>
        <p:txBody>
          <a:bodyPr/>
          <a:lstStyle>
            <a:lvl1pPr marL="0" indent="0">
              <a:buNone/>
              <a:defRPr>
                <a:solidFill>
                  <a:srgbClr val="EA560D"/>
                </a:solidFill>
                <a:latin typeface="Arial" panose="020B0604020202020204" pitchFamily="34" charset="0"/>
                <a:cs typeface="Arial" panose="020B0604020202020204" pitchFamily="34" charset="0"/>
              </a:defRPr>
            </a:lvl1pPr>
          </a:lstStyle>
          <a:p>
            <a:r>
              <a:rPr lang="en-US"/>
              <a:t>Click icon to add picture</a:t>
            </a:r>
            <a:endParaRPr lang="en-GB" dirty="0"/>
          </a:p>
        </p:txBody>
      </p:sp>
      <p:sp>
        <p:nvSpPr>
          <p:cNvPr id="3" name="Text Placeholder 17">
            <a:extLst>
              <a:ext uri="{FF2B5EF4-FFF2-40B4-BE49-F238E27FC236}">
                <a16:creationId xmlns:a16="http://schemas.microsoft.com/office/drawing/2014/main" id="{6910920F-8847-37C8-B96F-8CD65B47F711}"/>
              </a:ext>
            </a:extLst>
          </p:cNvPr>
          <p:cNvSpPr>
            <a:spLocks noGrp="1"/>
          </p:cNvSpPr>
          <p:nvPr>
            <p:ph type="body" sz="quarter" idx="10"/>
          </p:nvPr>
        </p:nvSpPr>
        <p:spPr>
          <a:xfrm>
            <a:off x="335360" y="260648"/>
            <a:ext cx="11521279" cy="507831"/>
          </a:xfrm>
          <a:prstGeom prst="rect">
            <a:avLst/>
          </a:prstGeom>
        </p:spPr>
        <p:txBody>
          <a:bodyPr wrap="square" lIns="0">
            <a:spAutoFit/>
          </a:bodyPr>
          <a:lstStyle>
            <a:lvl1pPr marL="0" indent="0">
              <a:buNone/>
              <a:defRPr sz="3000" b="1">
                <a:solidFill>
                  <a:srgbClr val="EA560D"/>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 name="Text Placeholder 24">
            <a:extLst>
              <a:ext uri="{FF2B5EF4-FFF2-40B4-BE49-F238E27FC236}">
                <a16:creationId xmlns:a16="http://schemas.microsoft.com/office/drawing/2014/main" id="{697DD1F2-0D38-2CAD-8805-6616A7BC241A}"/>
              </a:ext>
            </a:extLst>
          </p:cNvPr>
          <p:cNvSpPr>
            <a:spLocks noGrp="1"/>
          </p:cNvSpPr>
          <p:nvPr>
            <p:ph type="body" sz="quarter" idx="15"/>
          </p:nvPr>
        </p:nvSpPr>
        <p:spPr>
          <a:xfrm>
            <a:off x="335360" y="897755"/>
            <a:ext cx="5645714" cy="286232"/>
          </a:xfrm>
          <a:prstGeom prst="rect">
            <a:avLst/>
          </a:prstGeom>
        </p:spPr>
        <p:txBody>
          <a:bodyPr lIns="0">
            <a:spAutoFit/>
          </a:bodyPr>
          <a:lstStyle>
            <a:lvl1pPr marL="0" indent="0">
              <a:buFont typeface="Arial" panose="020B0604020202020204" pitchFamily="34" charset="0"/>
              <a:buNone/>
              <a:defRPr sz="1400">
                <a:solidFill>
                  <a:srgbClr val="56626F"/>
                </a:solidFill>
                <a:latin typeface="Arial" panose="020B0604020202020204" pitchFamily="34" charset="0"/>
                <a:cs typeface="Arial" panose="020B0604020202020204" pitchFamily="34" charset="0"/>
              </a:defRPr>
            </a:lvl1pPr>
            <a:lvl2pPr marL="7429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2pPr>
            <a:lvl3pPr marL="12001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3pPr>
            <a:lvl4pPr marL="1657350" indent="-285750">
              <a:buFont typeface="Arial" panose="020B0604020202020204" pitchFamily="34" charset="0"/>
              <a:buChar char="•"/>
              <a:defRPr sz="1400">
                <a:solidFill>
                  <a:srgbClr val="56626F"/>
                </a:solidFill>
                <a:latin typeface="Arial" panose="020B0604020202020204" pitchFamily="34" charset="0"/>
                <a:cs typeface="Arial" panose="020B0604020202020204" pitchFamily="34" charset="0"/>
              </a:defRPr>
            </a:lvl4pPr>
            <a:lvl5pPr marL="1828800" indent="0">
              <a:buNone/>
              <a:defRPr sz="1400">
                <a:solidFill>
                  <a:srgbClr val="56626F"/>
                </a:solidFill>
                <a:latin typeface="Arial" panose="020B0604020202020204" pitchFamily="34" charset="0"/>
                <a:cs typeface="Arial" panose="020B0604020202020204" pitchFamily="34" charset="0"/>
              </a:defRPr>
            </a:lvl5pPr>
          </a:lstStyle>
          <a:p>
            <a:pPr lvl="0"/>
            <a:r>
              <a:rPr lang="en-US"/>
              <a:t>Click to edit Master text styles</a:t>
            </a:r>
          </a:p>
        </p:txBody>
      </p:sp>
      <p:pic>
        <p:nvPicPr>
          <p:cNvPr id="5" name="Graphic 4">
            <a:extLst>
              <a:ext uri="{FF2B5EF4-FFF2-40B4-BE49-F238E27FC236}">
                <a16:creationId xmlns:a16="http://schemas.microsoft.com/office/drawing/2014/main" id="{BA97BCA6-88E7-8E32-159B-226C8E29D29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898804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Grid Background">
    <p:spTree>
      <p:nvGrpSpPr>
        <p:cNvPr id="1" name=""/>
        <p:cNvGrpSpPr/>
        <p:nvPr/>
      </p:nvGrpSpPr>
      <p:grpSpPr>
        <a:xfrm>
          <a:off x="0" y="0"/>
          <a:ext cx="0" cy="0"/>
          <a:chOff x="0" y="0"/>
          <a:chExt cx="0" cy="0"/>
        </a:xfrm>
      </p:grpSpPr>
      <p:sp>
        <p:nvSpPr>
          <p:cNvPr id="3" name="Text Placeholder 17">
            <a:extLst>
              <a:ext uri="{FF2B5EF4-FFF2-40B4-BE49-F238E27FC236}">
                <a16:creationId xmlns:a16="http://schemas.microsoft.com/office/drawing/2014/main" id="{DCBA6AA3-F850-3E3E-7779-75333C0BF534}"/>
              </a:ext>
            </a:extLst>
          </p:cNvPr>
          <p:cNvSpPr>
            <a:spLocks noGrp="1"/>
          </p:cNvSpPr>
          <p:nvPr>
            <p:ph type="body" sz="quarter" idx="10"/>
          </p:nvPr>
        </p:nvSpPr>
        <p:spPr>
          <a:xfrm>
            <a:off x="335360" y="260648"/>
            <a:ext cx="11521279" cy="507831"/>
          </a:xfrm>
          <a:prstGeom prst="rect">
            <a:avLst/>
          </a:prstGeom>
        </p:spPr>
        <p:txBody>
          <a:bodyPr wrap="square" lIns="0">
            <a:spAutoFit/>
          </a:bodyPr>
          <a:lstStyle>
            <a:lvl1pPr marL="0" indent="0">
              <a:buNone/>
              <a:defRPr sz="3000" b="1">
                <a:solidFill>
                  <a:srgbClr val="EA560D"/>
                </a:solidFill>
                <a:latin typeface="Arial" panose="020B0604020202020204" pitchFamily="34" charset="0"/>
                <a:cs typeface="Arial" panose="020B0604020202020204" pitchFamily="34" charset="0"/>
              </a:defRPr>
            </a:lvl1pPr>
          </a:lstStyle>
          <a:p>
            <a:pPr lvl="0"/>
            <a:r>
              <a:rPr lang="en-US"/>
              <a:t>Click to edit Master text styles</a:t>
            </a:r>
          </a:p>
        </p:txBody>
      </p:sp>
      <p:pic>
        <p:nvPicPr>
          <p:cNvPr id="4" name="Graphic 3">
            <a:extLst>
              <a:ext uri="{FF2B5EF4-FFF2-40B4-BE49-F238E27FC236}">
                <a16:creationId xmlns:a16="http://schemas.microsoft.com/office/drawing/2014/main" id="{FD029388-B928-1758-8F2C-7F613F7E6619}"/>
              </a:ext>
            </a:extLst>
          </p:cNvPr>
          <p:cNvPicPr>
            <a:picLocks noGrp="1" noRot="1" noMove="1" noResize="1" noEditPoints="1" noAdjustHandles="1" noChangeArrowheads="1" noChangeShapeType="1" noCrop="1"/>
          </p:cNvPicPr>
          <p:nvPr userDrawn="1"/>
        </p:nvPicPr>
        <p:blipFill rotWithShape="1">
          <a:blip>
            <a:extLst>
              <a:ext uri="{96DAC541-7B7A-43D3-8B79-37D633B846F1}">
                <asvg:svgBlip xmlns:asvg="http://schemas.microsoft.com/office/drawing/2016/SVG/main" r:embed="rId2"/>
              </a:ext>
            </a:extLst>
          </a:blip>
          <a:srcRect l="59" r="-1"/>
          <a:stretch/>
        </p:blipFill>
        <p:spPr>
          <a:xfrm>
            <a:off x="0" y="0"/>
            <a:ext cx="12192000" cy="6858000"/>
          </a:xfrm>
          <a:prstGeom prst="rect">
            <a:avLst/>
          </a:prstGeom>
        </p:spPr>
      </p:pic>
      <p:pic>
        <p:nvPicPr>
          <p:cNvPr id="2" name="Graphic 1">
            <a:extLst>
              <a:ext uri="{FF2B5EF4-FFF2-40B4-BE49-F238E27FC236}">
                <a16:creationId xmlns:a16="http://schemas.microsoft.com/office/drawing/2014/main" id="{715886A1-BC6B-3893-440E-94D828BAEB1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16234191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Project Image Break Page, Gradient (for dark pictures)">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5C3B526-7CB3-F700-499B-7A7231AAE952}"/>
              </a:ext>
            </a:extLst>
          </p:cNvPr>
          <p:cNvSpPr>
            <a:spLocks noGrp="1"/>
          </p:cNvSpPr>
          <p:nvPr>
            <p:ph type="pic" sz="quarter" idx="10"/>
          </p:nvPr>
        </p:nvSpPr>
        <p:spPr>
          <a:xfrm>
            <a:off x="0" y="0"/>
            <a:ext cx="12192000" cy="6858001"/>
          </a:xfrm>
          <a:prstGeom prst="rect">
            <a:avLst/>
          </a:prstGeom>
          <a:solidFill>
            <a:schemeClr val="tx1">
              <a:lumMod val="20000"/>
              <a:lumOff val="80000"/>
            </a:schemeClr>
          </a:solidFill>
        </p:spPr>
        <p:txBody>
          <a:bodyPr/>
          <a:lstStyle>
            <a:lvl1pPr marL="0" indent="0" algn="ctr">
              <a:buNone/>
              <a:defRPr sz="2800"/>
            </a:lvl1pPr>
          </a:lstStyle>
          <a:p>
            <a:r>
              <a:rPr lang="en-US"/>
              <a:t>Click icon to add picture</a:t>
            </a:r>
            <a:endParaRPr lang="en-GB" dirty="0"/>
          </a:p>
        </p:txBody>
      </p:sp>
      <p:sp>
        <p:nvSpPr>
          <p:cNvPr id="10" name="Text Placeholder 8">
            <a:extLst>
              <a:ext uri="{FF2B5EF4-FFF2-40B4-BE49-F238E27FC236}">
                <a16:creationId xmlns:a16="http://schemas.microsoft.com/office/drawing/2014/main" id="{2BEC6CEB-A982-333B-4F87-74AE104E72AD}"/>
              </a:ext>
            </a:extLst>
          </p:cNvPr>
          <p:cNvSpPr>
            <a:spLocks noGrp="1"/>
          </p:cNvSpPr>
          <p:nvPr>
            <p:ph type="body" sz="quarter" idx="12" hasCustomPrompt="1"/>
          </p:nvPr>
        </p:nvSpPr>
        <p:spPr>
          <a:xfrm>
            <a:off x="6205388" y="6453336"/>
            <a:ext cx="5761038" cy="307975"/>
          </a:xfrm>
          <a:prstGeom prst="rect">
            <a:avLst/>
          </a:prstGeom>
        </p:spPr>
        <p:txBody>
          <a:bodyPr/>
          <a:lstStyle>
            <a:lvl1pPr marL="0" indent="0" algn="r">
              <a:buNone/>
              <a:defRPr sz="1400" b="1">
                <a:solidFill>
                  <a:schemeClr val="bg1"/>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Project Name, City | Architect</a:t>
            </a:r>
            <a:endParaRPr lang="en-GB" dirty="0"/>
          </a:p>
        </p:txBody>
      </p:sp>
      <p:sp>
        <p:nvSpPr>
          <p:cNvPr id="9" name="Text Placeholder 8">
            <a:extLst>
              <a:ext uri="{FF2B5EF4-FFF2-40B4-BE49-F238E27FC236}">
                <a16:creationId xmlns:a16="http://schemas.microsoft.com/office/drawing/2014/main" id="{9CD42D8D-FB99-DA96-3CBB-B0B97EAFCC5E}"/>
              </a:ext>
            </a:extLst>
          </p:cNvPr>
          <p:cNvSpPr>
            <a:spLocks noGrp="1"/>
          </p:cNvSpPr>
          <p:nvPr>
            <p:ph type="body" sz="quarter" idx="11" hasCustomPrompt="1"/>
          </p:nvPr>
        </p:nvSpPr>
        <p:spPr>
          <a:xfrm>
            <a:off x="6205388" y="6211026"/>
            <a:ext cx="5761038" cy="307975"/>
          </a:xfrm>
          <a:prstGeom prst="rect">
            <a:avLst/>
          </a:prstGeom>
        </p:spPr>
        <p:txBody>
          <a:bodyPr/>
          <a:lstStyle>
            <a:lvl1pPr marL="0" indent="0" algn="r">
              <a:buNone/>
              <a:defRPr sz="1400" b="0">
                <a:solidFill>
                  <a:srgbClr val="EA560D"/>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Year Awards ─ Award</a:t>
            </a:r>
            <a:endParaRPr lang="en-GB" dirty="0"/>
          </a:p>
        </p:txBody>
      </p:sp>
      <p:pic>
        <p:nvPicPr>
          <p:cNvPr id="3" name="Graphic 2">
            <a:extLst>
              <a:ext uri="{FF2B5EF4-FFF2-40B4-BE49-F238E27FC236}">
                <a16:creationId xmlns:a16="http://schemas.microsoft.com/office/drawing/2014/main" id="{74758648-C0D1-5D2B-B34D-E3D1DB5237A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361" y="6338001"/>
            <a:ext cx="1008000" cy="343990"/>
          </a:xfrm>
          <a:prstGeom prst="rect">
            <a:avLst/>
          </a:prstGeom>
        </p:spPr>
      </p:pic>
    </p:spTree>
    <p:extLst>
      <p:ext uri="{BB962C8B-B14F-4D97-AF65-F5344CB8AC3E}">
        <p14:creationId xmlns:p14="http://schemas.microsoft.com/office/powerpoint/2010/main" val="14831418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Project Image Break Page (for lighter pictures)">
    <p:spTree>
      <p:nvGrpSpPr>
        <p:cNvPr id="1" name=""/>
        <p:cNvGrpSpPr/>
        <p:nvPr/>
      </p:nvGrpSpPr>
      <p:grpSpPr>
        <a:xfrm>
          <a:off x="0" y="0"/>
          <a:ext cx="0" cy="0"/>
          <a:chOff x="0" y="0"/>
          <a:chExt cx="0" cy="0"/>
        </a:xfrm>
      </p:grpSpPr>
      <p:sp>
        <p:nvSpPr>
          <p:cNvPr id="9" name="Picture Placeholder 6">
            <a:extLst>
              <a:ext uri="{FF2B5EF4-FFF2-40B4-BE49-F238E27FC236}">
                <a16:creationId xmlns:a16="http://schemas.microsoft.com/office/drawing/2014/main" id="{634C4703-DB80-F3DD-AAB1-F99A5CF2722B}"/>
              </a:ext>
            </a:extLst>
          </p:cNvPr>
          <p:cNvSpPr>
            <a:spLocks noGrp="1"/>
          </p:cNvSpPr>
          <p:nvPr>
            <p:ph type="pic" sz="quarter" idx="10"/>
          </p:nvPr>
        </p:nvSpPr>
        <p:spPr>
          <a:xfrm>
            <a:off x="0" y="0"/>
            <a:ext cx="12192000" cy="6858001"/>
          </a:xfrm>
          <a:prstGeom prst="rect">
            <a:avLst/>
          </a:prstGeom>
        </p:spPr>
        <p:txBody>
          <a:bodyPr/>
          <a:lstStyle>
            <a:lvl1pPr marL="0" indent="0" algn="ctr">
              <a:buNone/>
              <a:defRPr sz="2800"/>
            </a:lvl1pPr>
          </a:lstStyle>
          <a:p>
            <a:r>
              <a:rPr lang="en-US"/>
              <a:t>Click icon to add picture</a:t>
            </a:r>
            <a:endParaRPr lang="en-GB" dirty="0"/>
          </a:p>
        </p:txBody>
      </p:sp>
      <p:sp>
        <p:nvSpPr>
          <p:cNvPr id="5" name="Text Placeholder 8">
            <a:extLst>
              <a:ext uri="{FF2B5EF4-FFF2-40B4-BE49-F238E27FC236}">
                <a16:creationId xmlns:a16="http://schemas.microsoft.com/office/drawing/2014/main" id="{0548A413-862B-0A55-10A6-E6DB78C39DED}"/>
              </a:ext>
            </a:extLst>
          </p:cNvPr>
          <p:cNvSpPr>
            <a:spLocks noGrp="1"/>
          </p:cNvSpPr>
          <p:nvPr>
            <p:ph type="body" sz="quarter" idx="12" hasCustomPrompt="1"/>
          </p:nvPr>
        </p:nvSpPr>
        <p:spPr>
          <a:xfrm>
            <a:off x="6205388" y="6453336"/>
            <a:ext cx="5761038" cy="307975"/>
          </a:xfrm>
          <a:prstGeom prst="rect">
            <a:avLst/>
          </a:prstGeom>
        </p:spPr>
        <p:txBody>
          <a:bodyPr/>
          <a:lstStyle>
            <a:lvl1pPr marL="0" indent="0" algn="r">
              <a:buNone/>
              <a:defRPr sz="1400" b="1">
                <a:solidFill>
                  <a:srgbClr val="56626F"/>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Project Name, City | Architect</a:t>
            </a:r>
            <a:endParaRPr lang="en-GB" dirty="0"/>
          </a:p>
        </p:txBody>
      </p:sp>
      <p:sp>
        <p:nvSpPr>
          <p:cNvPr id="6" name="Text Placeholder 8">
            <a:extLst>
              <a:ext uri="{FF2B5EF4-FFF2-40B4-BE49-F238E27FC236}">
                <a16:creationId xmlns:a16="http://schemas.microsoft.com/office/drawing/2014/main" id="{088C26DB-2167-18AA-6C53-47D8A8060D2C}"/>
              </a:ext>
            </a:extLst>
          </p:cNvPr>
          <p:cNvSpPr>
            <a:spLocks noGrp="1"/>
          </p:cNvSpPr>
          <p:nvPr>
            <p:ph type="body" sz="quarter" idx="11" hasCustomPrompt="1"/>
          </p:nvPr>
        </p:nvSpPr>
        <p:spPr>
          <a:xfrm>
            <a:off x="6205388" y="6211026"/>
            <a:ext cx="5761038" cy="307975"/>
          </a:xfrm>
          <a:prstGeom prst="rect">
            <a:avLst/>
          </a:prstGeom>
        </p:spPr>
        <p:txBody>
          <a:bodyPr/>
          <a:lstStyle>
            <a:lvl1pPr marL="0" indent="0" algn="r">
              <a:buNone/>
              <a:defRPr sz="1400" b="1">
                <a:solidFill>
                  <a:srgbClr val="EA560D"/>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Year Awards ─ Award</a:t>
            </a:r>
            <a:endParaRPr lang="en-GB" dirty="0"/>
          </a:p>
        </p:txBody>
      </p:sp>
      <p:pic>
        <p:nvPicPr>
          <p:cNvPr id="2" name="Graphic 1">
            <a:extLst>
              <a:ext uri="{FF2B5EF4-FFF2-40B4-BE49-F238E27FC236}">
                <a16:creationId xmlns:a16="http://schemas.microsoft.com/office/drawing/2014/main" id="{45E1CF08-8D7E-0ED3-6CAB-C544155475A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13802534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Project Image Break Page Dark Background">
    <p:bg>
      <p:bgPr>
        <a:solidFill>
          <a:schemeClr val="tx2"/>
        </a:solidFill>
        <a:effectLst/>
      </p:bgPr>
    </p:bg>
    <p:spTree>
      <p:nvGrpSpPr>
        <p:cNvPr id="1" name=""/>
        <p:cNvGrpSpPr/>
        <p:nvPr/>
      </p:nvGrpSpPr>
      <p:grpSpPr>
        <a:xfrm>
          <a:off x="0" y="0"/>
          <a:ext cx="0" cy="0"/>
          <a:chOff x="0" y="0"/>
          <a:chExt cx="0" cy="0"/>
        </a:xfrm>
      </p:grpSpPr>
      <p:sp>
        <p:nvSpPr>
          <p:cNvPr id="9" name="Picture Placeholder 6">
            <a:extLst>
              <a:ext uri="{FF2B5EF4-FFF2-40B4-BE49-F238E27FC236}">
                <a16:creationId xmlns:a16="http://schemas.microsoft.com/office/drawing/2014/main" id="{634C4703-DB80-F3DD-AAB1-F99A5CF2722B}"/>
              </a:ext>
            </a:extLst>
          </p:cNvPr>
          <p:cNvSpPr>
            <a:spLocks noGrp="1"/>
          </p:cNvSpPr>
          <p:nvPr>
            <p:ph type="pic" sz="quarter" idx="10"/>
          </p:nvPr>
        </p:nvSpPr>
        <p:spPr>
          <a:xfrm>
            <a:off x="335361" y="338999"/>
            <a:ext cx="11521279" cy="5754297"/>
          </a:xfrm>
          <a:prstGeom prst="rect">
            <a:avLst/>
          </a:prstGeom>
          <a:noFill/>
        </p:spPr>
        <p:txBody>
          <a:bodyPr/>
          <a:lstStyle>
            <a:lvl1pPr marL="0" indent="0" algn="ctr">
              <a:buNone/>
              <a:defRPr sz="2800">
                <a:solidFill>
                  <a:schemeClr val="bg1"/>
                </a:solidFill>
              </a:defRPr>
            </a:lvl1pPr>
          </a:lstStyle>
          <a:p>
            <a:r>
              <a:rPr lang="en-US"/>
              <a:t>Click icon to add picture</a:t>
            </a:r>
            <a:endParaRPr lang="en-GB" dirty="0"/>
          </a:p>
        </p:txBody>
      </p:sp>
      <p:sp>
        <p:nvSpPr>
          <p:cNvPr id="5" name="Text Placeholder 8">
            <a:extLst>
              <a:ext uri="{FF2B5EF4-FFF2-40B4-BE49-F238E27FC236}">
                <a16:creationId xmlns:a16="http://schemas.microsoft.com/office/drawing/2014/main" id="{0548A413-862B-0A55-10A6-E6DB78C39DED}"/>
              </a:ext>
            </a:extLst>
          </p:cNvPr>
          <p:cNvSpPr>
            <a:spLocks noGrp="1"/>
          </p:cNvSpPr>
          <p:nvPr>
            <p:ph type="body" sz="quarter" idx="12" hasCustomPrompt="1"/>
          </p:nvPr>
        </p:nvSpPr>
        <p:spPr>
          <a:xfrm>
            <a:off x="6095601" y="6453336"/>
            <a:ext cx="5761038" cy="307975"/>
          </a:xfrm>
          <a:prstGeom prst="rect">
            <a:avLst/>
          </a:prstGeom>
        </p:spPr>
        <p:txBody>
          <a:bodyPr/>
          <a:lstStyle>
            <a:lvl1pPr marL="0" indent="0" algn="r">
              <a:buNone/>
              <a:defRPr sz="1400" b="1">
                <a:solidFill>
                  <a:schemeClr val="bg1"/>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Project Name, City | Architect</a:t>
            </a:r>
            <a:endParaRPr lang="en-GB" dirty="0"/>
          </a:p>
        </p:txBody>
      </p:sp>
      <p:sp>
        <p:nvSpPr>
          <p:cNvPr id="6" name="Text Placeholder 8">
            <a:extLst>
              <a:ext uri="{FF2B5EF4-FFF2-40B4-BE49-F238E27FC236}">
                <a16:creationId xmlns:a16="http://schemas.microsoft.com/office/drawing/2014/main" id="{088C26DB-2167-18AA-6C53-47D8A8060D2C}"/>
              </a:ext>
            </a:extLst>
          </p:cNvPr>
          <p:cNvSpPr>
            <a:spLocks noGrp="1"/>
          </p:cNvSpPr>
          <p:nvPr>
            <p:ph type="body" sz="quarter" idx="11" hasCustomPrompt="1"/>
          </p:nvPr>
        </p:nvSpPr>
        <p:spPr>
          <a:xfrm>
            <a:off x="6095601" y="6211026"/>
            <a:ext cx="5761038" cy="307975"/>
          </a:xfrm>
          <a:prstGeom prst="rect">
            <a:avLst/>
          </a:prstGeom>
        </p:spPr>
        <p:txBody>
          <a:bodyPr/>
          <a:lstStyle>
            <a:lvl1pPr marL="0" indent="0" algn="r">
              <a:buNone/>
              <a:defRPr sz="1400" b="1">
                <a:solidFill>
                  <a:srgbClr val="EA560D"/>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Year Awards ─ Award</a:t>
            </a:r>
            <a:endParaRPr lang="en-GB" dirty="0"/>
          </a:p>
        </p:txBody>
      </p:sp>
      <p:pic>
        <p:nvPicPr>
          <p:cNvPr id="2" name="Graphic 1">
            <a:extLst>
              <a:ext uri="{FF2B5EF4-FFF2-40B4-BE49-F238E27FC236}">
                <a16:creationId xmlns:a16="http://schemas.microsoft.com/office/drawing/2014/main" id="{9714B586-05D0-61EC-FE8D-B81547A223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361" y="6338001"/>
            <a:ext cx="1008000" cy="343990"/>
          </a:xfrm>
          <a:prstGeom prst="rect">
            <a:avLst/>
          </a:prstGeom>
        </p:spPr>
      </p:pic>
    </p:spTree>
    <p:extLst>
      <p:ext uri="{BB962C8B-B14F-4D97-AF65-F5344CB8AC3E}">
        <p14:creationId xmlns:p14="http://schemas.microsoft.com/office/powerpoint/2010/main" val="20665964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Project Page 1 Top Left Heading">
    <p:bg>
      <p:bgPr>
        <a:solidFill>
          <a:schemeClr val="bg1"/>
        </a:solidFill>
        <a:effectLst/>
      </p:bgPr>
    </p:bg>
    <p:spTree>
      <p:nvGrpSpPr>
        <p:cNvPr id="1" name=""/>
        <p:cNvGrpSpPr/>
        <p:nvPr/>
      </p:nvGrpSpPr>
      <p:grpSpPr>
        <a:xfrm>
          <a:off x="0" y="0"/>
          <a:ext cx="0" cy="0"/>
          <a:chOff x="0" y="0"/>
          <a:chExt cx="0" cy="0"/>
        </a:xfrm>
      </p:grpSpPr>
      <p:sp>
        <p:nvSpPr>
          <p:cNvPr id="43" name="Picture Placeholder 22">
            <a:extLst>
              <a:ext uri="{FF2B5EF4-FFF2-40B4-BE49-F238E27FC236}">
                <a16:creationId xmlns:a16="http://schemas.microsoft.com/office/drawing/2014/main" id="{D6A0C7F8-16F8-C919-DBB3-ADA6317976D2}"/>
              </a:ext>
            </a:extLst>
          </p:cNvPr>
          <p:cNvSpPr>
            <a:spLocks noGrp="1"/>
          </p:cNvSpPr>
          <p:nvPr>
            <p:ph type="pic" sz="quarter" idx="10" hasCustomPrompt="1"/>
          </p:nvPr>
        </p:nvSpPr>
        <p:spPr>
          <a:xfrm>
            <a:off x="8120742" y="0"/>
            <a:ext cx="4071258" cy="2414865"/>
          </a:xfrm>
          <a:prstGeom prst="rect">
            <a:avLst/>
          </a:prstGeom>
        </p:spPr>
        <p:txBody>
          <a:bodyPr/>
          <a:lstStyle>
            <a:lvl1pPr marL="0" indent="0" algn="ctr">
              <a:buFontTx/>
              <a:buNone/>
              <a:defRPr sz="900">
                <a:solidFill>
                  <a:srgbClr val="56626F"/>
                </a:solidFill>
              </a:defRPr>
            </a:lvl1pPr>
          </a:lstStyle>
          <a:p>
            <a:r>
              <a:rPr lang="en-GB" dirty="0"/>
              <a:t>Insert Picture Here</a:t>
            </a:r>
          </a:p>
        </p:txBody>
      </p:sp>
      <p:sp>
        <p:nvSpPr>
          <p:cNvPr id="4" name="Picture Placeholder 22">
            <a:extLst>
              <a:ext uri="{FF2B5EF4-FFF2-40B4-BE49-F238E27FC236}">
                <a16:creationId xmlns:a16="http://schemas.microsoft.com/office/drawing/2014/main" id="{60DB3189-BE8F-9DA4-C1CF-1C55CA8E4999}"/>
              </a:ext>
            </a:extLst>
          </p:cNvPr>
          <p:cNvSpPr>
            <a:spLocks noGrp="1"/>
          </p:cNvSpPr>
          <p:nvPr>
            <p:ph type="pic" sz="quarter" idx="25" hasCustomPrompt="1"/>
          </p:nvPr>
        </p:nvSpPr>
        <p:spPr>
          <a:xfrm>
            <a:off x="8120742" y="2452084"/>
            <a:ext cx="4071258" cy="4405916"/>
          </a:xfrm>
          <a:prstGeom prst="rect">
            <a:avLst/>
          </a:prstGeom>
        </p:spPr>
        <p:txBody>
          <a:bodyPr/>
          <a:lstStyle>
            <a:lvl1pPr marL="0" indent="0" algn="ctr">
              <a:buFontTx/>
              <a:buNone/>
              <a:defRPr sz="900">
                <a:solidFill>
                  <a:srgbClr val="56626F"/>
                </a:solidFill>
              </a:defRPr>
            </a:lvl1pPr>
          </a:lstStyle>
          <a:p>
            <a:r>
              <a:rPr lang="en-GB" dirty="0"/>
              <a:t>Insert Picture Here</a:t>
            </a:r>
          </a:p>
        </p:txBody>
      </p:sp>
      <p:sp>
        <p:nvSpPr>
          <p:cNvPr id="47" name="Picture Placeholder 22">
            <a:extLst>
              <a:ext uri="{FF2B5EF4-FFF2-40B4-BE49-F238E27FC236}">
                <a16:creationId xmlns:a16="http://schemas.microsoft.com/office/drawing/2014/main" id="{5FFE036B-404F-0DAC-64E6-90FF581565D9}"/>
              </a:ext>
            </a:extLst>
          </p:cNvPr>
          <p:cNvSpPr>
            <a:spLocks noGrp="1"/>
          </p:cNvSpPr>
          <p:nvPr>
            <p:ph type="pic" sz="quarter" idx="22" hasCustomPrompt="1"/>
          </p:nvPr>
        </p:nvSpPr>
        <p:spPr>
          <a:xfrm>
            <a:off x="335696" y="2549287"/>
            <a:ext cx="3789953" cy="3654582"/>
          </a:xfrm>
          <a:prstGeom prst="rect">
            <a:avLst/>
          </a:prstGeom>
        </p:spPr>
        <p:txBody>
          <a:bodyPr/>
          <a:lstStyle>
            <a:lvl1pPr marL="0" indent="0" algn="ctr">
              <a:buFontTx/>
              <a:buNone/>
              <a:defRPr sz="900">
                <a:solidFill>
                  <a:srgbClr val="56626F"/>
                </a:solidFill>
              </a:defRPr>
            </a:lvl1pPr>
          </a:lstStyle>
          <a:p>
            <a:r>
              <a:rPr lang="en-US" dirty="0"/>
              <a:t>Insert Project Photography Here</a:t>
            </a:r>
            <a:endParaRPr lang="en-GB" dirty="0"/>
          </a:p>
        </p:txBody>
      </p:sp>
      <p:sp>
        <p:nvSpPr>
          <p:cNvPr id="7" name="Rectangle: Single Corner Snipped 6">
            <a:extLst>
              <a:ext uri="{FF2B5EF4-FFF2-40B4-BE49-F238E27FC236}">
                <a16:creationId xmlns:a16="http://schemas.microsoft.com/office/drawing/2014/main" id="{F6BD2082-5EF8-F35E-5E15-933B919C2257}"/>
              </a:ext>
            </a:extLst>
          </p:cNvPr>
          <p:cNvSpPr/>
          <p:nvPr/>
        </p:nvSpPr>
        <p:spPr>
          <a:xfrm flipV="1">
            <a:off x="335696" y="215422"/>
            <a:ext cx="3829878" cy="2133458"/>
          </a:xfrm>
          <a:prstGeom prst="snip1Rect">
            <a:avLst/>
          </a:prstGeom>
          <a:solidFill>
            <a:srgbClr val="56626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6" name="Text Placeholder 12">
            <a:extLst>
              <a:ext uri="{FF2B5EF4-FFF2-40B4-BE49-F238E27FC236}">
                <a16:creationId xmlns:a16="http://schemas.microsoft.com/office/drawing/2014/main" id="{4FFD9C8B-A586-B03F-4946-2C109BDA8913}"/>
              </a:ext>
            </a:extLst>
          </p:cNvPr>
          <p:cNvSpPr>
            <a:spLocks noGrp="1"/>
          </p:cNvSpPr>
          <p:nvPr>
            <p:ph type="body" sz="quarter" idx="14" hasCustomPrompt="1"/>
          </p:nvPr>
        </p:nvSpPr>
        <p:spPr>
          <a:xfrm>
            <a:off x="479376" y="381944"/>
            <a:ext cx="3328788" cy="272187"/>
          </a:xfrm>
          <a:prstGeom prst="rect">
            <a:avLst/>
          </a:prstGeom>
        </p:spPr>
        <p:txBody>
          <a:bodyPr lIns="0" tIns="0" rIns="0" bIns="0"/>
          <a:lstStyle>
            <a:lvl1pPr marL="0" indent="0">
              <a:buNone/>
              <a:defRPr sz="1600" b="1">
                <a:solidFill>
                  <a:schemeClr val="bg1"/>
                </a:solidFill>
              </a:defRPr>
            </a:lvl1pPr>
          </a:lstStyle>
          <a:p>
            <a:pPr lvl="0"/>
            <a:r>
              <a:rPr lang="en-GB" dirty="0"/>
              <a:t>Insert Project Name Here</a:t>
            </a:r>
          </a:p>
          <a:p>
            <a:pPr lvl="0"/>
            <a:endParaRPr lang="en-GB" dirty="0"/>
          </a:p>
        </p:txBody>
      </p:sp>
      <p:sp>
        <p:nvSpPr>
          <p:cNvPr id="29" name="Text Placeholder 1">
            <a:extLst>
              <a:ext uri="{FF2B5EF4-FFF2-40B4-BE49-F238E27FC236}">
                <a16:creationId xmlns:a16="http://schemas.microsoft.com/office/drawing/2014/main" id="{35FFFC0C-9ED1-515C-4691-762B9C629F4B}"/>
              </a:ext>
            </a:extLst>
          </p:cNvPr>
          <p:cNvSpPr txBox="1">
            <a:spLocks/>
          </p:cNvSpPr>
          <p:nvPr userDrawn="1"/>
        </p:nvSpPr>
        <p:spPr>
          <a:xfrm>
            <a:off x="473988" y="713311"/>
            <a:ext cx="655106" cy="138882"/>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Location: </a:t>
            </a:r>
          </a:p>
          <a:p>
            <a:pPr marL="0" indent="0">
              <a:buNone/>
            </a:pPr>
            <a:endParaRPr lang="en-US" sz="1000" b="1" kern="0" dirty="0">
              <a:solidFill>
                <a:schemeClr val="bg1"/>
              </a:solidFill>
            </a:endParaRPr>
          </a:p>
        </p:txBody>
      </p:sp>
      <p:sp>
        <p:nvSpPr>
          <p:cNvPr id="30" name="Text Placeholder 1">
            <a:extLst>
              <a:ext uri="{FF2B5EF4-FFF2-40B4-BE49-F238E27FC236}">
                <a16:creationId xmlns:a16="http://schemas.microsoft.com/office/drawing/2014/main" id="{E541FF32-54CD-B202-B065-F82EE8D9D9E9}"/>
              </a:ext>
            </a:extLst>
          </p:cNvPr>
          <p:cNvSpPr txBox="1">
            <a:spLocks/>
          </p:cNvSpPr>
          <p:nvPr userDrawn="1"/>
        </p:nvSpPr>
        <p:spPr>
          <a:xfrm>
            <a:off x="473988" y="922444"/>
            <a:ext cx="448358" cy="145376"/>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Client:</a:t>
            </a:r>
          </a:p>
          <a:p>
            <a:pPr marL="0" indent="0">
              <a:buNone/>
            </a:pPr>
            <a:endParaRPr lang="en-US" sz="1000" b="1" kern="0" dirty="0">
              <a:solidFill>
                <a:schemeClr val="bg1"/>
              </a:solidFill>
            </a:endParaRPr>
          </a:p>
        </p:txBody>
      </p:sp>
      <p:sp>
        <p:nvSpPr>
          <p:cNvPr id="31" name="Text Placeholder 1">
            <a:extLst>
              <a:ext uri="{FF2B5EF4-FFF2-40B4-BE49-F238E27FC236}">
                <a16:creationId xmlns:a16="http://schemas.microsoft.com/office/drawing/2014/main" id="{EB0608D3-EA7E-0CB7-C0EC-36B1441E128C}"/>
              </a:ext>
            </a:extLst>
          </p:cNvPr>
          <p:cNvSpPr txBox="1">
            <a:spLocks/>
          </p:cNvSpPr>
          <p:nvPr userDrawn="1"/>
        </p:nvSpPr>
        <p:spPr>
          <a:xfrm>
            <a:off x="479376" y="1140559"/>
            <a:ext cx="649718" cy="145376"/>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Architect:</a:t>
            </a:r>
          </a:p>
          <a:p>
            <a:pPr marL="0" indent="0">
              <a:buNone/>
            </a:pPr>
            <a:endParaRPr lang="en-US" sz="1000" b="1" kern="0" dirty="0">
              <a:solidFill>
                <a:schemeClr val="bg1"/>
              </a:solidFill>
            </a:endParaRPr>
          </a:p>
        </p:txBody>
      </p:sp>
      <p:sp>
        <p:nvSpPr>
          <p:cNvPr id="32" name="Text Placeholder 1">
            <a:extLst>
              <a:ext uri="{FF2B5EF4-FFF2-40B4-BE49-F238E27FC236}">
                <a16:creationId xmlns:a16="http://schemas.microsoft.com/office/drawing/2014/main" id="{9360D890-843A-1566-97DD-6E3BA6A98F81}"/>
              </a:ext>
            </a:extLst>
          </p:cNvPr>
          <p:cNvSpPr txBox="1">
            <a:spLocks/>
          </p:cNvSpPr>
          <p:nvPr userDrawn="1"/>
        </p:nvSpPr>
        <p:spPr>
          <a:xfrm>
            <a:off x="479376" y="1344106"/>
            <a:ext cx="376460" cy="151606"/>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Date:</a:t>
            </a:r>
          </a:p>
          <a:p>
            <a:pPr marL="0" indent="0">
              <a:buNone/>
            </a:pPr>
            <a:endParaRPr lang="en-US" sz="1000" b="1" kern="0" dirty="0">
              <a:solidFill>
                <a:schemeClr val="bg1"/>
              </a:solidFill>
            </a:endParaRPr>
          </a:p>
        </p:txBody>
      </p:sp>
      <p:sp>
        <p:nvSpPr>
          <p:cNvPr id="33" name="Text Placeholder 1">
            <a:extLst>
              <a:ext uri="{FF2B5EF4-FFF2-40B4-BE49-F238E27FC236}">
                <a16:creationId xmlns:a16="http://schemas.microsoft.com/office/drawing/2014/main" id="{EDAB5F3E-EB18-DD02-84E7-3637E0F666D6}"/>
              </a:ext>
            </a:extLst>
          </p:cNvPr>
          <p:cNvSpPr txBox="1">
            <a:spLocks/>
          </p:cNvSpPr>
          <p:nvPr userDrawn="1"/>
        </p:nvSpPr>
        <p:spPr>
          <a:xfrm>
            <a:off x="479376" y="1560432"/>
            <a:ext cx="441272" cy="138882"/>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Value:</a:t>
            </a:r>
          </a:p>
          <a:p>
            <a:pPr marL="0" indent="0">
              <a:buNone/>
            </a:pPr>
            <a:endParaRPr lang="en-US" sz="1000" b="1" kern="0" dirty="0">
              <a:solidFill>
                <a:schemeClr val="bg1"/>
              </a:solidFill>
            </a:endParaRPr>
          </a:p>
        </p:txBody>
      </p:sp>
      <p:sp>
        <p:nvSpPr>
          <p:cNvPr id="34" name="Text Placeholder 1">
            <a:extLst>
              <a:ext uri="{FF2B5EF4-FFF2-40B4-BE49-F238E27FC236}">
                <a16:creationId xmlns:a16="http://schemas.microsoft.com/office/drawing/2014/main" id="{B35F1BFE-547D-6C4E-A446-F65179E592E6}"/>
              </a:ext>
            </a:extLst>
          </p:cNvPr>
          <p:cNvSpPr txBox="1">
            <a:spLocks/>
          </p:cNvSpPr>
          <p:nvPr userDrawn="1"/>
        </p:nvSpPr>
        <p:spPr>
          <a:xfrm>
            <a:off x="479376" y="1771198"/>
            <a:ext cx="1240556" cy="138882"/>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Services Provided:</a:t>
            </a:r>
          </a:p>
          <a:p>
            <a:pPr marL="0" indent="0">
              <a:buNone/>
            </a:pPr>
            <a:endParaRPr lang="en-US" sz="1000" b="1" kern="0" dirty="0">
              <a:solidFill>
                <a:schemeClr val="bg1"/>
              </a:solidFill>
            </a:endParaRPr>
          </a:p>
        </p:txBody>
      </p:sp>
      <p:sp>
        <p:nvSpPr>
          <p:cNvPr id="35" name="Text Placeholder 30">
            <a:extLst>
              <a:ext uri="{FF2B5EF4-FFF2-40B4-BE49-F238E27FC236}">
                <a16:creationId xmlns:a16="http://schemas.microsoft.com/office/drawing/2014/main" id="{A739C897-612A-E5AF-1955-B9198AA41FCC}"/>
              </a:ext>
            </a:extLst>
          </p:cNvPr>
          <p:cNvSpPr>
            <a:spLocks noGrp="1"/>
          </p:cNvSpPr>
          <p:nvPr>
            <p:ph type="body" sz="quarter" idx="15" hasCustomPrompt="1"/>
          </p:nvPr>
        </p:nvSpPr>
        <p:spPr>
          <a:xfrm>
            <a:off x="479376" y="1960355"/>
            <a:ext cx="3328788" cy="332724"/>
          </a:xfrm>
          <a:prstGeom prst="rect">
            <a:avLst/>
          </a:prstGeom>
        </p:spPr>
        <p:txBody>
          <a:bodyPr lIns="0" tIns="0" rIns="0" bIns="0" anchor="t"/>
          <a:lstStyle>
            <a:lvl1pPr marL="0" indent="0">
              <a:buNone/>
              <a:defRPr sz="1050" b="1">
                <a:solidFill>
                  <a:schemeClr val="bg1"/>
                </a:solidFill>
                <a:highlight>
                  <a:srgbClr val="EA560D"/>
                </a:highlight>
              </a:defRPr>
            </a:lvl1pPr>
          </a:lstStyle>
          <a:p>
            <a:pPr lvl="0"/>
            <a:r>
              <a:rPr lang="en-GB" dirty="0"/>
              <a:t>Fun Fact Inserted Here</a:t>
            </a:r>
          </a:p>
        </p:txBody>
      </p:sp>
      <p:sp>
        <p:nvSpPr>
          <p:cNvPr id="36" name="Text Placeholder 33">
            <a:extLst>
              <a:ext uri="{FF2B5EF4-FFF2-40B4-BE49-F238E27FC236}">
                <a16:creationId xmlns:a16="http://schemas.microsoft.com/office/drawing/2014/main" id="{658D7181-C377-1E53-061D-E9FFA361035A}"/>
              </a:ext>
            </a:extLst>
          </p:cNvPr>
          <p:cNvSpPr>
            <a:spLocks noGrp="1"/>
          </p:cNvSpPr>
          <p:nvPr>
            <p:ph type="body" sz="quarter" idx="16" hasCustomPrompt="1"/>
          </p:nvPr>
        </p:nvSpPr>
        <p:spPr>
          <a:xfrm>
            <a:off x="1142866" y="713312"/>
            <a:ext cx="2665298"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37" name="Text Placeholder 33">
            <a:extLst>
              <a:ext uri="{FF2B5EF4-FFF2-40B4-BE49-F238E27FC236}">
                <a16:creationId xmlns:a16="http://schemas.microsoft.com/office/drawing/2014/main" id="{36484CF9-5015-3189-6A68-C01A88D0644B}"/>
              </a:ext>
            </a:extLst>
          </p:cNvPr>
          <p:cNvSpPr>
            <a:spLocks noGrp="1"/>
          </p:cNvSpPr>
          <p:nvPr>
            <p:ph type="body" sz="quarter" idx="17" hasCustomPrompt="1"/>
          </p:nvPr>
        </p:nvSpPr>
        <p:spPr>
          <a:xfrm>
            <a:off x="934420" y="923706"/>
            <a:ext cx="2873744"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38" name="Text Placeholder 33">
            <a:extLst>
              <a:ext uri="{FF2B5EF4-FFF2-40B4-BE49-F238E27FC236}">
                <a16:creationId xmlns:a16="http://schemas.microsoft.com/office/drawing/2014/main" id="{8F5FDB46-5B36-C2D1-D5FD-9F26789AC072}"/>
              </a:ext>
            </a:extLst>
          </p:cNvPr>
          <p:cNvSpPr>
            <a:spLocks noGrp="1"/>
          </p:cNvSpPr>
          <p:nvPr>
            <p:ph type="body" sz="quarter" idx="18" hasCustomPrompt="1"/>
          </p:nvPr>
        </p:nvSpPr>
        <p:spPr>
          <a:xfrm>
            <a:off x="1144394" y="1138357"/>
            <a:ext cx="2663770"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39" name="Text Placeholder 33">
            <a:extLst>
              <a:ext uri="{FF2B5EF4-FFF2-40B4-BE49-F238E27FC236}">
                <a16:creationId xmlns:a16="http://schemas.microsoft.com/office/drawing/2014/main" id="{13230699-63FA-AC38-ED94-7CC80358B9BB}"/>
              </a:ext>
            </a:extLst>
          </p:cNvPr>
          <p:cNvSpPr>
            <a:spLocks noGrp="1"/>
          </p:cNvSpPr>
          <p:nvPr>
            <p:ph type="body" sz="quarter" idx="19" hasCustomPrompt="1"/>
          </p:nvPr>
        </p:nvSpPr>
        <p:spPr>
          <a:xfrm>
            <a:off x="870342" y="1347587"/>
            <a:ext cx="2937821"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40" name="Text Placeholder 33">
            <a:extLst>
              <a:ext uri="{FF2B5EF4-FFF2-40B4-BE49-F238E27FC236}">
                <a16:creationId xmlns:a16="http://schemas.microsoft.com/office/drawing/2014/main" id="{C7AD068D-4B5C-DEC8-9739-5B860AF477FF}"/>
              </a:ext>
            </a:extLst>
          </p:cNvPr>
          <p:cNvSpPr>
            <a:spLocks noGrp="1"/>
          </p:cNvSpPr>
          <p:nvPr>
            <p:ph type="body" sz="quarter" idx="20" hasCustomPrompt="1"/>
          </p:nvPr>
        </p:nvSpPr>
        <p:spPr>
          <a:xfrm>
            <a:off x="934420" y="1565265"/>
            <a:ext cx="2873743"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41" name="Text Placeholder 33">
            <a:extLst>
              <a:ext uri="{FF2B5EF4-FFF2-40B4-BE49-F238E27FC236}">
                <a16:creationId xmlns:a16="http://schemas.microsoft.com/office/drawing/2014/main" id="{2A19D43B-9EAC-4BA6-6E00-0AC27172E4AA}"/>
              </a:ext>
            </a:extLst>
          </p:cNvPr>
          <p:cNvSpPr>
            <a:spLocks noGrp="1"/>
          </p:cNvSpPr>
          <p:nvPr>
            <p:ph type="body" sz="quarter" idx="21" hasCustomPrompt="1"/>
          </p:nvPr>
        </p:nvSpPr>
        <p:spPr>
          <a:xfrm>
            <a:off x="1732220" y="1771198"/>
            <a:ext cx="2075943"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48" name="Picture Placeholder 22">
            <a:extLst>
              <a:ext uri="{FF2B5EF4-FFF2-40B4-BE49-F238E27FC236}">
                <a16:creationId xmlns:a16="http://schemas.microsoft.com/office/drawing/2014/main" id="{1EE1CE76-EC8C-3648-8CFD-2F3339B170A4}"/>
              </a:ext>
            </a:extLst>
          </p:cNvPr>
          <p:cNvSpPr>
            <a:spLocks noGrp="1"/>
          </p:cNvSpPr>
          <p:nvPr>
            <p:ph type="pic" sz="quarter" idx="12" hasCustomPrompt="1"/>
          </p:nvPr>
        </p:nvSpPr>
        <p:spPr>
          <a:xfrm>
            <a:off x="4463356" y="654131"/>
            <a:ext cx="3303984" cy="2774869"/>
          </a:xfrm>
          <a:prstGeom prst="rect">
            <a:avLst/>
          </a:prstGeom>
        </p:spPr>
        <p:txBody>
          <a:bodyPr/>
          <a:lstStyle>
            <a:lvl1pPr marL="0" indent="0" algn="ctr">
              <a:buFontTx/>
              <a:buNone/>
              <a:defRPr sz="900">
                <a:solidFill>
                  <a:srgbClr val="56626F"/>
                </a:solidFill>
              </a:defRPr>
            </a:lvl1pPr>
          </a:lstStyle>
          <a:p>
            <a:r>
              <a:rPr lang="en-US" dirty="0"/>
              <a:t>Insert Picture Here</a:t>
            </a:r>
            <a:endParaRPr lang="en-GB" dirty="0"/>
          </a:p>
        </p:txBody>
      </p:sp>
      <p:sp>
        <p:nvSpPr>
          <p:cNvPr id="49" name="Text Placeholder 40">
            <a:extLst>
              <a:ext uri="{FF2B5EF4-FFF2-40B4-BE49-F238E27FC236}">
                <a16:creationId xmlns:a16="http://schemas.microsoft.com/office/drawing/2014/main" id="{EFCBFE30-DB91-D8FD-A4CA-CABEBB728896}"/>
              </a:ext>
            </a:extLst>
          </p:cNvPr>
          <p:cNvSpPr>
            <a:spLocks noGrp="1"/>
          </p:cNvSpPr>
          <p:nvPr>
            <p:ph type="body" sz="quarter" idx="23" hasCustomPrompt="1"/>
          </p:nvPr>
        </p:nvSpPr>
        <p:spPr>
          <a:xfrm>
            <a:off x="4462748" y="215900"/>
            <a:ext cx="3303984" cy="314085"/>
          </a:xfrm>
          <a:prstGeom prst="rect">
            <a:avLst/>
          </a:prstGeom>
        </p:spPr>
        <p:txBody>
          <a:bodyPr lIns="0" tIns="0" rIns="0" bIns="0"/>
          <a:lstStyle>
            <a:lvl1pPr marL="0" indent="0">
              <a:buNone/>
              <a:defRPr sz="1100" b="1"/>
            </a:lvl1pPr>
          </a:lstStyle>
          <a:p>
            <a:pPr lvl="0"/>
            <a:r>
              <a:rPr lang="en-GB" dirty="0"/>
              <a:t>Caption Title:</a:t>
            </a:r>
          </a:p>
        </p:txBody>
      </p:sp>
      <p:sp>
        <p:nvSpPr>
          <p:cNvPr id="50" name="Picture Placeholder 22">
            <a:extLst>
              <a:ext uri="{FF2B5EF4-FFF2-40B4-BE49-F238E27FC236}">
                <a16:creationId xmlns:a16="http://schemas.microsoft.com/office/drawing/2014/main" id="{FDB4D6F3-9485-72D3-DB5E-C5FAFBE5F63D}"/>
              </a:ext>
            </a:extLst>
          </p:cNvPr>
          <p:cNvSpPr>
            <a:spLocks noGrp="1"/>
          </p:cNvSpPr>
          <p:nvPr>
            <p:ph type="pic" sz="quarter" idx="24" hasCustomPrompt="1"/>
          </p:nvPr>
        </p:nvSpPr>
        <p:spPr>
          <a:xfrm>
            <a:off x="4462747" y="3637160"/>
            <a:ext cx="3303985" cy="2933411"/>
          </a:xfrm>
          <a:prstGeom prst="rect">
            <a:avLst/>
          </a:prstGeom>
        </p:spPr>
        <p:txBody>
          <a:bodyPr/>
          <a:lstStyle>
            <a:lvl1pPr marL="0" indent="0" algn="ctr">
              <a:buFontTx/>
              <a:buNone/>
              <a:defRPr sz="900">
                <a:solidFill>
                  <a:srgbClr val="56626F"/>
                </a:solidFill>
              </a:defRPr>
            </a:lvl1pPr>
          </a:lstStyle>
          <a:p>
            <a:r>
              <a:rPr lang="en-US" dirty="0"/>
              <a:t>Insert Picture Here</a:t>
            </a:r>
            <a:endParaRPr lang="en-GB" dirty="0"/>
          </a:p>
        </p:txBody>
      </p:sp>
      <p:pic>
        <p:nvPicPr>
          <p:cNvPr id="2" name="Graphic 1">
            <a:extLst>
              <a:ext uri="{FF2B5EF4-FFF2-40B4-BE49-F238E27FC236}">
                <a16:creationId xmlns:a16="http://schemas.microsoft.com/office/drawing/2014/main" id="{BDA8AC87-9092-BE2B-E654-91C5DE7CC5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1118625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guide id="3" pos="166">
          <p15:clr>
            <a:srgbClr val="FBAE40"/>
          </p15:clr>
        </p15:guide>
        <p15:guide id="5" pos="751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roject Page 2, Top Right Heading">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661FE82-DBD1-6E03-E1C7-10BFA5AA115D}"/>
              </a:ext>
            </a:extLst>
          </p:cNvPr>
          <p:cNvSpPr>
            <a:spLocks noGrp="1"/>
          </p:cNvSpPr>
          <p:nvPr>
            <p:ph type="subTitle" idx="1"/>
          </p:nvPr>
        </p:nvSpPr>
        <p:spPr>
          <a:xfrm>
            <a:off x="371474" y="3454442"/>
            <a:ext cx="9143999" cy="276999"/>
          </a:xfrm>
        </p:spPr>
        <p:txBody>
          <a:bodyPr>
            <a:normAutofit/>
          </a:bodyPr>
          <a:lstStyle>
            <a:lvl1pPr marL="0" indent="0" algn="l" defTabSz="914400" rtl="0" eaLnBrk="1" latinLnBrk="0" hangingPunct="1">
              <a:buNone/>
              <a:defRPr lang="en-GB" sz="1200" kern="1200" dirty="0">
                <a:solidFill>
                  <a:schemeClr val="bg1"/>
                </a:solidFill>
                <a:effectLst/>
                <a:latin typeface="Arial Nova Light" panose="020B0304020202020204" pitchFamily="34" charset="0"/>
                <a:ea typeface="Open Sans" panose="020B0606030504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7" name="Rectangle: Single Corner Snipped 6">
            <a:extLst>
              <a:ext uri="{FF2B5EF4-FFF2-40B4-BE49-F238E27FC236}">
                <a16:creationId xmlns:a16="http://schemas.microsoft.com/office/drawing/2014/main" id="{F6BD2082-5EF8-F35E-5E15-933B919C2257}"/>
              </a:ext>
            </a:extLst>
          </p:cNvPr>
          <p:cNvSpPr/>
          <p:nvPr/>
        </p:nvSpPr>
        <p:spPr>
          <a:xfrm flipH="1" flipV="1">
            <a:off x="8102091" y="215422"/>
            <a:ext cx="3829878" cy="2133458"/>
          </a:xfrm>
          <a:prstGeom prst="snip1Rect">
            <a:avLst/>
          </a:prstGeom>
          <a:solidFill>
            <a:srgbClr val="56626F">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26" name="Text Placeholder 12">
            <a:extLst>
              <a:ext uri="{FF2B5EF4-FFF2-40B4-BE49-F238E27FC236}">
                <a16:creationId xmlns:a16="http://schemas.microsoft.com/office/drawing/2014/main" id="{4FFD9C8B-A586-B03F-4946-2C109BDA8913}"/>
              </a:ext>
            </a:extLst>
          </p:cNvPr>
          <p:cNvSpPr>
            <a:spLocks noGrp="1"/>
          </p:cNvSpPr>
          <p:nvPr>
            <p:ph type="body" sz="quarter" idx="14" hasCustomPrompt="1"/>
          </p:nvPr>
        </p:nvSpPr>
        <p:spPr>
          <a:xfrm>
            <a:off x="8475343" y="381944"/>
            <a:ext cx="3328788" cy="272187"/>
          </a:xfrm>
          <a:prstGeom prst="rect">
            <a:avLst/>
          </a:prstGeom>
        </p:spPr>
        <p:txBody>
          <a:bodyPr lIns="0" tIns="0" rIns="0" bIns="0"/>
          <a:lstStyle>
            <a:lvl1pPr marL="0" indent="0">
              <a:buNone/>
              <a:defRPr sz="1600" b="1">
                <a:solidFill>
                  <a:schemeClr val="bg1"/>
                </a:solidFill>
              </a:defRPr>
            </a:lvl1pPr>
          </a:lstStyle>
          <a:p>
            <a:pPr lvl="0"/>
            <a:r>
              <a:rPr lang="en-GB" dirty="0"/>
              <a:t>Insert Project Name Here</a:t>
            </a:r>
          </a:p>
          <a:p>
            <a:pPr lvl="0"/>
            <a:endParaRPr lang="en-GB" dirty="0"/>
          </a:p>
        </p:txBody>
      </p:sp>
      <p:sp>
        <p:nvSpPr>
          <p:cNvPr id="29" name="Text Placeholder 1">
            <a:extLst>
              <a:ext uri="{FF2B5EF4-FFF2-40B4-BE49-F238E27FC236}">
                <a16:creationId xmlns:a16="http://schemas.microsoft.com/office/drawing/2014/main" id="{35FFFC0C-9ED1-515C-4691-762B9C629F4B}"/>
              </a:ext>
            </a:extLst>
          </p:cNvPr>
          <p:cNvSpPr txBox="1">
            <a:spLocks/>
          </p:cNvSpPr>
          <p:nvPr userDrawn="1"/>
        </p:nvSpPr>
        <p:spPr>
          <a:xfrm>
            <a:off x="8469955" y="713311"/>
            <a:ext cx="655106" cy="138882"/>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Location: </a:t>
            </a:r>
          </a:p>
          <a:p>
            <a:pPr marL="0" indent="0">
              <a:buNone/>
            </a:pPr>
            <a:endParaRPr lang="en-US" sz="1000" b="1" kern="0" dirty="0">
              <a:solidFill>
                <a:schemeClr val="bg1"/>
              </a:solidFill>
            </a:endParaRPr>
          </a:p>
        </p:txBody>
      </p:sp>
      <p:sp>
        <p:nvSpPr>
          <p:cNvPr id="30" name="Text Placeholder 1">
            <a:extLst>
              <a:ext uri="{FF2B5EF4-FFF2-40B4-BE49-F238E27FC236}">
                <a16:creationId xmlns:a16="http://schemas.microsoft.com/office/drawing/2014/main" id="{E541FF32-54CD-B202-B065-F82EE8D9D9E9}"/>
              </a:ext>
            </a:extLst>
          </p:cNvPr>
          <p:cNvSpPr txBox="1">
            <a:spLocks/>
          </p:cNvSpPr>
          <p:nvPr userDrawn="1"/>
        </p:nvSpPr>
        <p:spPr>
          <a:xfrm>
            <a:off x="8469955" y="922444"/>
            <a:ext cx="448358" cy="145376"/>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Client:</a:t>
            </a:r>
          </a:p>
          <a:p>
            <a:pPr marL="0" indent="0">
              <a:buNone/>
            </a:pPr>
            <a:endParaRPr lang="en-US" sz="1000" b="1" kern="0" dirty="0">
              <a:solidFill>
                <a:schemeClr val="bg1"/>
              </a:solidFill>
            </a:endParaRPr>
          </a:p>
        </p:txBody>
      </p:sp>
      <p:sp>
        <p:nvSpPr>
          <p:cNvPr id="31" name="Text Placeholder 1">
            <a:extLst>
              <a:ext uri="{FF2B5EF4-FFF2-40B4-BE49-F238E27FC236}">
                <a16:creationId xmlns:a16="http://schemas.microsoft.com/office/drawing/2014/main" id="{EB0608D3-EA7E-0CB7-C0EC-36B1441E128C}"/>
              </a:ext>
            </a:extLst>
          </p:cNvPr>
          <p:cNvSpPr txBox="1">
            <a:spLocks/>
          </p:cNvSpPr>
          <p:nvPr userDrawn="1"/>
        </p:nvSpPr>
        <p:spPr>
          <a:xfrm>
            <a:off x="8475343" y="1140559"/>
            <a:ext cx="649718" cy="145376"/>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Architect:</a:t>
            </a:r>
          </a:p>
          <a:p>
            <a:pPr marL="0" indent="0">
              <a:buNone/>
            </a:pPr>
            <a:endParaRPr lang="en-US" sz="1000" b="1" kern="0" dirty="0">
              <a:solidFill>
                <a:schemeClr val="bg1"/>
              </a:solidFill>
            </a:endParaRPr>
          </a:p>
        </p:txBody>
      </p:sp>
      <p:sp>
        <p:nvSpPr>
          <p:cNvPr id="32" name="Text Placeholder 1">
            <a:extLst>
              <a:ext uri="{FF2B5EF4-FFF2-40B4-BE49-F238E27FC236}">
                <a16:creationId xmlns:a16="http://schemas.microsoft.com/office/drawing/2014/main" id="{9360D890-843A-1566-97DD-6E3BA6A98F81}"/>
              </a:ext>
            </a:extLst>
          </p:cNvPr>
          <p:cNvSpPr txBox="1">
            <a:spLocks/>
          </p:cNvSpPr>
          <p:nvPr userDrawn="1"/>
        </p:nvSpPr>
        <p:spPr>
          <a:xfrm>
            <a:off x="8475343" y="1344106"/>
            <a:ext cx="376460" cy="151606"/>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Date:</a:t>
            </a:r>
          </a:p>
          <a:p>
            <a:pPr marL="0" indent="0">
              <a:buNone/>
            </a:pPr>
            <a:endParaRPr lang="en-US" sz="1000" b="1" kern="0" dirty="0">
              <a:solidFill>
                <a:schemeClr val="bg1"/>
              </a:solidFill>
            </a:endParaRPr>
          </a:p>
        </p:txBody>
      </p:sp>
      <p:sp>
        <p:nvSpPr>
          <p:cNvPr id="33" name="Text Placeholder 1">
            <a:extLst>
              <a:ext uri="{FF2B5EF4-FFF2-40B4-BE49-F238E27FC236}">
                <a16:creationId xmlns:a16="http://schemas.microsoft.com/office/drawing/2014/main" id="{EDAB5F3E-EB18-DD02-84E7-3637E0F666D6}"/>
              </a:ext>
            </a:extLst>
          </p:cNvPr>
          <p:cNvSpPr txBox="1">
            <a:spLocks/>
          </p:cNvSpPr>
          <p:nvPr userDrawn="1"/>
        </p:nvSpPr>
        <p:spPr>
          <a:xfrm>
            <a:off x="8475343" y="1560432"/>
            <a:ext cx="441272" cy="138882"/>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Value:</a:t>
            </a:r>
          </a:p>
          <a:p>
            <a:pPr marL="0" indent="0">
              <a:buNone/>
            </a:pPr>
            <a:endParaRPr lang="en-US" sz="1000" b="1" kern="0" dirty="0">
              <a:solidFill>
                <a:schemeClr val="bg1"/>
              </a:solidFill>
            </a:endParaRPr>
          </a:p>
        </p:txBody>
      </p:sp>
      <p:sp>
        <p:nvSpPr>
          <p:cNvPr id="34" name="Text Placeholder 1">
            <a:extLst>
              <a:ext uri="{FF2B5EF4-FFF2-40B4-BE49-F238E27FC236}">
                <a16:creationId xmlns:a16="http://schemas.microsoft.com/office/drawing/2014/main" id="{B35F1BFE-547D-6C4E-A446-F65179E592E6}"/>
              </a:ext>
            </a:extLst>
          </p:cNvPr>
          <p:cNvSpPr txBox="1">
            <a:spLocks/>
          </p:cNvSpPr>
          <p:nvPr userDrawn="1"/>
        </p:nvSpPr>
        <p:spPr>
          <a:xfrm>
            <a:off x="8475343" y="1771198"/>
            <a:ext cx="1240556" cy="138882"/>
          </a:xfrm>
          <a:prstGeom prst="rect">
            <a:avLst/>
          </a:prstGeom>
        </p:spPr>
        <p:txBody>
          <a:bodyPr lIns="0" tIns="0" rIns="0" bIns="0"/>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5"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marL="0" indent="0">
              <a:buNone/>
            </a:pPr>
            <a:r>
              <a:rPr lang="en-US" sz="1050" b="1" kern="0" dirty="0">
                <a:solidFill>
                  <a:schemeClr val="bg1"/>
                </a:solidFill>
              </a:rPr>
              <a:t>Services Provided:</a:t>
            </a:r>
          </a:p>
          <a:p>
            <a:pPr marL="0" indent="0">
              <a:buNone/>
            </a:pPr>
            <a:endParaRPr lang="en-US" sz="1000" b="1" kern="0" dirty="0">
              <a:solidFill>
                <a:schemeClr val="bg1"/>
              </a:solidFill>
            </a:endParaRPr>
          </a:p>
        </p:txBody>
      </p:sp>
      <p:sp>
        <p:nvSpPr>
          <p:cNvPr id="35" name="Text Placeholder 30">
            <a:extLst>
              <a:ext uri="{FF2B5EF4-FFF2-40B4-BE49-F238E27FC236}">
                <a16:creationId xmlns:a16="http://schemas.microsoft.com/office/drawing/2014/main" id="{A739C897-612A-E5AF-1955-B9198AA41FCC}"/>
              </a:ext>
            </a:extLst>
          </p:cNvPr>
          <p:cNvSpPr>
            <a:spLocks noGrp="1"/>
          </p:cNvSpPr>
          <p:nvPr>
            <p:ph type="body" sz="quarter" idx="15" hasCustomPrompt="1"/>
          </p:nvPr>
        </p:nvSpPr>
        <p:spPr>
          <a:xfrm>
            <a:off x="8475343" y="1960355"/>
            <a:ext cx="3328788" cy="332724"/>
          </a:xfrm>
          <a:prstGeom prst="rect">
            <a:avLst/>
          </a:prstGeom>
        </p:spPr>
        <p:txBody>
          <a:bodyPr lIns="0" tIns="0" rIns="0" bIns="0" anchor="t"/>
          <a:lstStyle>
            <a:lvl1pPr marL="0" indent="0">
              <a:buNone/>
              <a:defRPr sz="1050" b="1">
                <a:solidFill>
                  <a:schemeClr val="bg1"/>
                </a:solidFill>
                <a:highlight>
                  <a:srgbClr val="EA560D"/>
                </a:highlight>
              </a:defRPr>
            </a:lvl1pPr>
          </a:lstStyle>
          <a:p>
            <a:pPr lvl="0"/>
            <a:r>
              <a:rPr lang="en-GB" dirty="0"/>
              <a:t>Fun Fact Inserted Here</a:t>
            </a:r>
          </a:p>
        </p:txBody>
      </p:sp>
      <p:sp>
        <p:nvSpPr>
          <p:cNvPr id="36" name="Text Placeholder 33">
            <a:extLst>
              <a:ext uri="{FF2B5EF4-FFF2-40B4-BE49-F238E27FC236}">
                <a16:creationId xmlns:a16="http://schemas.microsoft.com/office/drawing/2014/main" id="{658D7181-C377-1E53-061D-E9FFA361035A}"/>
              </a:ext>
            </a:extLst>
          </p:cNvPr>
          <p:cNvSpPr>
            <a:spLocks noGrp="1"/>
          </p:cNvSpPr>
          <p:nvPr>
            <p:ph type="body" sz="quarter" idx="16" hasCustomPrompt="1"/>
          </p:nvPr>
        </p:nvSpPr>
        <p:spPr>
          <a:xfrm>
            <a:off x="9138833" y="713312"/>
            <a:ext cx="2665298"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37" name="Text Placeholder 33">
            <a:extLst>
              <a:ext uri="{FF2B5EF4-FFF2-40B4-BE49-F238E27FC236}">
                <a16:creationId xmlns:a16="http://schemas.microsoft.com/office/drawing/2014/main" id="{36484CF9-5015-3189-6A68-C01A88D0644B}"/>
              </a:ext>
            </a:extLst>
          </p:cNvPr>
          <p:cNvSpPr>
            <a:spLocks noGrp="1"/>
          </p:cNvSpPr>
          <p:nvPr>
            <p:ph type="body" sz="quarter" idx="17" hasCustomPrompt="1"/>
          </p:nvPr>
        </p:nvSpPr>
        <p:spPr>
          <a:xfrm>
            <a:off x="8930387" y="923706"/>
            <a:ext cx="2873744"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38" name="Text Placeholder 33">
            <a:extLst>
              <a:ext uri="{FF2B5EF4-FFF2-40B4-BE49-F238E27FC236}">
                <a16:creationId xmlns:a16="http://schemas.microsoft.com/office/drawing/2014/main" id="{8F5FDB46-5B36-C2D1-D5FD-9F26789AC072}"/>
              </a:ext>
            </a:extLst>
          </p:cNvPr>
          <p:cNvSpPr>
            <a:spLocks noGrp="1"/>
          </p:cNvSpPr>
          <p:nvPr>
            <p:ph type="body" sz="quarter" idx="18" hasCustomPrompt="1"/>
          </p:nvPr>
        </p:nvSpPr>
        <p:spPr>
          <a:xfrm>
            <a:off x="9140361" y="1138357"/>
            <a:ext cx="2663770"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39" name="Text Placeholder 33">
            <a:extLst>
              <a:ext uri="{FF2B5EF4-FFF2-40B4-BE49-F238E27FC236}">
                <a16:creationId xmlns:a16="http://schemas.microsoft.com/office/drawing/2014/main" id="{13230699-63FA-AC38-ED94-7CC80358B9BB}"/>
              </a:ext>
            </a:extLst>
          </p:cNvPr>
          <p:cNvSpPr>
            <a:spLocks noGrp="1"/>
          </p:cNvSpPr>
          <p:nvPr>
            <p:ph type="body" sz="quarter" idx="19" hasCustomPrompt="1"/>
          </p:nvPr>
        </p:nvSpPr>
        <p:spPr>
          <a:xfrm>
            <a:off x="8866309" y="1347587"/>
            <a:ext cx="2937821"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40" name="Text Placeholder 33">
            <a:extLst>
              <a:ext uri="{FF2B5EF4-FFF2-40B4-BE49-F238E27FC236}">
                <a16:creationId xmlns:a16="http://schemas.microsoft.com/office/drawing/2014/main" id="{C7AD068D-4B5C-DEC8-9739-5B860AF477FF}"/>
              </a:ext>
            </a:extLst>
          </p:cNvPr>
          <p:cNvSpPr>
            <a:spLocks noGrp="1"/>
          </p:cNvSpPr>
          <p:nvPr>
            <p:ph type="body" sz="quarter" idx="20" hasCustomPrompt="1"/>
          </p:nvPr>
        </p:nvSpPr>
        <p:spPr>
          <a:xfrm>
            <a:off x="8930387" y="1565265"/>
            <a:ext cx="2873743"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41" name="Text Placeholder 33">
            <a:extLst>
              <a:ext uri="{FF2B5EF4-FFF2-40B4-BE49-F238E27FC236}">
                <a16:creationId xmlns:a16="http://schemas.microsoft.com/office/drawing/2014/main" id="{2A19D43B-9EAC-4BA6-6E00-0AC27172E4AA}"/>
              </a:ext>
            </a:extLst>
          </p:cNvPr>
          <p:cNvSpPr>
            <a:spLocks noGrp="1"/>
          </p:cNvSpPr>
          <p:nvPr>
            <p:ph type="body" sz="quarter" idx="21" hasCustomPrompt="1"/>
          </p:nvPr>
        </p:nvSpPr>
        <p:spPr>
          <a:xfrm>
            <a:off x="9728187" y="1771198"/>
            <a:ext cx="2075943" cy="138882"/>
          </a:xfrm>
          <a:prstGeom prst="rect">
            <a:avLst/>
          </a:prstGeom>
        </p:spPr>
        <p:txBody>
          <a:bodyPr lIns="0" tIns="0" rIns="0" bIns="0"/>
          <a:lstStyle>
            <a:lvl1pPr marL="0" indent="0">
              <a:buNone/>
              <a:defRPr sz="1050">
                <a:solidFill>
                  <a:schemeClr val="bg1"/>
                </a:solidFill>
              </a:defRPr>
            </a:lvl1pPr>
          </a:lstStyle>
          <a:p>
            <a:pPr lvl="0"/>
            <a:r>
              <a:rPr lang="en-GB" dirty="0"/>
              <a:t>Insert Text Here</a:t>
            </a:r>
          </a:p>
        </p:txBody>
      </p:sp>
      <p:sp>
        <p:nvSpPr>
          <p:cNvPr id="43" name="Picture Placeholder 22">
            <a:extLst>
              <a:ext uri="{FF2B5EF4-FFF2-40B4-BE49-F238E27FC236}">
                <a16:creationId xmlns:a16="http://schemas.microsoft.com/office/drawing/2014/main" id="{D6A0C7F8-16F8-C919-DBB3-ADA6317976D2}"/>
              </a:ext>
            </a:extLst>
          </p:cNvPr>
          <p:cNvSpPr>
            <a:spLocks noGrp="1"/>
          </p:cNvSpPr>
          <p:nvPr>
            <p:ph type="pic" sz="quarter" idx="10" hasCustomPrompt="1"/>
          </p:nvPr>
        </p:nvSpPr>
        <p:spPr>
          <a:xfrm>
            <a:off x="8116512" y="2593195"/>
            <a:ext cx="3816424" cy="3977375"/>
          </a:xfrm>
          <a:prstGeom prst="rect">
            <a:avLst/>
          </a:prstGeom>
        </p:spPr>
        <p:txBody>
          <a:bodyPr/>
          <a:lstStyle>
            <a:lvl1pPr marL="0" indent="0" algn="ctr">
              <a:buFontTx/>
              <a:buNone/>
              <a:defRPr sz="900">
                <a:solidFill>
                  <a:srgbClr val="56626F"/>
                </a:solidFill>
              </a:defRPr>
            </a:lvl1pPr>
          </a:lstStyle>
          <a:p>
            <a:r>
              <a:rPr lang="en-GB" dirty="0"/>
              <a:t>Insert Picture Here</a:t>
            </a:r>
          </a:p>
        </p:txBody>
      </p:sp>
      <p:sp>
        <p:nvSpPr>
          <p:cNvPr id="48" name="Picture Placeholder 22">
            <a:extLst>
              <a:ext uri="{FF2B5EF4-FFF2-40B4-BE49-F238E27FC236}">
                <a16:creationId xmlns:a16="http://schemas.microsoft.com/office/drawing/2014/main" id="{1EE1CE76-EC8C-3648-8CFD-2F3339B170A4}"/>
              </a:ext>
            </a:extLst>
          </p:cNvPr>
          <p:cNvSpPr>
            <a:spLocks noGrp="1"/>
          </p:cNvSpPr>
          <p:nvPr>
            <p:ph type="pic" sz="quarter" idx="12" hasCustomPrompt="1"/>
          </p:nvPr>
        </p:nvSpPr>
        <p:spPr>
          <a:xfrm>
            <a:off x="4463356" y="654131"/>
            <a:ext cx="3303984" cy="2774869"/>
          </a:xfrm>
          <a:prstGeom prst="rect">
            <a:avLst/>
          </a:prstGeom>
        </p:spPr>
        <p:txBody>
          <a:bodyPr/>
          <a:lstStyle>
            <a:lvl1pPr marL="0" indent="0" algn="ctr">
              <a:buFontTx/>
              <a:buNone/>
              <a:defRPr sz="900">
                <a:solidFill>
                  <a:srgbClr val="56626F"/>
                </a:solidFill>
              </a:defRPr>
            </a:lvl1pPr>
          </a:lstStyle>
          <a:p>
            <a:r>
              <a:rPr lang="en-US" dirty="0"/>
              <a:t>Insert Picture Here</a:t>
            </a:r>
            <a:endParaRPr lang="en-GB" dirty="0"/>
          </a:p>
        </p:txBody>
      </p:sp>
      <p:sp>
        <p:nvSpPr>
          <p:cNvPr id="49" name="Text Placeholder 40">
            <a:extLst>
              <a:ext uri="{FF2B5EF4-FFF2-40B4-BE49-F238E27FC236}">
                <a16:creationId xmlns:a16="http://schemas.microsoft.com/office/drawing/2014/main" id="{EFCBFE30-DB91-D8FD-A4CA-CABEBB728896}"/>
              </a:ext>
            </a:extLst>
          </p:cNvPr>
          <p:cNvSpPr>
            <a:spLocks noGrp="1"/>
          </p:cNvSpPr>
          <p:nvPr>
            <p:ph type="body" sz="quarter" idx="23" hasCustomPrompt="1"/>
          </p:nvPr>
        </p:nvSpPr>
        <p:spPr>
          <a:xfrm>
            <a:off x="4464772" y="215900"/>
            <a:ext cx="3303984" cy="314085"/>
          </a:xfrm>
          <a:prstGeom prst="rect">
            <a:avLst/>
          </a:prstGeom>
        </p:spPr>
        <p:txBody>
          <a:bodyPr lIns="0" tIns="0" rIns="0" bIns="0"/>
          <a:lstStyle>
            <a:lvl1pPr marL="0" indent="0">
              <a:buNone/>
              <a:defRPr sz="1100" b="1"/>
            </a:lvl1pPr>
          </a:lstStyle>
          <a:p>
            <a:pPr lvl="0"/>
            <a:r>
              <a:rPr lang="en-GB" dirty="0"/>
              <a:t>Caption Title:</a:t>
            </a:r>
          </a:p>
        </p:txBody>
      </p:sp>
      <p:sp>
        <p:nvSpPr>
          <p:cNvPr id="50" name="Picture Placeholder 22">
            <a:extLst>
              <a:ext uri="{FF2B5EF4-FFF2-40B4-BE49-F238E27FC236}">
                <a16:creationId xmlns:a16="http://schemas.microsoft.com/office/drawing/2014/main" id="{FDB4D6F3-9485-72D3-DB5E-C5FAFBE5F63D}"/>
              </a:ext>
            </a:extLst>
          </p:cNvPr>
          <p:cNvSpPr>
            <a:spLocks noGrp="1"/>
          </p:cNvSpPr>
          <p:nvPr>
            <p:ph type="pic" sz="quarter" idx="24" hasCustomPrompt="1"/>
          </p:nvPr>
        </p:nvSpPr>
        <p:spPr>
          <a:xfrm>
            <a:off x="4462747" y="3637160"/>
            <a:ext cx="3303985" cy="2933411"/>
          </a:xfrm>
          <a:prstGeom prst="rect">
            <a:avLst/>
          </a:prstGeom>
        </p:spPr>
        <p:txBody>
          <a:bodyPr/>
          <a:lstStyle>
            <a:lvl1pPr marL="0" indent="0" algn="ctr">
              <a:buFontTx/>
              <a:buNone/>
              <a:defRPr sz="900">
                <a:solidFill>
                  <a:srgbClr val="56626F"/>
                </a:solidFill>
              </a:defRPr>
            </a:lvl1pPr>
          </a:lstStyle>
          <a:p>
            <a:r>
              <a:rPr lang="en-US" dirty="0"/>
              <a:t>Insert Picture Here</a:t>
            </a:r>
            <a:endParaRPr lang="en-GB" dirty="0"/>
          </a:p>
        </p:txBody>
      </p:sp>
      <p:sp>
        <p:nvSpPr>
          <p:cNvPr id="2" name="Picture Placeholder 22">
            <a:extLst>
              <a:ext uri="{FF2B5EF4-FFF2-40B4-BE49-F238E27FC236}">
                <a16:creationId xmlns:a16="http://schemas.microsoft.com/office/drawing/2014/main" id="{764D07C7-DD2B-8805-6C77-F3E47F0A2BF3}"/>
              </a:ext>
            </a:extLst>
          </p:cNvPr>
          <p:cNvSpPr>
            <a:spLocks noGrp="1"/>
          </p:cNvSpPr>
          <p:nvPr>
            <p:ph type="pic" sz="quarter" idx="25" hasCustomPrompt="1"/>
          </p:nvPr>
        </p:nvSpPr>
        <p:spPr>
          <a:xfrm>
            <a:off x="0" y="0"/>
            <a:ext cx="4071258" cy="2414865"/>
          </a:xfrm>
          <a:prstGeom prst="rect">
            <a:avLst/>
          </a:prstGeom>
        </p:spPr>
        <p:txBody>
          <a:bodyPr/>
          <a:lstStyle>
            <a:lvl1pPr marL="0" indent="0" algn="ctr">
              <a:buFontTx/>
              <a:buNone/>
              <a:defRPr sz="900">
                <a:solidFill>
                  <a:srgbClr val="56626F"/>
                </a:solidFill>
              </a:defRPr>
            </a:lvl1pPr>
          </a:lstStyle>
          <a:p>
            <a:r>
              <a:rPr lang="en-GB" dirty="0"/>
              <a:t>Insert Picture Here</a:t>
            </a:r>
          </a:p>
        </p:txBody>
      </p:sp>
      <p:sp>
        <p:nvSpPr>
          <p:cNvPr id="4" name="Picture Placeholder 22">
            <a:extLst>
              <a:ext uri="{FF2B5EF4-FFF2-40B4-BE49-F238E27FC236}">
                <a16:creationId xmlns:a16="http://schemas.microsoft.com/office/drawing/2014/main" id="{03A26C86-7DC4-9234-C33B-1FD5F1278D55}"/>
              </a:ext>
            </a:extLst>
          </p:cNvPr>
          <p:cNvSpPr>
            <a:spLocks noGrp="1"/>
          </p:cNvSpPr>
          <p:nvPr>
            <p:ph type="pic" sz="quarter" idx="26" hasCustomPrompt="1"/>
          </p:nvPr>
        </p:nvSpPr>
        <p:spPr>
          <a:xfrm>
            <a:off x="0" y="2452084"/>
            <a:ext cx="4071258" cy="4405916"/>
          </a:xfrm>
          <a:prstGeom prst="rect">
            <a:avLst/>
          </a:prstGeom>
        </p:spPr>
        <p:txBody>
          <a:bodyPr/>
          <a:lstStyle>
            <a:lvl1pPr marL="0" indent="0" algn="ctr">
              <a:buFontTx/>
              <a:buNone/>
              <a:defRPr sz="900">
                <a:solidFill>
                  <a:srgbClr val="56626F"/>
                </a:solidFill>
              </a:defRPr>
            </a:lvl1pPr>
          </a:lstStyle>
          <a:p>
            <a:r>
              <a:rPr lang="en-GB" dirty="0"/>
              <a:t>Insert Picture Here</a:t>
            </a:r>
          </a:p>
        </p:txBody>
      </p:sp>
      <p:pic>
        <p:nvPicPr>
          <p:cNvPr id="6" name="Graphic 5">
            <a:extLst>
              <a:ext uri="{FF2B5EF4-FFF2-40B4-BE49-F238E27FC236}">
                <a16:creationId xmlns:a16="http://schemas.microsoft.com/office/drawing/2014/main" id="{DB5DB66B-61E5-5A41-FD0E-EFFE6756CE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42078687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guide id="3" pos="166" userDrawn="1">
          <p15:clr>
            <a:srgbClr val="FBAE40"/>
          </p15:clr>
        </p15:guide>
        <p15:guide id="5" pos="7514"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roject Images x2, Gradient (for dark pictures)">
    <p:spTree>
      <p:nvGrpSpPr>
        <p:cNvPr id="1" name=""/>
        <p:cNvGrpSpPr/>
        <p:nvPr/>
      </p:nvGrpSpPr>
      <p:grpSpPr>
        <a:xfrm>
          <a:off x="0" y="0"/>
          <a:ext cx="0" cy="0"/>
          <a:chOff x="0" y="0"/>
          <a:chExt cx="0" cy="0"/>
        </a:xfrm>
      </p:grpSpPr>
      <p:sp>
        <p:nvSpPr>
          <p:cNvPr id="11" name="Picture Placeholder 7">
            <a:extLst>
              <a:ext uri="{FF2B5EF4-FFF2-40B4-BE49-F238E27FC236}">
                <a16:creationId xmlns:a16="http://schemas.microsoft.com/office/drawing/2014/main" id="{9EA0FDB5-2E16-9E9A-ABCF-5AD7A5A8D1C5}"/>
              </a:ext>
            </a:extLst>
          </p:cNvPr>
          <p:cNvSpPr>
            <a:spLocks noGrp="1"/>
          </p:cNvSpPr>
          <p:nvPr>
            <p:ph type="pic" sz="quarter" idx="10"/>
          </p:nvPr>
        </p:nvSpPr>
        <p:spPr>
          <a:xfrm>
            <a:off x="0" y="0"/>
            <a:ext cx="6023992" cy="6858000"/>
          </a:xfrm>
          <a:prstGeom prst="rect">
            <a:avLst/>
          </a:prstGeom>
          <a:solidFill>
            <a:schemeClr val="tx1">
              <a:lumMod val="20000"/>
              <a:lumOff val="80000"/>
            </a:schemeClr>
          </a:solidFill>
          <a:ln>
            <a:noFill/>
          </a:ln>
        </p:spPr>
        <p:txBody>
          <a:bodyPr/>
          <a:lstStyle>
            <a:lvl1pPr marL="0" indent="0" algn="ctr">
              <a:buFontTx/>
              <a:buNone/>
              <a:defRPr sz="2800" b="0"/>
            </a:lvl1pPr>
          </a:lstStyle>
          <a:p>
            <a:r>
              <a:rPr lang="en-US"/>
              <a:t>Click icon to add picture</a:t>
            </a:r>
            <a:endParaRPr lang="en-GB" dirty="0"/>
          </a:p>
        </p:txBody>
      </p:sp>
      <p:sp>
        <p:nvSpPr>
          <p:cNvPr id="12" name="Picture Placeholder 9">
            <a:extLst>
              <a:ext uri="{FF2B5EF4-FFF2-40B4-BE49-F238E27FC236}">
                <a16:creationId xmlns:a16="http://schemas.microsoft.com/office/drawing/2014/main" id="{9140535C-F86C-8C75-F026-B50395E38988}"/>
              </a:ext>
            </a:extLst>
          </p:cNvPr>
          <p:cNvSpPr>
            <a:spLocks noGrp="1"/>
          </p:cNvSpPr>
          <p:nvPr>
            <p:ph type="pic" sz="quarter" idx="11"/>
          </p:nvPr>
        </p:nvSpPr>
        <p:spPr>
          <a:xfrm>
            <a:off x="6096001" y="0"/>
            <a:ext cx="6096000" cy="6858000"/>
          </a:xfrm>
          <a:prstGeom prst="rect">
            <a:avLst/>
          </a:prstGeom>
          <a:solidFill>
            <a:schemeClr val="tx1">
              <a:lumMod val="20000"/>
              <a:lumOff val="80000"/>
            </a:schemeClr>
          </a:solidFill>
          <a:ln>
            <a:noFill/>
          </a:ln>
        </p:spPr>
        <p:txBody>
          <a:bodyPr/>
          <a:lstStyle>
            <a:lvl1pPr marL="0" indent="0" algn="ctr">
              <a:buFontTx/>
              <a:buNone/>
              <a:defRPr sz="2800" b="0"/>
            </a:lvl1pPr>
          </a:lstStyle>
          <a:p>
            <a:r>
              <a:rPr lang="en-US"/>
              <a:t>Click icon to add picture</a:t>
            </a:r>
            <a:endParaRPr lang="en-GB" dirty="0"/>
          </a:p>
        </p:txBody>
      </p:sp>
      <p:sp>
        <p:nvSpPr>
          <p:cNvPr id="7" name="Footer Placeholder 1">
            <a:extLst>
              <a:ext uri="{FF2B5EF4-FFF2-40B4-BE49-F238E27FC236}">
                <a16:creationId xmlns:a16="http://schemas.microsoft.com/office/drawing/2014/main" id="{93A7402D-8879-8D61-6E80-C1AF39EDE88D}"/>
              </a:ext>
            </a:extLst>
          </p:cNvPr>
          <p:cNvSpPr txBox="1">
            <a:spLocks/>
          </p:cNvSpPr>
          <p:nvPr userDrawn="1"/>
        </p:nvSpPr>
        <p:spPr>
          <a:xfrm>
            <a:off x="239349" y="6377044"/>
            <a:ext cx="12192000" cy="360363"/>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1pPr>
            <a:lvl2pPr marL="742950" indent="-28575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2pPr>
            <a:lvl3pPr marL="11430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3pPr>
            <a:lvl4pPr marL="16002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4pPr>
            <a:lvl5pPr marL="20574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5pPr>
            <a:lvl6pPr marL="25146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6pPr>
            <a:lvl7pPr marL="29718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7pPr>
            <a:lvl8pPr marL="34290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8pPr>
            <a:lvl9pPr marL="38862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9pPr>
          </a:lstStyle>
          <a:p>
            <a:pPr eaLnBrk="1" hangingPunct="1"/>
            <a:r>
              <a:rPr lang="en-GB" sz="1600" b="0" i="0">
                <a:solidFill>
                  <a:srgbClr val="404040"/>
                </a:solidFill>
                <a:latin typeface="New Rail Alphabet Light" panose="02000503060000020004" pitchFamily="2" charset="0"/>
                <a:cs typeface="New Rail Alphabet Medium"/>
              </a:rPr>
              <a:t>  </a:t>
            </a:r>
            <a:endParaRPr lang="en-US" sz="1200" b="0" i="0">
              <a:solidFill>
                <a:srgbClr val="404040"/>
              </a:solidFill>
              <a:latin typeface="New Rail Alphabet Light" panose="02000503060000020004" pitchFamily="2" charset="0"/>
              <a:cs typeface="New Rail Alphabet Medium"/>
            </a:endParaRPr>
          </a:p>
        </p:txBody>
      </p:sp>
      <p:sp>
        <p:nvSpPr>
          <p:cNvPr id="9" name="Footer Placeholder 1">
            <a:extLst>
              <a:ext uri="{FF2B5EF4-FFF2-40B4-BE49-F238E27FC236}">
                <a16:creationId xmlns:a16="http://schemas.microsoft.com/office/drawing/2014/main" id="{0B858688-B52C-797B-B3BF-DCA9D9EB659A}"/>
              </a:ext>
            </a:extLst>
          </p:cNvPr>
          <p:cNvSpPr txBox="1">
            <a:spLocks/>
          </p:cNvSpPr>
          <p:nvPr userDrawn="1"/>
        </p:nvSpPr>
        <p:spPr>
          <a:xfrm>
            <a:off x="239349" y="6377044"/>
            <a:ext cx="12192000" cy="360363"/>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1pPr>
            <a:lvl2pPr marL="742950" indent="-28575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2pPr>
            <a:lvl3pPr marL="11430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3pPr>
            <a:lvl4pPr marL="16002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4pPr>
            <a:lvl5pPr marL="2057400" indent="-228600" algn="l" rtl="0" eaLnBrk="0" fontAlgn="base" hangingPunct="0">
              <a:spcBef>
                <a:spcPct val="0"/>
              </a:spcBef>
              <a:spcAft>
                <a:spcPct val="0"/>
              </a:spcAft>
              <a:defRPr sz="2400" kern="1200">
                <a:solidFill>
                  <a:schemeClr val="tx1"/>
                </a:solidFill>
                <a:latin typeface="Arial" charset="0"/>
                <a:ea typeface="ＭＳ Ｐゴシック" charset="0"/>
                <a:cs typeface="Arial" charset="0"/>
              </a:defRPr>
            </a:lvl5pPr>
            <a:lvl6pPr marL="25146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6pPr>
            <a:lvl7pPr marL="29718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7pPr>
            <a:lvl8pPr marL="34290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8pPr>
            <a:lvl9pPr marL="3886200" indent="-228600" algn="l" defTabSz="914400" rtl="0" eaLnBrk="0" fontAlgn="base" latinLnBrk="0" hangingPunct="0">
              <a:spcBef>
                <a:spcPct val="0"/>
              </a:spcBef>
              <a:spcAft>
                <a:spcPct val="0"/>
              </a:spcAft>
              <a:defRPr sz="2400" kern="1200">
                <a:solidFill>
                  <a:schemeClr val="tx1"/>
                </a:solidFill>
                <a:latin typeface="Arial" charset="0"/>
                <a:ea typeface="ＭＳ Ｐゴシック" charset="0"/>
                <a:cs typeface="Arial" charset="0"/>
              </a:defRPr>
            </a:lvl9pPr>
          </a:lstStyle>
          <a:p>
            <a:pPr eaLnBrk="1" hangingPunct="1"/>
            <a:r>
              <a:rPr lang="en-GB" sz="1600" b="0" i="0">
                <a:solidFill>
                  <a:srgbClr val="404040"/>
                </a:solidFill>
                <a:latin typeface="New Rail Alphabet Light" panose="02000503060000020004" pitchFamily="2" charset="0"/>
                <a:cs typeface="New Rail Alphabet Medium"/>
              </a:rPr>
              <a:t>  </a:t>
            </a:r>
            <a:endParaRPr lang="en-US" sz="1200" b="0" i="0">
              <a:solidFill>
                <a:srgbClr val="404040"/>
              </a:solidFill>
              <a:latin typeface="New Rail Alphabet Light" panose="02000503060000020004" pitchFamily="2" charset="0"/>
              <a:cs typeface="New Rail Alphabet Medium"/>
            </a:endParaRPr>
          </a:p>
        </p:txBody>
      </p:sp>
      <p:sp>
        <p:nvSpPr>
          <p:cNvPr id="2" name="Text Placeholder 8">
            <a:extLst>
              <a:ext uri="{FF2B5EF4-FFF2-40B4-BE49-F238E27FC236}">
                <a16:creationId xmlns:a16="http://schemas.microsoft.com/office/drawing/2014/main" id="{A48AA66C-F084-F2B5-4667-A2380BC598AC}"/>
              </a:ext>
            </a:extLst>
          </p:cNvPr>
          <p:cNvSpPr>
            <a:spLocks noGrp="1"/>
          </p:cNvSpPr>
          <p:nvPr>
            <p:ph type="body" sz="quarter" idx="12" hasCustomPrompt="1"/>
          </p:nvPr>
        </p:nvSpPr>
        <p:spPr>
          <a:xfrm>
            <a:off x="6205388" y="6453336"/>
            <a:ext cx="5761038" cy="307975"/>
          </a:xfrm>
          <a:prstGeom prst="rect">
            <a:avLst/>
          </a:prstGeom>
        </p:spPr>
        <p:txBody>
          <a:bodyPr/>
          <a:lstStyle>
            <a:lvl1pPr marL="0" indent="0" algn="r">
              <a:buNone/>
              <a:defRPr sz="1400" b="1">
                <a:solidFill>
                  <a:schemeClr val="bg1"/>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Project Name, City | Architect</a:t>
            </a:r>
            <a:endParaRPr lang="en-GB" dirty="0"/>
          </a:p>
        </p:txBody>
      </p:sp>
      <p:sp>
        <p:nvSpPr>
          <p:cNvPr id="3" name="Text Placeholder 8">
            <a:extLst>
              <a:ext uri="{FF2B5EF4-FFF2-40B4-BE49-F238E27FC236}">
                <a16:creationId xmlns:a16="http://schemas.microsoft.com/office/drawing/2014/main" id="{25B45145-FE0A-5BF4-1025-A77B6A67A279}"/>
              </a:ext>
            </a:extLst>
          </p:cNvPr>
          <p:cNvSpPr>
            <a:spLocks noGrp="1"/>
          </p:cNvSpPr>
          <p:nvPr>
            <p:ph type="body" sz="quarter" idx="16" hasCustomPrompt="1"/>
          </p:nvPr>
        </p:nvSpPr>
        <p:spPr>
          <a:xfrm>
            <a:off x="6205388" y="6211026"/>
            <a:ext cx="5761038" cy="307975"/>
          </a:xfrm>
          <a:prstGeom prst="rect">
            <a:avLst/>
          </a:prstGeom>
        </p:spPr>
        <p:txBody>
          <a:bodyPr/>
          <a:lstStyle>
            <a:lvl1pPr marL="0" indent="0" algn="r">
              <a:buNone/>
              <a:defRPr sz="1400" b="1">
                <a:solidFill>
                  <a:srgbClr val="EA560D"/>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Year Awards ─ Award</a:t>
            </a:r>
            <a:endParaRPr lang="en-GB" dirty="0"/>
          </a:p>
        </p:txBody>
      </p:sp>
      <p:pic>
        <p:nvPicPr>
          <p:cNvPr id="4" name="Graphic 3">
            <a:extLst>
              <a:ext uri="{FF2B5EF4-FFF2-40B4-BE49-F238E27FC236}">
                <a16:creationId xmlns:a16="http://schemas.microsoft.com/office/drawing/2014/main" id="{B6A1AF96-4055-A63D-E807-3E7C2DDE40E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361" y="6338001"/>
            <a:ext cx="1008000" cy="343990"/>
          </a:xfrm>
          <a:prstGeom prst="rect">
            <a:avLst/>
          </a:prstGeom>
        </p:spPr>
      </p:pic>
    </p:spTree>
    <p:extLst>
      <p:ext uri="{BB962C8B-B14F-4D97-AF65-F5344CB8AC3E}">
        <p14:creationId xmlns:p14="http://schemas.microsoft.com/office/powerpoint/2010/main" val="17452155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Project Images x2, No Gradient (for lighter pictures)">
    <p:spTree>
      <p:nvGrpSpPr>
        <p:cNvPr id="1" name=""/>
        <p:cNvGrpSpPr/>
        <p:nvPr/>
      </p:nvGrpSpPr>
      <p:grpSpPr>
        <a:xfrm>
          <a:off x="0" y="0"/>
          <a:ext cx="0" cy="0"/>
          <a:chOff x="0" y="0"/>
          <a:chExt cx="0" cy="0"/>
        </a:xfrm>
      </p:grpSpPr>
      <p:sp>
        <p:nvSpPr>
          <p:cNvPr id="4" name="Picture Placeholder 7">
            <a:extLst>
              <a:ext uri="{FF2B5EF4-FFF2-40B4-BE49-F238E27FC236}">
                <a16:creationId xmlns:a16="http://schemas.microsoft.com/office/drawing/2014/main" id="{E482F801-EC46-231B-8AAE-0A2CCA6A2E5E}"/>
              </a:ext>
            </a:extLst>
          </p:cNvPr>
          <p:cNvSpPr>
            <a:spLocks noGrp="1"/>
          </p:cNvSpPr>
          <p:nvPr>
            <p:ph type="pic" sz="quarter" idx="10"/>
          </p:nvPr>
        </p:nvSpPr>
        <p:spPr>
          <a:xfrm>
            <a:off x="0" y="0"/>
            <a:ext cx="6023992" cy="6858000"/>
          </a:xfrm>
          <a:prstGeom prst="rect">
            <a:avLst/>
          </a:prstGeom>
          <a:solidFill>
            <a:schemeClr val="tx1">
              <a:lumMod val="20000"/>
              <a:lumOff val="80000"/>
            </a:schemeClr>
          </a:solidFill>
          <a:ln>
            <a:noFill/>
          </a:ln>
        </p:spPr>
        <p:txBody>
          <a:bodyPr/>
          <a:lstStyle>
            <a:lvl1pPr marL="0" indent="0" algn="ctr">
              <a:buFontTx/>
              <a:buNone/>
              <a:defRPr sz="2800" b="0"/>
            </a:lvl1pPr>
          </a:lstStyle>
          <a:p>
            <a:r>
              <a:rPr lang="en-US"/>
              <a:t>Click icon to add picture</a:t>
            </a:r>
            <a:endParaRPr lang="en-GB" dirty="0"/>
          </a:p>
        </p:txBody>
      </p:sp>
      <p:sp>
        <p:nvSpPr>
          <p:cNvPr id="5" name="Picture Placeholder 9">
            <a:extLst>
              <a:ext uri="{FF2B5EF4-FFF2-40B4-BE49-F238E27FC236}">
                <a16:creationId xmlns:a16="http://schemas.microsoft.com/office/drawing/2014/main" id="{8313A9F8-86FA-EB35-06C2-8E6A25A74274}"/>
              </a:ext>
            </a:extLst>
          </p:cNvPr>
          <p:cNvSpPr>
            <a:spLocks noGrp="1"/>
          </p:cNvSpPr>
          <p:nvPr>
            <p:ph type="pic" sz="quarter" idx="11"/>
          </p:nvPr>
        </p:nvSpPr>
        <p:spPr>
          <a:xfrm>
            <a:off x="6096001" y="0"/>
            <a:ext cx="6095999" cy="6858000"/>
          </a:xfrm>
          <a:prstGeom prst="rect">
            <a:avLst/>
          </a:prstGeom>
          <a:solidFill>
            <a:schemeClr val="tx1">
              <a:lumMod val="20000"/>
              <a:lumOff val="80000"/>
            </a:schemeClr>
          </a:solidFill>
          <a:ln>
            <a:noFill/>
          </a:ln>
        </p:spPr>
        <p:txBody>
          <a:bodyPr/>
          <a:lstStyle>
            <a:lvl1pPr marL="0" indent="0" algn="ctr">
              <a:buFontTx/>
              <a:buNone/>
              <a:defRPr sz="2800" b="0"/>
            </a:lvl1pPr>
          </a:lstStyle>
          <a:p>
            <a:r>
              <a:rPr lang="en-US"/>
              <a:t>Click icon to add picture</a:t>
            </a:r>
            <a:endParaRPr lang="en-GB" dirty="0"/>
          </a:p>
        </p:txBody>
      </p:sp>
      <p:sp>
        <p:nvSpPr>
          <p:cNvPr id="8" name="Text Placeholder 8">
            <a:extLst>
              <a:ext uri="{FF2B5EF4-FFF2-40B4-BE49-F238E27FC236}">
                <a16:creationId xmlns:a16="http://schemas.microsoft.com/office/drawing/2014/main" id="{4E7C6935-43A8-FEFF-FB53-485706C006DC}"/>
              </a:ext>
            </a:extLst>
          </p:cNvPr>
          <p:cNvSpPr>
            <a:spLocks noGrp="1"/>
          </p:cNvSpPr>
          <p:nvPr>
            <p:ph type="body" sz="quarter" idx="12" hasCustomPrompt="1"/>
          </p:nvPr>
        </p:nvSpPr>
        <p:spPr>
          <a:xfrm>
            <a:off x="6205388" y="6453336"/>
            <a:ext cx="5761038" cy="307975"/>
          </a:xfrm>
          <a:prstGeom prst="rect">
            <a:avLst/>
          </a:prstGeom>
        </p:spPr>
        <p:txBody>
          <a:bodyPr/>
          <a:lstStyle>
            <a:lvl1pPr marL="0" indent="0" algn="r">
              <a:buNone/>
              <a:defRPr sz="1400" b="1">
                <a:solidFill>
                  <a:srgbClr val="56626F"/>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Project Name, City | Architect</a:t>
            </a:r>
            <a:endParaRPr lang="en-GB" dirty="0"/>
          </a:p>
        </p:txBody>
      </p:sp>
      <p:sp>
        <p:nvSpPr>
          <p:cNvPr id="10" name="Text Placeholder 8">
            <a:extLst>
              <a:ext uri="{FF2B5EF4-FFF2-40B4-BE49-F238E27FC236}">
                <a16:creationId xmlns:a16="http://schemas.microsoft.com/office/drawing/2014/main" id="{AA69FD0B-7D5A-8AFE-587F-22C8BC0D1D56}"/>
              </a:ext>
            </a:extLst>
          </p:cNvPr>
          <p:cNvSpPr>
            <a:spLocks noGrp="1"/>
          </p:cNvSpPr>
          <p:nvPr>
            <p:ph type="body" sz="quarter" idx="16" hasCustomPrompt="1"/>
          </p:nvPr>
        </p:nvSpPr>
        <p:spPr>
          <a:xfrm>
            <a:off x="6205388" y="6211026"/>
            <a:ext cx="5761038" cy="307975"/>
          </a:xfrm>
          <a:prstGeom prst="rect">
            <a:avLst/>
          </a:prstGeom>
        </p:spPr>
        <p:txBody>
          <a:bodyPr/>
          <a:lstStyle>
            <a:lvl1pPr marL="0" indent="0" algn="r">
              <a:buNone/>
              <a:defRPr sz="1400" b="1">
                <a:solidFill>
                  <a:srgbClr val="EA560D"/>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Year Awards ─ Award</a:t>
            </a:r>
            <a:endParaRPr lang="en-GB" dirty="0"/>
          </a:p>
        </p:txBody>
      </p:sp>
      <p:pic>
        <p:nvPicPr>
          <p:cNvPr id="3" name="Graphic 2">
            <a:extLst>
              <a:ext uri="{FF2B5EF4-FFF2-40B4-BE49-F238E27FC236}">
                <a16:creationId xmlns:a16="http://schemas.microsoft.com/office/drawing/2014/main" id="{9E43F999-5473-0508-A408-80C6C71CD02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361" y="6338001"/>
            <a:ext cx="1008000" cy="343990"/>
          </a:xfrm>
          <a:prstGeom prst="rect">
            <a:avLst/>
          </a:prstGeom>
        </p:spPr>
      </p:pic>
    </p:spTree>
    <p:extLst>
      <p:ext uri="{BB962C8B-B14F-4D97-AF65-F5344CB8AC3E}">
        <p14:creationId xmlns:p14="http://schemas.microsoft.com/office/powerpoint/2010/main" val="23416762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3931">
          <p15:clr>
            <a:srgbClr val="FBAE40"/>
          </p15:clr>
        </p15:guide>
        <p15:guide id="4" pos="3749">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Project Images x2 Text Left Aligne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80F8C3DF-B500-4BDB-BA5B-E76CC41B6CD8}"/>
              </a:ext>
            </a:extLst>
          </p:cNvPr>
          <p:cNvSpPr>
            <a:spLocks noGrp="1"/>
          </p:cNvSpPr>
          <p:nvPr>
            <p:ph type="pic" sz="quarter" idx="10"/>
          </p:nvPr>
        </p:nvSpPr>
        <p:spPr>
          <a:xfrm>
            <a:off x="4800600" y="-8032"/>
            <a:ext cx="7391400" cy="6858000"/>
          </a:xfrm>
          <a:prstGeom prst="rect">
            <a:avLst/>
          </a:prstGeom>
          <a:solidFill>
            <a:schemeClr val="bg1"/>
          </a:solidFill>
          <a:ln>
            <a:noFill/>
          </a:ln>
        </p:spPr>
        <p:txBody>
          <a:bodyPr/>
          <a:lstStyle>
            <a:lvl1pPr marL="0" indent="0" algn="ctr">
              <a:buFontTx/>
              <a:buNone/>
              <a:defRPr sz="2800" b="0"/>
            </a:lvl1pPr>
          </a:lstStyle>
          <a:p>
            <a:r>
              <a:rPr lang="en-US"/>
              <a:t>Click icon to add picture</a:t>
            </a:r>
            <a:endParaRPr lang="en-GB" dirty="0"/>
          </a:p>
        </p:txBody>
      </p:sp>
      <p:sp>
        <p:nvSpPr>
          <p:cNvPr id="10" name="Picture Placeholder 9">
            <a:extLst>
              <a:ext uri="{FF2B5EF4-FFF2-40B4-BE49-F238E27FC236}">
                <a16:creationId xmlns:a16="http://schemas.microsoft.com/office/drawing/2014/main" id="{FB4D35F5-5960-48E3-82D2-E517114940EF}"/>
              </a:ext>
            </a:extLst>
          </p:cNvPr>
          <p:cNvSpPr>
            <a:spLocks noGrp="1"/>
          </p:cNvSpPr>
          <p:nvPr>
            <p:ph type="pic" sz="quarter" idx="11"/>
          </p:nvPr>
        </p:nvSpPr>
        <p:spPr>
          <a:xfrm>
            <a:off x="-2456" y="0"/>
            <a:ext cx="4727847" cy="6858000"/>
          </a:xfrm>
          <a:prstGeom prst="rect">
            <a:avLst/>
          </a:prstGeom>
          <a:solidFill>
            <a:schemeClr val="bg1"/>
          </a:solidFill>
          <a:ln>
            <a:noFill/>
          </a:ln>
        </p:spPr>
        <p:txBody>
          <a:bodyPr/>
          <a:lstStyle>
            <a:lvl1pPr marL="0" indent="0" algn="ctr">
              <a:buFontTx/>
              <a:buNone/>
              <a:defRPr sz="2800" b="0"/>
            </a:lvl1pPr>
          </a:lstStyle>
          <a:p>
            <a:r>
              <a:rPr lang="en-US"/>
              <a:t>Click icon to add picture</a:t>
            </a:r>
            <a:endParaRPr lang="en-GB" dirty="0"/>
          </a:p>
        </p:txBody>
      </p:sp>
      <p:sp>
        <p:nvSpPr>
          <p:cNvPr id="4" name="Text Placeholder 8">
            <a:extLst>
              <a:ext uri="{FF2B5EF4-FFF2-40B4-BE49-F238E27FC236}">
                <a16:creationId xmlns:a16="http://schemas.microsoft.com/office/drawing/2014/main" id="{144906E6-B241-14D6-958C-4D976BB60DFA}"/>
              </a:ext>
            </a:extLst>
          </p:cNvPr>
          <p:cNvSpPr>
            <a:spLocks noGrp="1"/>
          </p:cNvSpPr>
          <p:nvPr>
            <p:ph type="body" sz="quarter" idx="12" hasCustomPrompt="1"/>
          </p:nvPr>
        </p:nvSpPr>
        <p:spPr>
          <a:xfrm>
            <a:off x="6205388" y="6453336"/>
            <a:ext cx="5761038" cy="307975"/>
          </a:xfrm>
          <a:prstGeom prst="rect">
            <a:avLst/>
          </a:prstGeom>
        </p:spPr>
        <p:txBody>
          <a:bodyPr/>
          <a:lstStyle>
            <a:lvl1pPr marL="0" indent="0" algn="r">
              <a:buNone/>
              <a:defRPr sz="1400" b="1">
                <a:solidFill>
                  <a:srgbClr val="56626F"/>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Project Name, City | Architect</a:t>
            </a:r>
            <a:endParaRPr lang="en-GB" dirty="0"/>
          </a:p>
        </p:txBody>
      </p:sp>
      <p:sp>
        <p:nvSpPr>
          <p:cNvPr id="5" name="Text Placeholder 8">
            <a:extLst>
              <a:ext uri="{FF2B5EF4-FFF2-40B4-BE49-F238E27FC236}">
                <a16:creationId xmlns:a16="http://schemas.microsoft.com/office/drawing/2014/main" id="{628579FF-A002-C90E-2769-06BC50676935}"/>
              </a:ext>
            </a:extLst>
          </p:cNvPr>
          <p:cNvSpPr>
            <a:spLocks noGrp="1"/>
          </p:cNvSpPr>
          <p:nvPr>
            <p:ph type="body" sz="quarter" idx="16" hasCustomPrompt="1"/>
          </p:nvPr>
        </p:nvSpPr>
        <p:spPr>
          <a:xfrm>
            <a:off x="6205388" y="6211026"/>
            <a:ext cx="5761038" cy="307975"/>
          </a:xfrm>
          <a:prstGeom prst="rect">
            <a:avLst/>
          </a:prstGeom>
        </p:spPr>
        <p:txBody>
          <a:bodyPr/>
          <a:lstStyle>
            <a:lvl1pPr marL="0" indent="0" algn="r">
              <a:buNone/>
              <a:defRPr sz="1400" b="1">
                <a:solidFill>
                  <a:srgbClr val="EA560D"/>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Year Awards ─ Award</a:t>
            </a:r>
            <a:endParaRPr lang="en-GB" dirty="0"/>
          </a:p>
        </p:txBody>
      </p:sp>
      <p:pic>
        <p:nvPicPr>
          <p:cNvPr id="3" name="Graphic 2">
            <a:extLst>
              <a:ext uri="{FF2B5EF4-FFF2-40B4-BE49-F238E27FC236}">
                <a16:creationId xmlns:a16="http://schemas.microsoft.com/office/drawing/2014/main" id="{BBF191A4-061C-E4E6-213C-10924E6674A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7380508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3931">
          <p15:clr>
            <a:srgbClr val="FBAE40"/>
          </p15:clr>
        </p15:guide>
        <p15:guide id="4" pos="3749">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Project Images x3 Text Left Aligned">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DE4ADE62-F990-6315-3248-48052103D672}"/>
              </a:ext>
            </a:extLst>
          </p:cNvPr>
          <p:cNvSpPr>
            <a:spLocks noGrp="1"/>
          </p:cNvSpPr>
          <p:nvPr>
            <p:ph type="pic" sz="quarter" idx="10"/>
          </p:nvPr>
        </p:nvSpPr>
        <p:spPr>
          <a:xfrm>
            <a:off x="4800600" y="0"/>
            <a:ext cx="7391400" cy="6858000"/>
          </a:xfrm>
          <a:prstGeom prst="rect">
            <a:avLst/>
          </a:prstGeom>
          <a:solidFill>
            <a:schemeClr val="bg1"/>
          </a:solidFill>
          <a:ln>
            <a:noFill/>
          </a:ln>
        </p:spPr>
        <p:txBody>
          <a:bodyPr/>
          <a:lstStyle>
            <a:lvl1pPr marL="0" indent="0" algn="ctr">
              <a:buFontTx/>
              <a:buNone/>
              <a:defRPr sz="2800" b="0"/>
            </a:lvl1pPr>
          </a:lstStyle>
          <a:p>
            <a:r>
              <a:rPr lang="en-US"/>
              <a:t>Click icon to add picture</a:t>
            </a:r>
            <a:endParaRPr lang="en-GB" dirty="0"/>
          </a:p>
        </p:txBody>
      </p:sp>
      <p:sp>
        <p:nvSpPr>
          <p:cNvPr id="3" name="Picture Placeholder 9">
            <a:extLst>
              <a:ext uri="{FF2B5EF4-FFF2-40B4-BE49-F238E27FC236}">
                <a16:creationId xmlns:a16="http://schemas.microsoft.com/office/drawing/2014/main" id="{26187E47-FACB-86FA-A297-62D084F0721A}"/>
              </a:ext>
            </a:extLst>
          </p:cNvPr>
          <p:cNvSpPr>
            <a:spLocks noGrp="1"/>
          </p:cNvSpPr>
          <p:nvPr>
            <p:ph type="pic" sz="quarter" idx="11"/>
          </p:nvPr>
        </p:nvSpPr>
        <p:spPr>
          <a:xfrm>
            <a:off x="0" y="0"/>
            <a:ext cx="4727847" cy="3429000"/>
          </a:xfrm>
          <a:prstGeom prst="rect">
            <a:avLst/>
          </a:prstGeom>
          <a:solidFill>
            <a:schemeClr val="bg1"/>
          </a:solidFill>
          <a:ln>
            <a:noFill/>
          </a:ln>
        </p:spPr>
        <p:txBody>
          <a:bodyPr/>
          <a:lstStyle>
            <a:lvl1pPr marL="0" indent="0" algn="ctr">
              <a:buFontTx/>
              <a:buNone/>
              <a:defRPr sz="2800" b="0"/>
            </a:lvl1pPr>
          </a:lstStyle>
          <a:p>
            <a:r>
              <a:rPr lang="en-US"/>
              <a:t>Click icon to add picture</a:t>
            </a:r>
            <a:endParaRPr lang="en-GB" dirty="0"/>
          </a:p>
        </p:txBody>
      </p:sp>
      <p:sp>
        <p:nvSpPr>
          <p:cNvPr id="6" name="Picture Placeholder 9">
            <a:extLst>
              <a:ext uri="{FF2B5EF4-FFF2-40B4-BE49-F238E27FC236}">
                <a16:creationId xmlns:a16="http://schemas.microsoft.com/office/drawing/2014/main" id="{C1B64088-1701-1EE9-972C-470A0D0A3594}"/>
              </a:ext>
            </a:extLst>
          </p:cNvPr>
          <p:cNvSpPr>
            <a:spLocks noGrp="1"/>
          </p:cNvSpPr>
          <p:nvPr>
            <p:ph type="pic" sz="quarter" idx="16"/>
          </p:nvPr>
        </p:nvSpPr>
        <p:spPr>
          <a:xfrm>
            <a:off x="0" y="3501008"/>
            <a:ext cx="4727847" cy="3356992"/>
          </a:xfrm>
          <a:prstGeom prst="rect">
            <a:avLst/>
          </a:prstGeom>
          <a:solidFill>
            <a:schemeClr val="bg1"/>
          </a:solidFill>
          <a:ln>
            <a:noFill/>
          </a:ln>
        </p:spPr>
        <p:txBody>
          <a:bodyPr/>
          <a:lstStyle>
            <a:lvl1pPr marL="0" indent="0" algn="ctr">
              <a:buFontTx/>
              <a:buNone/>
              <a:defRPr sz="2800" b="0"/>
            </a:lvl1pPr>
          </a:lstStyle>
          <a:p>
            <a:r>
              <a:rPr lang="en-US"/>
              <a:t>Click icon to add picture</a:t>
            </a:r>
            <a:endParaRPr lang="en-GB" dirty="0"/>
          </a:p>
        </p:txBody>
      </p:sp>
      <p:sp>
        <p:nvSpPr>
          <p:cNvPr id="9" name="Text Placeholder 8">
            <a:extLst>
              <a:ext uri="{FF2B5EF4-FFF2-40B4-BE49-F238E27FC236}">
                <a16:creationId xmlns:a16="http://schemas.microsoft.com/office/drawing/2014/main" id="{964886FB-4871-8EF6-B1E0-A47BF0A1F047}"/>
              </a:ext>
            </a:extLst>
          </p:cNvPr>
          <p:cNvSpPr>
            <a:spLocks noGrp="1"/>
          </p:cNvSpPr>
          <p:nvPr>
            <p:ph type="body" sz="quarter" idx="12" hasCustomPrompt="1"/>
          </p:nvPr>
        </p:nvSpPr>
        <p:spPr>
          <a:xfrm>
            <a:off x="6205388" y="6453336"/>
            <a:ext cx="5761038" cy="307975"/>
          </a:xfrm>
          <a:prstGeom prst="rect">
            <a:avLst/>
          </a:prstGeom>
        </p:spPr>
        <p:txBody>
          <a:bodyPr/>
          <a:lstStyle>
            <a:lvl1pPr marL="0" indent="0" algn="r">
              <a:buNone/>
              <a:defRPr sz="1400" b="1">
                <a:solidFill>
                  <a:srgbClr val="56626F"/>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Project Name, City | Architect</a:t>
            </a:r>
            <a:endParaRPr lang="en-GB" dirty="0"/>
          </a:p>
        </p:txBody>
      </p:sp>
      <p:sp>
        <p:nvSpPr>
          <p:cNvPr id="10" name="Text Placeholder 8">
            <a:extLst>
              <a:ext uri="{FF2B5EF4-FFF2-40B4-BE49-F238E27FC236}">
                <a16:creationId xmlns:a16="http://schemas.microsoft.com/office/drawing/2014/main" id="{12D73664-A9E7-25EB-5611-CA148DD07A4F}"/>
              </a:ext>
            </a:extLst>
          </p:cNvPr>
          <p:cNvSpPr>
            <a:spLocks noGrp="1"/>
          </p:cNvSpPr>
          <p:nvPr>
            <p:ph type="body" sz="quarter" idx="17" hasCustomPrompt="1"/>
          </p:nvPr>
        </p:nvSpPr>
        <p:spPr>
          <a:xfrm>
            <a:off x="6205388" y="6211026"/>
            <a:ext cx="5761038" cy="307975"/>
          </a:xfrm>
          <a:prstGeom prst="rect">
            <a:avLst/>
          </a:prstGeom>
        </p:spPr>
        <p:txBody>
          <a:bodyPr/>
          <a:lstStyle>
            <a:lvl1pPr marL="0" indent="0" algn="r">
              <a:buNone/>
              <a:defRPr sz="1400" b="1">
                <a:solidFill>
                  <a:srgbClr val="EA560D"/>
                </a:solidFill>
                <a:latin typeface="Arial" panose="020B0604020202020204" pitchFamily="34" charset="0"/>
                <a:cs typeface="Arial" panose="020B0604020202020204" pitchFamily="34" charset="0"/>
              </a:defRPr>
            </a:lvl1pPr>
          </a:lstStyle>
          <a:p>
            <a:pPr lvl="0"/>
            <a:r>
              <a:rPr lang="en-US" b="1" dirty="0">
                <a:latin typeface="Arial" panose="020B0604020202020204" pitchFamily="34" charset="0"/>
                <a:cs typeface="Arial" panose="020B0604020202020204" pitchFamily="34" charset="0"/>
              </a:rPr>
              <a:t>Year Awards ─ Award</a:t>
            </a:r>
            <a:endParaRPr lang="en-GB" dirty="0"/>
          </a:p>
        </p:txBody>
      </p:sp>
      <p:pic>
        <p:nvPicPr>
          <p:cNvPr id="5" name="Graphic 4">
            <a:extLst>
              <a:ext uri="{FF2B5EF4-FFF2-40B4-BE49-F238E27FC236}">
                <a16:creationId xmlns:a16="http://schemas.microsoft.com/office/drawing/2014/main" id="{397DBE32-8F94-CF2F-7C2C-A0D1196C1D0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36577718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3" pos="3931">
          <p15:clr>
            <a:srgbClr val="FBAE40"/>
          </p15:clr>
        </p15:guide>
        <p15:guide id="4" pos="374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4297826"/>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96" r:id="rId4"/>
    <p:sldLayoutId id="2147483984" r:id="rId5"/>
    <p:sldLayoutId id="2147483993" r:id="rId6"/>
    <p:sldLayoutId id="2147483974" r:id="rId7"/>
    <p:sldLayoutId id="2147483995" r:id="rId8"/>
    <p:sldLayoutId id="2147483997" r:id="rId9"/>
    <p:sldLayoutId id="2147483953" r:id="rId10"/>
    <p:sldLayoutId id="2147483772" r:id="rId11"/>
    <p:sldLayoutId id="2147483779" r:id="rId12"/>
    <p:sldLayoutId id="2147483976" r:id="rId13"/>
    <p:sldLayoutId id="2147483977" r:id="rId14"/>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itchFamily="-105" charset="0"/>
        </a:defRPr>
      </a:lvl2pPr>
      <a:lvl3pPr algn="ctr" rtl="0" eaLnBrk="1" fontAlgn="base" hangingPunct="1">
        <a:spcBef>
          <a:spcPct val="0"/>
        </a:spcBef>
        <a:spcAft>
          <a:spcPct val="0"/>
        </a:spcAft>
        <a:defRPr sz="4400">
          <a:solidFill>
            <a:schemeClr val="tx2"/>
          </a:solidFill>
          <a:latin typeface="Arial" pitchFamily="-105" charset="0"/>
        </a:defRPr>
      </a:lvl3pPr>
      <a:lvl4pPr algn="ctr" rtl="0" eaLnBrk="1" fontAlgn="base" hangingPunct="1">
        <a:spcBef>
          <a:spcPct val="0"/>
        </a:spcBef>
        <a:spcAft>
          <a:spcPct val="0"/>
        </a:spcAft>
        <a:defRPr sz="4400">
          <a:solidFill>
            <a:schemeClr val="tx2"/>
          </a:solidFill>
          <a:latin typeface="Arial" pitchFamily="-105" charset="0"/>
        </a:defRPr>
      </a:lvl4pPr>
      <a:lvl5pPr algn="ctr" rtl="0" eaLnBrk="1" fontAlgn="base" hangingPunct="1">
        <a:spcBef>
          <a:spcPct val="0"/>
        </a:spcBef>
        <a:spcAft>
          <a:spcPct val="0"/>
        </a:spcAft>
        <a:defRPr sz="4400">
          <a:solidFill>
            <a:schemeClr val="tx2"/>
          </a:solidFill>
          <a:latin typeface="Arial" pitchFamily="-105" charset="0"/>
        </a:defRPr>
      </a:lvl5pPr>
      <a:lvl6pPr marL="457200" algn="ctr" rtl="0" eaLnBrk="1" fontAlgn="base" hangingPunct="1">
        <a:spcBef>
          <a:spcPct val="0"/>
        </a:spcBef>
        <a:spcAft>
          <a:spcPct val="0"/>
        </a:spcAft>
        <a:defRPr sz="4400">
          <a:solidFill>
            <a:schemeClr val="tx2"/>
          </a:solidFill>
          <a:latin typeface="Arial" pitchFamily="-105" charset="0"/>
        </a:defRPr>
      </a:lvl6pPr>
      <a:lvl7pPr marL="914400" algn="ctr" rtl="0" eaLnBrk="1" fontAlgn="base" hangingPunct="1">
        <a:spcBef>
          <a:spcPct val="0"/>
        </a:spcBef>
        <a:spcAft>
          <a:spcPct val="0"/>
        </a:spcAft>
        <a:defRPr sz="4400">
          <a:solidFill>
            <a:schemeClr val="tx2"/>
          </a:solidFill>
          <a:latin typeface="Arial" pitchFamily="-105" charset="0"/>
        </a:defRPr>
      </a:lvl7pPr>
      <a:lvl8pPr marL="1371600" algn="ctr" rtl="0" eaLnBrk="1" fontAlgn="base" hangingPunct="1">
        <a:spcBef>
          <a:spcPct val="0"/>
        </a:spcBef>
        <a:spcAft>
          <a:spcPct val="0"/>
        </a:spcAft>
        <a:defRPr sz="4400">
          <a:solidFill>
            <a:schemeClr val="tx2"/>
          </a:solidFill>
          <a:latin typeface="Arial" pitchFamily="-105" charset="0"/>
        </a:defRPr>
      </a:lvl8pPr>
      <a:lvl9pPr marL="1828800" algn="ctr" rtl="0" eaLnBrk="1" fontAlgn="base" hangingPunct="1">
        <a:spcBef>
          <a:spcPct val="0"/>
        </a:spcBef>
        <a:spcAft>
          <a:spcPct val="0"/>
        </a:spcAft>
        <a:defRPr sz="4400">
          <a:solidFill>
            <a:schemeClr val="tx2"/>
          </a:solidFill>
          <a:latin typeface="Arial" pitchFamily="-105"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1" fontAlgn="base" hangingPunct="1">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7918440"/>
      </p:ext>
    </p:extLst>
  </p:cSld>
  <p:clrMap bg1="lt1" tx1="dk1" bg2="lt2" tx2="dk2" accent1="accent1" accent2="accent2" accent3="accent3" accent4="accent4" accent5="accent5" accent6="accent6" hlink="hlink" folHlink="folHlink"/>
  <p:sldLayoutIdLst>
    <p:sldLayoutId id="2147483990" r:id="rId1"/>
    <p:sldLayoutId id="2147483991" r:id="rId2"/>
    <p:sldLayoutId id="2147483992" r:id="rId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itchFamily="-105" charset="0"/>
        </a:defRPr>
      </a:lvl2pPr>
      <a:lvl3pPr algn="ctr" rtl="0" eaLnBrk="1" fontAlgn="base" hangingPunct="1">
        <a:spcBef>
          <a:spcPct val="0"/>
        </a:spcBef>
        <a:spcAft>
          <a:spcPct val="0"/>
        </a:spcAft>
        <a:defRPr sz="4400">
          <a:solidFill>
            <a:schemeClr val="tx2"/>
          </a:solidFill>
          <a:latin typeface="Arial" pitchFamily="-105" charset="0"/>
        </a:defRPr>
      </a:lvl3pPr>
      <a:lvl4pPr algn="ctr" rtl="0" eaLnBrk="1" fontAlgn="base" hangingPunct="1">
        <a:spcBef>
          <a:spcPct val="0"/>
        </a:spcBef>
        <a:spcAft>
          <a:spcPct val="0"/>
        </a:spcAft>
        <a:defRPr sz="4400">
          <a:solidFill>
            <a:schemeClr val="tx2"/>
          </a:solidFill>
          <a:latin typeface="Arial" pitchFamily="-105" charset="0"/>
        </a:defRPr>
      </a:lvl4pPr>
      <a:lvl5pPr algn="ctr" rtl="0" eaLnBrk="1" fontAlgn="base" hangingPunct="1">
        <a:spcBef>
          <a:spcPct val="0"/>
        </a:spcBef>
        <a:spcAft>
          <a:spcPct val="0"/>
        </a:spcAft>
        <a:defRPr sz="4400">
          <a:solidFill>
            <a:schemeClr val="tx2"/>
          </a:solidFill>
          <a:latin typeface="Arial" pitchFamily="-105" charset="0"/>
        </a:defRPr>
      </a:lvl5pPr>
      <a:lvl6pPr marL="457200" algn="ctr" rtl="0" eaLnBrk="1" fontAlgn="base" hangingPunct="1">
        <a:spcBef>
          <a:spcPct val="0"/>
        </a:spcBef>
        <a:spcAft>
          <a:spcPct val="0"/>
        </a:spcAft>
        <a:defRPr sz="4400">
          <a:solidFill>
            <a:schemeClr val="tx2"/>
          </a:solidFill>
          <a:latin typeface="Arial" pitchFamily="-105" charset="0"/>
        </a:defRPr>
      </a:lvl6pPr>
      <a:lvl7pPr marL="914400" algn="ctr" rtl="0" eaLnBrk="1" fontAlgn="base" hangingPunct="1">
        <a:spcBef>
          <a:spcPct val="0"/>
        </a:spcBef>
        <a:spcAft>
          <a:spcPct val="0"/>
        </a:spcAft>
        <a:defRPr sz="4400">
          <a:solidFill>
            <a:schemeClr val="tx2"/>
          </a:solidFill>
          <a:latin typeface="Arial" pitchFamily="-105" charset="0"/>
        </a:defRPr>
      </a:lvl7pPr>
      <a:lvl8pPr marL="1371600" algn="ctr" rtl="0" eaLnBrk="1" fontAlgn="base" hangingPunct="1">
        <a:spcBef>
          <a:spcPct val="0"/>
        </a:spcBef>
        <a:spcAft>
          <a:spcPct val="0"/>
        </a:spcAft>
        <a:defRPr sz="4400">
          <a:solidFill>
            <a:schemeClr val="tx2"/>
          </a:solidFill>
          <a:latin typeface="Arial" pitchFamily="-105" charset="0"/>
        </a:defRPr>
      </a:lvl8pPr>
      <a:lvl9pPr marL="1828800" algn="ctr" rtl="0" eaLnBrk="1" fontAlgn="base" hangingPunct="1">
        <a:spcBef>
          <a:spcPct val="0"/>
        </a:spcBef>
        <a:spcAft>
          <a:spcPct val="0"/>
        </a:spcAft>
        <a:defRPr sz="4400">
          <a:solidFill>
            <a:schemeClr val="tx2"/>
          </a:solidFill>
          <a:latin typeface="Arial" pitchFamily="-105"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1" fontAlgn="base" hangingPunct="1">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4297826"/>
      </p:ext>
    </p:extLst>
  </p:cSld>
  <p:clrMap bg1="lt1" tx1="dk1" bg2="lt2" tx2="dk2" accent1="accent1" accent2="accent2" accent3="accent3" accent4="accent4" accent5="accent5" accent6="accent6" hlink="hlink" folHlink="folHlink"/>
  <p:sldLayoutIdLst>
    <p:sldLayoutId id="2147484000" r:id="rId1"/>
    <p:sldLayoutId id="2147484001" r:id="rId2"/>
    <p:sldLayoutId id="2147484002" r:id="rId3"/>
    <p:sldLayoutId id="2147484003" r:id="rId4"/>
    <p:sldLayoutId id="2147484005" r:id="rId5"/>
    <p:sldLayoutId id="2147484006" r:id="rId6"/>
    <p:sldLayoutId id="2147484007" r:id="rId7"/>
    <p:sldLayoutId id="2147484008" r:id="rId8"/>
    <p:sldLayoutId id="2147484009" r:id="rId9"/>
    <p:sldLayoutId id="2147484010" r:id="rId10"/>
    <p:sldLayoutId id="2147484011" r:id="rId11"/>
    <p:sldLayoutId id="2147484012" r:id="rId12"/>
    <p:sldLayoutId id="2147484013" r:id="rId1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itchFamily="-105" charset="0"/>
        </a:defRPr>
      </a:lvl2pPr>
      <a:lvl3pPr algn="ctr" rtl="0" eaLnBrk="1" fontAlgn="base" hangingPunct="1">
        <a:spcBef>
          <a:spcPct val="0"/>
        </a:spcBef>
        <a:spcAft>
          <a:spcPct val="0"/>
        </a:spcAft>
        <a:defRPr sz="4400">
          <a:solidFill>
            <a:schemeClr val="tx2"/>
          </a:solidFill>
          <a:latin typeface="Arial" pitchFamily="-105" charset="0"/>
        </a:defRPr>
      </a:lvl3pPr>
      <a:lvl4pPr algn="ctr" rtl="0" eaLnBrk="1" fontAlgn="base" hangingPunct="1">
        <a:spcBef>
          <a:spcPct val="0"/>
        </a:spcBef>
        <a:spcAft>
          <a:spcPct val="0"/>
        </a:spcAft>
        <a:defRPr sz="4400">
          <a:solidFill>
            <a:schemeClr val="tx2"/>
          </a:solidFill>
          <a:latin typeface="Arial" pitchFamily="-105" charset="0"/>
        </a:defRPr>
      </a:lvl4pPr>
      <a:lvl5pPr algn="ctr" rtl="0" eaLnBrk="1" fontAlgn="base" hangingPunct="1">
        <a:spcBef>
          <a:spcPct val="0"/>
        </a:spcBef>
        <a:spcAft>
          <a:spcPct val="0"/>
        </a:spcAft>
        <a:defRPr sz="4400">
          <a:solidFill>
            <a:schemeClr val="tx2"/>
          </a:solidFill>
          <a:latin typeface="Arial" pitchFamily="-105" charset="0"/>
        </a:defRPr>
      </a:lvl5pPr>
      <a:lvl6pPr marL="457200" algn="ctr" rtl="0" eaLnBrk="1" fontAlgn="base" hangingPunct="1">
        <a:spcBef>
          <a:spcPct val="0"/>
        </a:spcBef>
        <a:spcAft>
          <a:spcPct val="0"/>
        </a:spcAft>
        <a:defRPr sz="4400">
          <a:solidFill>
            <a:schemeClr val="tx2"/>
          </a:solidFill>
          <a:latin typeface="Arial" pitchFamily="-105" charset="0"/>
        </a:defRPr>
      </a:lvl6pPr>
      <a:lvl7pPr marL="914400" algn="ctr" rtl="0" eaLnBrk="1" fontAlgn="base" hangingPunct="1">
        <a:spcBef>
          <a:spcPct val="0"/>
        </a:spcBef>
        <a:spcAft>
          <a:spcPct val="0"/>
        </a:spcAft>
        <a:defRPr sz="4400">
          <a:solidFill>
            <a:schemeClr val="tx2"/>
          </a:solidFill>
          <a:latin typeface="Arial" pitchFamily="-105" charset="0"/>
        </a:defRPr>
      </a:lvl7pPr>
      <a:lvl8pPr marL="1371600" algn="ctr" rtl="0" eaLnBrk="1" fontAlgn="base" hangingPunct="1">
        <a:spcBef>
          <a:spcPct val="0"/>
        </a:spcBef>
        <a:spcAft>
          <a:spcPct val="0"/>
        </a:spcAft>
        <a:defRPr sz="4400">
          <a:solidFill>
            <a:schemeClr val="tx2"/>
          </a:solidFill>
          <a:latin typeface="Arial" pitchFamily="-105" charset="0"/>
        </a:defRPr>
      </a:lvl8pPr>
      <a:lvl9pPr marL="1828800" algn="ctr" rtl="0" eaLnBrk="1" fontAlgn="base" hangingPunct="1">
        <a:spcBef>
          <a:spcPct val="0"/>
        </a:spcBef>
        <a:spcAft>
          <a:spcPct val="0"/>
        </a:spcAft>
        <a:defRPr sz="4400">
          <a:solidFill>
            <a:schemeClr val="tx2"/>
          </a:solidFill>
          <a:latin typeface="Arial" pitchFamily="-105"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ＭＳ Ｐゴシック" pitchFamily="-105" charset="-128"/>
        </a:defRPr>
      </a:lvl2pPr>
      <a:lvl3pPr marL="1143000" indent="-228600" algn="l" rtl="0" eaLnBrk="1" fontAlgn="base" hangingPunct="1">
        <a:spcBef>
          <a:spcPct val="20000"/>
        </a:spcBef>
        <a:spcAft>
          <a:spcPct val="0"/>
        </a:spcAft>
        <a:buChar char="•"/>
        <a:defRPr sz="2400">
          <a:solidFill>
            <a:schemeClr val="tx1"/>
          </a:solidFill>
          <a:latin typeface="+mn-lt"/>
          <a:ea typeface="ＭＳ Ｐゴシック" pitchFamily="-105" charset="-128"/>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49.svg"/><Relationship Id="rId7" Type="http://schemas.openxmlformats.org/officeDocument/2006/relationships/image" Target="../media/image53.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2.svg"/><Relationship Id="rId5" Type="http://schemas.openxmlformats.org/officeDocument/2006/relationships/image" Target="../media/image51.svg"/><Relationship Id="rId4" Type="http://schemas.openxmlformats.org/officeDocument/2006/relationships/image" Target="../media/image5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0B56D40-1AFA-44A6-1639-27F072A75E5F}"/>
              </a:ext>
            </a:extLst>
          </p:cNvPr>
          <p:cNvSpPr>
            <a:spLocks noGrp="1" noRot="1" noMove="1" noResize="1" noEditPoints="1" noAdjustHandles="1" noChangeArrowheads="1" noChangeShapeType="1"/>
          </p:cNvSpPr>
          <p:nvPr/>
        </p:nvSpPr>
        <p:spPr>
          <a:xfrm>
            <a:off x="0" y="-8388"/>
            <a:ext cx="12192000" cy="6866387"/>
          </a:xfrm>
          <a:prstGeom prst="rect">
            <a:avLst/>
          </a:prstGeom>
          <a:gradFill>
            <a:gsLst>
              <a:gs pos="0">
                <a:srgbClr val="3C4957"/>
              </a:gs>
              <a:gs pos="100000">
                <a:srgbClr val="56626F"/>
              </a:gs>
            </a:gsLst>
            <a:lin ang="30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8" name="Picture 7" descr="A picture containing shape&#10;&#10;Description automatically generated">
            <a:extLst>
              <a:ext uri="{FF2B5EF4-FFF2-40B4-BE49-F238E27FC236}">
                <a16:creationId xmlns:a16="http://schemas.microsoft.com/office/drawing/2014/main" id="{4E7350C1-AEE7-AE0D-4358-2218126F6E99}"/>
              </a:ext>
            </a:extLst>
          </p:cNvPr>
          <p:cNvPicPr>
            <a:picLocks noGrp="1" noRot="1" noMove="1" noResize="1" noEditPoints="1" noAdjustHandles="1" noChangeArrowheads="1" noChangeShapeType="1" noCrop="1"/>
          </p:cNvPicPr>
          <p:nvPr/>
        </p:nvPicPr>
        <p:blipFill rotWithShape="1">
          <a:blip r:embed="rId3" cstate="print">
            <a:alphaModFix amt="30000"/>
            <a:extLst>
              <a:ext uri="{28A0092B-C50C-407E-A947-70E740481C1C}">
                <a14:useLocalDpi xmlns:a14="http://schemas.microsoft.com/office/drawing/2010/main"/>
              </a:ext>
            </a:extLst>
          </a:blip>
          <a:srcRect/>
          <a:stretch/>
        </p:blipFill>
        <p:spPr>
          <a:xfrm>
            <a:off x="3935760" y="0"/>
            <a:ext cx="8256240" cy="6858000"/>
          </a:xfrm>
          <a:prstGeom prst="rect">
            <a:avLst/>
          </a:prstGeom>
        </p:spPr>
      </p:pic>
      <p:sp>
        <p:nvSpPr>
          <p:cNvPr id="9" name="Text Placeholder 3">
            <a:extLst>
              <a:ext uri="{FF2B5EF4-FFF2-40B4-BE49-F238E27FC236}">
                <a16:creationId xmlns:a16="http://schemas.microsoft.com/office/drawing/2014/main" id="{FF50E032-98D3-FA59-E870-8650321B588A}"/>
              </a:ext>
            </a:extLst>
          </p:cNvPr>
          <p:cNvSpPr txBox="1">
            <a:spLocks/>
          </p:cNvSpPr>
          <p:nvPr/>
        </p:nvSpPr>
        <p:spPr>
          <a:xfrm>
            <a:off x="738369" y="4235391"/>
            <a:ext cx="6349838" cy="456491"/>
          </a:xfrm>
          <a:prstGeom prst="rect">
            <a:avLst/>
          </a:prstGeom>
        </p:spPr>
        <p:txBody>
          <a:bodyPr>
            <a:noAutofit/>
          </a:bodyPr>
          <a:lstStyle>
            <a:lvl1pPr marL="0" indent="0" algn="l" defTabSz="914400" rtl="0" eaLnBrk="1" latinLnBrk="0" hangingPunct="1">
              <a:lnSpc>
                <a:spcPct val="100000"/>
              </a:lnSpc>
              <a:spcBef>
                <a:spcPts val="0"/>
              </a:spcBef>
              <a:buFont typeface="Arial" panose="020B0604020202020204" pitchFamily="34" charset="0"/>
              <a:buNone/>
              <a:defRPr sz="2400" b="0" i="1" kern="1200">
                <a:solidFill>
                  <a:srgbClr val="BFE8F7"/>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defRPr/>
            </a:pPr>
            <a:r>
              <a:rPr lang="en-US" i="0" dirty="0">
                <a:solidFill>
                  <a:srgbClr val="B1BECD"/>
                </a:solidFill>
                <a:latin typeface="Arial" panose="020B0604020202020204"/>
              </a:rPr>
              <a:t>Environmental Study - Solar gains + Daylight</a:t>
            </a:r>
          </a:p>
        </p:txBody>
      </p:sp>
      <p:sp>
        <p:nvSpPr>
          <p:cNvPr id="10" name="Text Placeholder 3">
            <a:extLst>
              <a:ext uri="{FF2B5EF4-FFF2-40B4-BE49-F238E27FC236}">
                <a16:creationId xmlns:a16="http://schemas.microsoft.com/office/drawing/2014/main" id="{F0E3A9C0-1EEF-065B-25A7-F1549E106BE6}"/>
              </a:ext>
            </a:extLst>
          </p:cNvPr>
          <p:cNvSpPr txBox="1">
            <a:spLocks/>
          </p:cNvSpPr>
          <p:nvPr/>
        </p:nvSpPr>
        <p:spPr>
          <a:xfrm>
            <a:off x="738369" y="6130551"/>
            <a:ext cx="6349838" cy="456491"/>
          </a:xfrm>
          <a:prstGeom prst="rect">
            <a:avLst/>
          </a:prstGeom>
        </p:spPr>
        <p:txBody>
          <a:bodyPr>
            <a:noAutofit/>
          </a:bodyPr>
          <a:lstStyle>
            <a:lvl1pPr marL="0" indent="0" algn="l" defTabSz="914400" rtl="0" eaLnBrk="1" latinLnBrk="0" hangingPunct="1">
              <a:lnSpc>
                <a:spcPct val="100000"/>
              </a:lnSpc>
              <a:spcBef>
                <a:spcPts val="0"/>
              </a:spcBef>
              <a:buFont typeface="Arial" panose="020B0604020202020204" pitchFamily="34" charset="0"/>
              <a:buNone/>
              <a:defRPr sz="2400" b="0" i="1" kern="1200">
                <a:solidFill>
                  <a:srgbClr val="BFE8F7"/>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srgbClr val="B1BECD"/>
                </a:solidFill>
                <a:effectLst/>
                <a:uLnTx/>
                <a:uFillTx/>
                <a:latin typeface="Arial" panose="020B0604020202020204"/>
                <a:ea typeface="+mn-ea"/>
                <a:cs typeface="+mn-cs"/>
              </a:rPr>
              <a:t>28/10/2026</a:t>
            </a:r>
            <a:endParaRPr kumimoji="0" lang="en-US" sz="1600" b="0" i="0" u="none" strike="noStrike" kern="1200" cap="none" spc="0" normalizeH="0" baseline="0" noProof="0" dirty="0">
              <a:ln>
                <a:noFill/>
              </a:ln>
              <a:solidFill>
                <a:srgbClr val="B1BECD"/>
              </a:solidFill>
              <a:effectLst/>
              <a:uLnTx/>
              <a:uFillTx/>
              <a:latin typeface="Arial" panose="020B0604020202020204"/>
              <a:ea typeface="+mn-ea"/>
              <a:cs typeface="+mn-cs"/>
            </a:endParaRPr>
          </a:p>
        </p:txBody>
      </p:sp>
      <p:sp>
        <p:nvSpPr>
          <p:cNvPr id="12" name="Title 1">
            <a:extLst>
              <a:ext uri="{FF2B5EF4-FFF2-40B4-BE49-F238E27FC236}">
                <a16:creationId xmlns:a16="http://schemas.microsoft.com/office/drawing/2014/main" id="{B60C3244-9DF8-DE7C-BDED-19C10E09B8A0}"/>
              </a:ext>
            </a:extLst>
          </p:cNvPr>
          <p:cNvSpPr txBox="1">
            <a:spLocks/>
          </p:cNvSpPr>
          <p:nvPr/>
        </p:nvSpPr>
        <p:spPr>
          <a:xfrm>
            <a:off x="738369" y="1961108"/>
            <a:ext cx="7921554" cy="1674389"/>
          </a:xfrm>
          <a:prstGeom prst="rect">
            <a:avLst/>
          </a:prstGeom>
        </p:spPr>
        <p:txBody>
          <a:bodyPr lIns="0" tIns="0" rIns="0" bIns="0" anchor="b" anchorCtr="0"/>
          <a:lstStyle>
            <a:lvl1pPr algn="l" defTabSz="914400" rtl="0" eaLnBrk="1" latinLnBrk="0" hangingPunct="1">
              <a:lnSpc>
                <a:spcPct val="100000"/>
              </a:lnSpc>
              <a:spcBef>
                <a:spcPct val="0"/>
              </a:spcBef>
              <a:buNone/>
              <a:defRPr sz="3600" b="1" i="0" kern="1200" baseline="0">
                <a:solidFill>
                  <a:schemeClr val="bg1"/>
                </a:solidFill>
                <a:latin typeface="+mj-lt"/>
                <a:ea typeface="+mj-ea"/>
                <a:cs typeface="+mj-cs"/>
              </a:defRPr>
            </a:lvl1pPr>
          </a:lstStyle>
          <a:p>
            <a:pPr lvl="0" fontAlgn="auto">
              <a:lnSpc>
                <a:spcPts val="5500"/>
              </a:lnSpc>
              <a:spcAft>
                <a:spcPts val="0"/>
              </a:spcAft>
              <a:defRPr/>
            </a:pPr>
            <a:r>
              <a:rPr lang="en-US" sz="3200" dirty="0">
                <a:solidFill>
                  <a:srgbClr val="FFFFFF"/>
                </a:solidFill>
              </a:rPr>
              <a:t>DFF - Robotic Lab Expansion</a:t>
            </a:r>
          </a:p>
        </p:txBody>
      </p:sp>
      <p:pic>
        <p:nvPicPr>
          <p:cNvPr id="14" name="Graphic 13">
            <a:extLst>
              <a:ext uri="{FF2B5EF4-FFF2-40B4-BE49-F238E27FC236}">
                <a16:creationId xmlns:a16="http://schemas.microsoft.com/office/drawing/2014/main" id="{38ED37C0-67EC-142A-19A1-D9880B0A4E9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4"/>
              </a:ext>
            </a:extLst>
          </a:blip>
          <a:stretch>
            <a:fillRect/>
          </a:stretch>
        </p:blipFill>
        <p:spPr>
          <a:xfrm>
            <a:off x="839416" y="499203"/>
            <a:ext cx="2696400" cy="920175"/>
          </a:xfrm>
          <a:prstGeom prst="rect">
            <a:avLst/>
          </a:prstGeom>
        </p:spPr>
      </p:pic>
    </p:spTree>
    <p:extLst>
      <p:ext uri="{BB962C8B-B14F-4D97-AF65-F5344CB8AC3E}">
        <p14:creationId xmlns:p14="http://schemas.microsoft.com/office/powerpoint/2010/main" val="14851165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3B4FFDB-E51C-2D26-441A-13D48DC50B92}"/>
              </a:ext>
            </a:extLst>
          </p:cNvPr>
          <p:cNvSpPr>
            <a:spLocks noGrp="1"/>
          </p:cNvSpPr>
          <p:nvPr>
            <p:ph type="body" sz="quarter" idx="10"/>
          </p:nvPr>
        </p:nvSpPr>
        <p:spPr>
          <a:xfrm>
            <a:off x="335360" y="260648"/>
            <a:ext cx="11521279" cy="553998"/>
          </a:xfrm>
        </p:spPr>
        <p:txBody>
          <a:bodyPr/>
          <a:lstStyle/>
          <a:p>
            <a:r>
              <a:rPr lang="en-US" dirty="0">
                <a:latin typeface="+mn-lt"/>
              </a:rPr>
              <a:t>Environmental design study</a:t>
            </a:r>
            <a:endParaRPr lang="en-GB" dirty="0">
              <a:latin typeface="+mn-lt"/>
            </a:endParaRPr>
          </a:p>
        </p:txBody>
      </p:sp>
      <p:sp>
        <p:nvSpPr>
          <p:cNvPr id="3" name="Text Placeholder 2">
            <a:extLst>
              <a:ext uri="{FF2B5EF4-FFF2-40B4-BE49-F238E27FC236}">
                <a16:creationId xmlns:a16="http://schemas.microsoft.com/office/drawing/2014/main" id="{0326C5F0-FD57-3B1C-9F5D-D2559E670C58}"/>
              </a:ext>
            </a:extLst>
          </p:cNvPr>
          <p:cNvSpPr>
            <a:spLocks noGrp="1"/>
          </p:cNvSpPr>
          <p:nvPr>
            <p:ph type="body" sz="quarter" idx="12"/>
          </p:nvPr>
        </p:nvSpPr>
        <p:spPr>
          <a:xfrm>
            <a:off x="335359" y="891713"/>
            <a:ext cx="11521279" cy="307777"/>
          </a:xfrm>
        </p:spPr>
        <p:txBody>
          <a:bodyPr/>
          <a:lstStyle/>
          <a:p>
            <a:r>
              <a:rPr lang="en-US" dirty="0">
                <a:latin typeface="+mn-lt"/>
              </a:rPr>
              <a:t>Schematic workflow to study effect of shading and glazing on radiation and daylight</a:t>
            </a:r>
            <a:endParaRPr lang="en-GB" dirty="0">
              <a:latin typeface="+mn-lt"/>
            </a:endParaRPr>
          </a:p>
        </p:txBody>
      </p:sp>
      <p:sp>
        <p:nvSpPr>
          <p:cNvPr id="7" name="TextBox 6">
            <a:extLst>
              <a:ext uri="{FF2B5EF4-FFF2-40B4-BE49-F238E27FC236}">
                <a16:creationId xmlns:a16="http://schemas.microsoft.com/office/drawing/2014/main" id="{7F3ED6B7-D653-C675-39D4-7B6347AC7A7B}"/>
              </a:ext>
            </a:extLst>
          </p:cNvPr>
          <p:cNvSpPr txBox="1"/>
          <p:nvPr/>
        </p:nvSpPr>
        <p:spPr bwMode="auto">
          <a:xfrm>
            <a:off x="2577935" y="2372107"/>
            <a:ext cx="1368152" cy="738664"/>
          </a:xfrm>
          <a:prstGeom prst="rect">
            <a:avLst/>
          </a:prstGeom>
          <a:noFill/>
          <a:ln w="9525">
            <a:noFill/>
            <a:miter lim="800000"/>
            <a:headEnd/>
            <a:tailEnd/>
          </a:ln>
          <a:effectLst/>
        </p:spPr>
        <p:txBody>
          <a:bodyPr wrap="square" lIns="0" rtlCol="0">
            <a:spAutoFit/>
          </a:bodyPr>
          <a:lstStyle/>
          <a:p>
            <a:pPr algn="ctr">
              <a:spcBef>
                <a:spcPct val="50000"/>
              </a:spcBef>
            </a:pPr>
            <a:r>
              <a:rPr lang="en-GB" sz="1400" dirty="0">
                <a:latin typeface="+mn-lt"/>
              </a:rPr>
              <a:t>Incident solar radiation on facade</a:t>
            </a:r>
            <a:endParaRPr lang="en-GB" sz="1400" dirty="0">
              <a:solidFill>
                <a:srgbClr val="595959"/>
              </a:solidFill>
              <a:latin typeface="+mn-lt"/>
              <a:cs typeface="Arial"/>
            </a:endParaRPr>
          </a:p>
        </p:txBody>
      </p:sp>
      <p:cxnSp>
        <p:nvCxnSpPr>
          <p:cNvPr id="9" name="Straight Arrow Connector 8">
            <a:extLst>
              <a:ext uri="{FF2B5EF4-FFF2-40B4-BE49-F238E27FC236}">
                <a16:creationId xmlns:a16="http://schemas.microsoft.com/office/drawing/2014/main" id="{E201B0D7-377A-ACCC-8758-73AA94E03714}"/>
              </a:ext>
            </a:extLst>
          </p:cNvPr>
          <p:cNvCxnSpPr>
            <a:cxnSpLocks/>
          </p:cNvCxnSpPr>
          <p:nvPr/>
        </p:nvCxnSpPr>
        <p:spPr>
          <a:xfrm>
            <a:off x="2092206" y="2813447"/>
            <a:ext cx="360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33FE387-6306-B4C6-CAE9-84E3C44C43D3}"/>
              </a:ext>
            </a:extLst>
          </p:cNvPr>
          <p:cNvSpPr txBox="1"/>
          <p:nvPr/>
        </p:nvSpPr>
        <p:spPr bwMode="auto">
          <a:xfrm>
            <a:off x="8080216" y="2686270"/>
            <a:ext cx="1368152" cy="523220"/>
          </a:xfrm>
          <a:prstGeom prst="rect">
            <a:avLst/>
          </a:prstGeom>
          <a:noFill/>
          <a:ln w="9525">
            <a:noFill/>
            <a:miter lim="800000"/>
            <a:headEnd/>
            <a:tailEnd/>
          </a:ln>
          <a:effectLst/>
        </p:spPr>
        <p:txBody>
          <a:bodyPr wrap="square" lIns="0" rtlCol="0">
            <a:spAutoFit/>
          </a:bodyPr>
          <a:lstStyle/>
          <a:p>
            <a:pPr algn="ctr">
              <a:spcBef>
                <a:spcPct val="50000"/>
              </a:spcBef>
            </a:pPr>
            <a:r>
              <a:rPr lang="en-GB" sz="1400" dirty="0">
                <a:latin typeface="+mn-lt"/>
              </a:rPr>
              <a:t>Peak solar heat gain</a:t>
            </a:r>
            <a:endParaRPr lang="en-GB" sz="1400" dirty="0">
              <a:solidFill>
                <a:srgbClr val="595959"/>
              </a:solidFill>
              <a:latin typeface="+mn-lt"/>
              <a:cs typeface="Arial"/>
            </a:endParaRPr>
          </a:p>
        </p:txBody>
      </p:sp>
      <p:cxnSp>
        <p:nvCxnSpPr>
          <p:cNvPr id="15" name="Straight Arrow Connector 14">
            <a:extLst>
              <a:ext uri="{FF2B5EF4-FFF2-40B4-BE49-F238E27FC236}">
                <a16:creationId xmlns:a16="http://schemas.microsoft.com/office/drawing/2014/main" id="{C62E09FD-522B-4910-90A9-D60C1778FE7A}"/>
              </a:ext>
            </a:extLst>
          </p:cNvPr>
          <p:cNvCxnSpPr>
            <a:cxnSpLocks/>
          </p:cNvCxnSpPr>
          <p:nvPr/>
        </p:nvCxnSpPr>
        <p:spPr>
          <a:xfrm>
            <a:off x="4060208" y="2813447"/>
            <a:ext cx="360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05096B8-538E-164E-B23A-33268D121F25}"/>
              </a:ext>
            </a:extLst>
          </p:cNvPr>
          <p:cNvCxnSpPr>
            <a:cxnSpLocks/>
          </p:cNvCxnSpPr>
          <p:nvPr/>
        </p:nvCxnSpPr>
        <p:spPr>
          <a:xfrm>
            <a:off x="7585566" y="2813447"/>
            <a:ext cx="360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ED8F1E01-0AD4-6018-6279-1310874BC923}"/>
              </a:ext>
            </a:extLst>
          </p:cNvPr>
          <p:cNvGrpSpPr/>
          <p:nvPr/>
        </p:nvGrpSpPr>
        <p:grpSpPr>
          <a:xfrm>
            <a:off x="543141" y="2011487"/>
            <a:ext cx="1368152" cy="1725290"/>
            <a:chOff x="1114489" y="2060268"/>
            <a:chExt cx="1368152" cy="1725290"/>
          </a:xfrm>
        </p:grpSpPr>
        <p:sp>
          <p:nvSpPr>
            <p:cNvPr id="4" name="TextBox 3">
              <a:extLst>
                <a:ext uri="{FF2B5EF4-FFF2-40B4-BE49-F238E27FC236}">
                  <a16:creationId xmlns:a16="http://schemas.microsoft.com/office/drawing/2014/main" id="{1DB935B8-E538-83C6-BF18-63BAA0834888}"/>
                </a:ext>
              </a:extLst>
            </p:cNvPr>
            <p:cNvSpPr txBox="1"/>
            <p:nvPr/>
          </p:nvSpPr>
          <p:spPr bwMode="auto">
            <a:xfrm>
              <a:off x="1114489" y="2060268"/>
              <a:ext cx="1368152" cy="523220"/>
            </a:xfrm>
            <a:prstGeom prst="rect">
              <a:avLst/>
            </a:prstGeom>
            <a:noFill/>
            <a:ln w="9525">
              <a:noFill/>
              <a:miter lim="800000"/>
              <a:headEnd/>
              <a:tailEnd/>
            </a:ln>
            <a:effectLst/>
          </p:spPr>
          <p:txBody>
            <a:bodyPr wrap="square" lIns="0" rtlCol="0">
              <a:spAutoFit/>
            </a:bodyPr>
            <a:lstStyle/>
            <a:p>
              <a:pPr algn="ctr">
                <a:spcBef>
                  <a:spcPct val="50000"/>
                </a:spcBef>
              </a:pPr>
              <a:r>
                <a:rPr lang="en-US" sz="1400" dirty="0">
                  <a:solidFill>
                    <a:srgbClr val="595959"/>
                  </a:solidFill>
                  <a:latin typeface="+mn-lt"/>
                  <a:cs typeface="Arial"/>
                </a:rPr>
                <a:t>Façade geometry</a:t>
              </a:r>
              <a:endParaRPr lang="en-GB" sz="1400" dirty="0">
                <a:solidFill>
                  <a:srgbClr val="595959"/>
                </a:solidFill>
                <a:latin typeface="+mn-lt"/>
                <a:cs typeface="Arial"/>
              </a:endParaRPr>
            </a:p>
          </p:txBody>
        </p:sp>
        <p:sp>
          <p:nvSpPr>
            <p:cNvPr id="5" name="TextBox 4">
              <a:extLst>
                <a:ext uri="{FF2B5EF4-FFF2-40B4-BE49-F238E27FC236}">
                  <a16:creationId xmlns:a16="http://schemas.microsoft.com/office/drawing/2014/main" id="{FC68CD60-3C96-9C05-72A9-9F6FDEB85F40}"/>
                </a:ext>
              </a:extLst>
            </p:cNvPr>
            <p:cNvSpPr txBox="1"/>
            <p:nvPr/>
          </p:nvSpPr>
          <p:spPr bwMode="auto">
            <a:xfrm>
              <a:off x="1114489" y="3231560"/>
              <a:ext cx="1368152" cy="307777"/>
            </a:xfrm>
            <a:prstGeom prst="rect">
              <a:avLst/>
            </a:prstGeom>
            <a:noFill/>
            <a:ln w="9525">
              <a:noFill/>
              <a:miter lim="800000"/>
              <a:headEnd/>
              <a:tailEnd/>
            </a:ln>
            <a:effectLst/>
          </p:spPr>
          <p:txBody>
            <a:bodyPr wrap="square" lIns="0" rtlCol="0">
              <a:spAutoFit/>
            </a:bodyPr>
            <a:lstStyle/>
            <a:p>
              <a:pPr algn="ctr">
                <a:spcBef>
                  <a:spcPct val="50000"/>
                </a:spcBef>
              </a:pPr>
              <a:r>
                <a:rPr lang="en-US" sz="1400" dirty="0">
                  <a:solidFill>
                    <a:srgbClr val="595959"/>
                  </a:solidFill>
                  <a:latin typeface="+mn-lt"/>
                  <a:cs typeface="Arial"/>
                </a:rPr>
                <a:t>Overhang depth</a:t>
              </a:r>
              <a:endParaRPr lang="en-GB" sz="1400" dirty="0">
                <a:solidFill>
                  <a:srgbClr val="595959"/>
                </a:solidFill>
                <a:latin typeface="+mn-lt"/>
                <a:cs typeface="Arial"/>
              </a:endParaRPr>
            </a:p>
          </p:txBody>
        </p:sp>
        <p:sp>
          <p:nvSpPr>
            <p:cNvPr id="6" name="TextBox 5">
              <a:extLst>
                <a:ext uri="{FF2B5EF4-FFF2-40B4-BE49-F238E27FC236}">
                  <a16:creationId xmlns:a16="http://schemas.microsoft.com/office/drawing/2014/main" id="{B35063EB-E0E4-B68A-52DD-4D5034FFF3A1}"/>
                </a:ext>
              </a:extLst>
            </p:cNvPr>
            <p:cNvSpPr txBox="1"/>
            <p:nvPr/>
          </p:nvSpPr>
          <p:spPr bwMode="auto">
            <a:xfrm>
              <a:off x="1114489" y="2708340"/>
              <a:ext cx="1368152" cy="307777"/>
            </a:xfrm>
            <a:prstGeom prst="rect">
              <a:avLst/>
            </a:prstGeom>
            <a:noFill/>
            <a:ln w="9525">
              <a:noFill/>
              <a:miter lim="800000"/>
              <a:headEnd/>
              <a:tailEnd/>
            </a:ln>
            <a:effectLst/>
          </p:spPr>
          <p:txBody>
            <a:bodyPr wrap="square" lIns="0" rtlCol="0">
              <a:spAutoFit/>
            </a:bodyPr>
            <a:lstStyle/>
            <a:p>
              <a:pPr algn="ctr">
                <a:spcBef>
                  <a:spcPct val="50000"/>
                </a:spcBef>
              </a:pPr>
              <a:r>
                <a:rPr lang="en-US" sz="1400" dirty="0">
                  <a:solidFill>
                    <a:srgbClr val="595959"/>
                  </a:solidFill>
                  <a:latin typeface="+mn-lt"/>
                  <a:cs typeface="Arial"/>
                </a:rPr>
                <a:t>+</a:t>
              </a:r>
              <a:endParaRPr lang="en-GB" sz="1400" dirty="0">
                <a:solidFill>
                  <a:srgbClr val="595959"/>
                </a:solidFill>
                <a:latin typeface="+mn-lt"/>
                <a:cs typeface="Arial"/>
              </a:endParaRPr>
            </a:p>
          </p:txBody>
        </p:sp>
        <p:sp>
          <p:nvSpPr>
            <p:cNvPr id="21" name="TextBox 20">
              <a:extLst>
                <a:ext uri="{FF2B5EF4-FFF2-40B4-BE49-F238E27FC236}">
                  <a16:creationId xmlns:a16="http://schemas.microsoft.com/office/drawing/2014/main" id="{1DEA050B-B482-7BB6-B647-43C457BB902B}"/>
                </a:ext>
              </a:extLst>
            </p:cNvPr>
            <p:cNvSpPr txBox="1"/>
            <p:nvPr/>
          </p:nvSpPr>
          <p:spPr bwMode="auto">
            <a:xfrm>
              <a:off x="1114489" y="3539337"/>
              <a:ext cx="1368152" cy="246221"/>
            </a:xfrm>
            <a:prstGeom prst="rect">
              <a:avLst/>
            </a:prstGeom>
            <a:noFill/>
            <a:ln w="9525">
              <a:noFill/>
              <a:miter lim="800000"/>
              <a:headEnd/>
              <a:tailEnd/>
            </a:ln>
            <a:effectLst/>
          </p:spPr>
          <p:txBody>
            <a:bodyPr wrap="square" lIns="0" rtlCol="0">
              <a:spAutoFit/>
            </a:bodyPr>
            <a:lstStyle/>
            <a:p>
              <a:pPr algn="ctr">
                <a:spcBef>
                  <a:spcPct val="50000"/>
                </a:spcBef>
              </a:pPr>
              <a:r>
                <a:rPr lang="en-US" sz="1000" i="1" dirty="0">
                  <a:solidFill>
                    <a:srgbClr val="EA560D"/>
                  </a:solidFill>
                  <a:latin typeface="+mn-lt"/>
                  <a:cs typeface="Arial"/>
                </a:rPr>
                <a:t>(study parameter)</a:t>
              </a:r>
              <a:endParaRPr lang="en-GB" sz="1000" i="1" dirty="0">
                <a:solidFill>
                  <a:srgbClr val="EA560D"/>
                </a:solidFill>
                <a:latin typeface="+mn-lt"/>
                <a:cs typeface="Arial"/>
              </a:endParaRPr>
            </a:p>
          </p:txBody>
        </p:sp>
      </p:grpSp>
      <p:grpSp>
        <p:nvGrpSpPr>
          <p:cNvPr id="27" name="Group 26">
            <a:extLst>
              <a:ext uri="{FF2B5EF4-FFF2-40B4-BE49-F238E27FC236}">
                <a16:creationId xmlns:a16="http://schemas.microsoft.com/office/drawing/2014/main" id="{46470C80-1B37-174D-032B-4415E0983A72}"/>
              </a:ext>
            </a:extLst>
          </p:cNvPr>
          <p:cNvGrpSpPr/>
          <p:nvPr/>
        </p:nvGrpSpPr>
        <p:grpSpPr>
          <a:xfrm>
            <a:off x="4606990" y="2592035"/>
            <a:ext cx="2956353" cy="836965"/>
            <a:chOff x="4988694" y="2614105"/>
            <a:chExt cx="2956353" cy="836965"/>
          </a:xfrm>
        </p:grpSpPr>
        <p:sp>
          <p:nvSpPr>
            <p:cNvPr id="8" name="TextBox 7">
              <a:extLst>
                <a:ext uri="{FF2B5EF4-FFF2-40B4-BE49-F238E27FC236}">
                  <a16:creationId xmlns:a16="http://schemas.microsoft.com/office/drawing/2014/main" id="{F94D51CA-FB69-519A-A219-6FCC0306C558}"/>
                </a:ext>
              </a:extLst>
            </p:cNvPr>
            <p:cNvSpPr txBox="1"/>
            <p:nvPr/>
          </p:nvSpPr>
          <p:spPr bwMode="auto">
            <a:xfrm>
              <a:off x="4988694" y="2614105"/>
              <a:ext cx="1368152" cy="523220"/>
            </a:xfrm>
            <a:prstGeom prst="rect">
              <a:avLst/>
            </a:prstGeom>
            <a:noFill/>
            <a:ln w="9525">
              <a:noFill/>
              <a:miter lim="800000"/>
              <a:headEnd/>
              <a:tailEnd/>
            </a:ln>
            <a:effectLst/>
          </p:spPr>
          <p:txBody>
            <a:bodyPr wrap="square" lIns="0" rtlCol="0">
              <a:spAutoFit/>
            </a:bodyPr>
            <a:lstStyle/>
            <a:p>
              <a:pPr algn="ctr">
                <a:spcBef>
                  <a:spcPct val="50000"/>
                </a:spcBef>
              </a:pPr>
              <a:r>
                <a:rPr lang="en-GB" sz="1400" dirty="0">
                  <a:latin typeface="+mn-lt"/>
                </a:rPr>
                <a:t>Peak incident solar radiation</a:t>
              </a:r>
              <a:endParaRPr lang="en-GB" sz="1400" dirty="0">
                <a:solidFill>
                  <a:srgbClr val="595959"/>
                </a:solidFill>
                <a:latin typeface="+mn-lt"/>
                <a:cs typeface="Arial"/>
              </a:endParaRPr>
            </a:p>
          </p:txBody>
        </p:sp>
        <p:sp>
          <p:nvSpPr>
            <p:cNvPr id="20" name="TextBox 19">
              <a:extLst>
                <a:ext uri="{FF2B5EF4-FFF2-40B4-BE49-F238E27FC236}">
                  <a16:creationId xmlns:a16="http://schemas.microsoft.com/office/drawing/2014/main" id="{BF88BE63-F261-0FF1-ED3F-A617EE969796}"/>
                </a:ext>
              </a:extLst>
            </p:cNvPr>
            <p:cNvSpPr txBox="1"/>
            <p:nvPr/>
          </p:nvSpPr>
          <p:spPr bwMode="auto">
            <a:xfrm>
              <a:off x="6172234" y="2708340"/>
              <a:ext cx="369224" cy="307777"/>
            </a:xfrm>
            <a:prstGeom prst="rect">
              <a:avLst/>
            </a:prstGeom>
            <a:noFill/>
            <a:ln w="9525">
              <a:noFill/>
              <a:miter lim="800000"/>
              <a:headEnd/>
              <a:tailEnd/>
            </a:ln>
            <a:effectLst/>
          </p:spPr>
          <p:txBody>
            <a:bodyPr wrap="square">
              <a:spAutoFit/>
            </a:bodyPr>
            <a:lstStyle/>
            <a:p>
              <a:pPr algn="ctr"/>
              <a:r>
                <a:rPr lang="en-GB" sz="1400" dirty="0">
                  <a:latin typeface="+mn-lt"/>
                </a:rPr>
                <a:t>x </a:t>
              </a:r>
              <a:endParaRPr lang="en-GB" dirty="0">
                <a:latin typeface="+mn-lt"/>
              </a:endParaRPr>
            </a:p>
          </p:txBody>
        </p:sp>
        <p:grpSp>
          <p:nvGrpSpPr>
            <p:cNvPr id="26" name="Group 25">
              <a:extLst>
                <a:ext uri="{FF2B5EF4-FFF2-40B4-BE49-F238E27FC236}">
                  <a16:creationId xmlns:a16="http://schemas.microsoft.com/office/drawing/2014/main" id="{4F646C2D-98CE-84A5-ACA4-A2BE2C1D421E}"/>
                </a:ext>
              </a:extLst>
            </p:cNvPr>
            <p:cNvGrpSpPr/>
            <p:nvPr/>
          </p:nvGrpSpPr>
          <p:grpSpPr>
            <a:xfrm>
              <a:off x="6432689" y="2708340"/>
              <a:ext cx="1512358" cy="742730"/>
              <a:chOff x="6586390" y="2708340"/>
              <a:chExt cx="1512358" cy="742730"/>
            </a:xfrm>
          </p:grpSpPr>
          <p:sp>
            <p:nvSpPr>
              <p:cNvPr id="13" name="TextBox 12">
                <a:extLst>
                  <a:ext uri="{FF2B5EF4-FFF2-40B4-BE49-F238E27FC236}">
                    <a16:creationId xmlns:a16="http://schemas.microsoft.com/office/drawing/2014/main" id="{70CB7222-04C0-FEEC-35F6-6FC6D64907C7}"/>
                  </a:ext>
                </a:extLst>
              </p:cNvPr>
              <p:cNvSpPr txBox="1"/>
              <p:nvPr/>
            </p:nvSpPr>
            <p:spPr bwMode="auto">
              <a:xfrm>
                <a:off x="6586390" y="2708340"/>
                <a:ext cx="1512358" cy="523220"/>
              </a:xfrm>
              <a:prstGeom prst="rect">
                <a:avLst/>
              </a:prstGeom>
              <a:noFill/>
              <a:ln w="9525">
                <a:noFill/>
                <a:miter lim="800000"/>
                <a:headEnd/>
                <a:tailEnd/>
              </a:ln>
              <a:effectLst/>
            </p:spPr>
            <p:txBody>
              <a:bodyPr wrap="square" lIns="0" rtlCol="0">
                <a:spAutoFit/>
              </a:bodyPr>
              <a:lstStyle/>
              <a:p>
                <a:pPr algn="ctr">
                  <a:spcBef>
                    <a:spcPct val="50000"/>
                  </a:spcBef>
                </a:pPr>
                <a:r>
                  <a:rPr lang="en-GB" sz="1400">
                    <a:latin typeface="+mn-lt"/>
                  </a:rPr>
                  <a:t>Glazing shading coefficient (SC)</a:t>
                </a:r>
                <a:endParaRPr lang="en-GB" sz="1400" dirty="0">
                  <a:solidFill>
                    <a:srgbClr val="595959"/>
                  </a:solidFill>
                  <a:latin typeface="+mn-lt"/>
                  <a:cs typeface="Arial"/>
                </a:endParaRPr>
              </a:p>
            </p:txBody>
          </p:sp>
          <p:sp>
            <p:nvSpPr>
              <p:cNvPr id="22" name="TextBox 21">
                <a:extLst>
                  <a:ext uri="{FF2B5EF4-FFF2-40B4-BE49-F238E27FC236}">
                    <a16:creationId xmlns:a16="http://schemas.microsoft.com/office/drawing/2014/main" id="{DC5C4DBD-AE0C-1FA4-2EBA-94A5252FA737}"/>
                  </a:ext>
                </a:extLst>
              </p:cNvPr>
              <p:cNvSpPr txBox="1"/>
              <p:nvPr/>
            </p:nvSpPr>
            <p:spPr bwMode="auto">
              <a:xfrm>
                <a:off x="6699751" y="3204849"/>
                <a:ext cx="1368152" cy="246221"/>
              </a:xfrm>
              <a:prstGeom prst="rect">
                <a:avLst/>
              </a:prstGeom>
              <a:noFill/>
              <a:ln w="9525">
                <a:noFill/>
                <a:miter lim="800000"/>
                <a:headEnd/>
                <a:tailEnd/>
              </a:ln>
              <a:effectLst/>
            </p:spPr>
            <p:txBody>
              <a:bodyPr wrap="square" lIns="0" rtlCol="0">
                <a:spAutoFit/>
              </a:bodyPr>
              <a:lstStyle/>
              <a:p>
                <a:pPr algn="ctr">
                  <a:spcBef>
                    <a:spcPct val="50000"/>
                  </a:spcBef>
                </a:pPr>
                <a:r>
                  <a:rPr lang="en-US" sz="1000" i="1" dirty="0">
                    <a:solidFill>
                      <a:srgbClr val="EA560D"/>
                    </a:solidFill>
                    <a:latin typeface="+mn-lt"/>
                    <a:cs typeface="Arial"/>
                  </a:rPr>
                  <a:t>(study parameter)</a:t>
                </a:r>
                <a:endParaRPr lang="en-GB" sz="1000" i="1" dirty="0">
                  <a:solidFill>
                    <a:srgbClr val="EA560D"/>
                  </a:solidFill>
                  <a:latin typeface="+mn-lt"/>
                  <a:cs typeface="Arial"/>
                </a:endParaRPr>
              </a:p>
            </p:txBody>
          </p:sp>
        </p:grpSp>
      </p:grpSp>
      <p:cxnSp>
        <p:nvCxnSpPr>
          <p:cNvPr id="23" name="Straight Arrow Connector 22">
            <a:extLst>
              <a:ext uri="{FF2B5EF4-FFF2-40B4-BE49-F238E27FC236}">
                <a16:creationId xmlns:a16="http://schemas.microsoft.com/office/drawing/2014/main" id="{A4B1E386-0EF0-1B5B-C67F-971E5190B9A0}"/>
              </a:ext>
            </a:extLst>
          </p:cNvPr>
          <p:cNvCxnSpPr>
            <a:cxnSpLocks/>
          </p:cNvCxnSpPr>
          <p:nvPr/>
        </p:nvCxnSpPr>
        <p:spPr>
          <a:xfrm>
            <a:off x="9507386" y="2813447"/>
            <a:ext cx="360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7D7B1A8-BE5F-F4BE-3E69-FFB3C5EF855D}"/>
              </a:ext>
            </a:extLst>
          </p:cNvPr>
          <p:cNvSpPr txBox="1"/>
          <p:nvPr/>
        </p:nvSpPr>
        <p:spPr bwMode="auto">
          <a:xfrm>
            <a:off x="10047034" y="2444115"/>
            <a:ext cx="1368152" cy="738664"/>
          </a:xfrm>
          <a:prstGeom prst="rect">
            <a:avLst/>
          </a:prstGeom>
          <a:noFill/>
          <a:ln w="9525">
            <a:noFill/>
            <a:miter lim="800000"/>
            <a:headEnd/>
            <a:tailEnd/>
          </a:ln>
          <a:effectLst/>
        </p:spPr>
        <p:txBody>
          <a:bodyPr wrap="square" lIns="0" rtlCol="0">
            <a:spAutoFit/>
          </a:bodyPr>
          <a:lstStyle/>
          <a:p>
            <a:pPr algn="ctr">
              <a:spcBef>
                <a:spcPct val="50000"/>
              </a:spcBef>
            </a:pPr>
            <a:r>
              <a:rPr lang="en-GB" sz="1400" dirty="0">
                <a:latin typeface="+mn-lt"/>
              </a:rPr>
              <a:t>Filter using allowable peak solar gain</a:t>
            </a:r>
            <a:endParaRPr lang="en-GB" sz="1400" dirty="0">
              <a:solidFill>
                <a:srgbClr val="595959"/>
              </a:solidFill>
              <a:latin typeface="+mn-lt"/>
              <a:cs typeface="Arial"/>
            </a:endParaRPr>
          </a:p>
        </p:txBody>
      </p:sp>
      <p:sp>
        <p:nvSpPr>
          <p:cNvPr id="25" name="TextBox 24">
            <a:extLst>
              <a:ext uri="{FF2B5EF4-FFF2-40B4-BE49-F238E27FC236}">
                <a16:creationId xmlns:a16="http://schemas.microsoft.com/office/drawing/2014/main" id="{5B9E7068-97DB-5E85-62B9-43A074A826DF}"/>
              </a:ext>
            </a:extLst>
          </p:cNvPr>
          <p:cNvSpPr txBox="1"/>
          <p:nvPr/>
        </p:nvSpPr>
        <p:spPr bwMode="auto">
          <a:xfrm>
            <a:off x="10050711" y="3380217"/>
            <a:ext cx="1368152" cy="246221"/>
          </a:xfrm>
          <a:prstGeom prst="rect">
            <a:avLst/>
          </a:prstGeom>
          <a:noFill/>
          <a:ln w="9525">
            <a:noFill/>
            <a:miter lim="800000"/>
            <a:headEnd/>
            <a:tailEnd/>
          </a:ln>
          <a:effectLst/>
        </p:spPr>
        <p:txBody>
          <a:bodyPr wrap="square" lIns="0" rtlCol="0">
            <a:spAutoFit/>
          </a:bodyPr>
          <a:lstStyle/>
          <a:p>
            <a:pPr algn="ctr">
              <a:spcBef>
                <a:spcPct val="50000"/>
              </a:spcBef>
            </a:pPr>
            <a:r>
              <a:rPr lang="en-US" sz="1000" i="1" dirty="0">
                <a:solidFill>
                  <a:srgbClr val="EA560D"/>
                </a:solidFill>
                <a:latin typeface="+mn-lt"/>
                <a:cs typeface="Arial"/>
              </a:rPr>
              <a:t>(MEP engineer input)</a:t>
            </a:r>
            <a:endParaRPr lang="en-GB" sz="1000" i="1" dirty="0">
              <a:solidFill>
                <a:srgbClr val="EA560D"/>
              </a:solidFill>
              <a:latin typeface="+mn-lt"/>
              <a:cs typeface="Arial"/>
            </a:endParaRPr>
          </a:p>
        </p:txBody>
      </p:sp>
      <p:sp>
        <p:nvSpPr>
          <p:cNvPr id="19" name="TextBox 18">
            <a:extLst>
              <a:ext uri="{FF2B5EF4-FFF2-40B4-BE49-F238E27FC236}">
                <a16:creationId xmlns:a16="http://schemas.microsoft.com/office/drawing/2014/main" id="{09A6D357-80A9-F032-2B35-B33D9D5E0335}"/>
              </a:ext>
            </a:extLst>
          </p:cNvPr>
          <p:cNvSpPr txBox="1"/>
          <p:nvPr/>
        </p:nvSpPr>
        <p:spPr bwMode="auto">
          <a:xfrm>
            <a:off x="10063920" y="4379883"/>
            <a:ext cx="1368152" cy="1169551"/>
          </a:xfrm>
          <a:prstGeom prst="rect">
            <a:avLst/>
          </a:prstGeom>
          <a:noFill/>
          <a:ln w="9525">
            <a:noFill/>
            <a:miter lim="800000"/>
            <a:headEnd/>
            <a:tailEnd/>
          </a:ln>
          <a:effectLst/>
        </p:spPr>
        <p:txBody>
          <a:bodyPr wrap="square" lIns="0" rtlCol="0">
            <a:spAutoFit/>
          </a:bodyPr>
          <a:lstStyle/>
          <a:p>
            <a:pPr algn="ctr">
              <a:spcBef>
                <a:spcPct val="50000"/>
              </a:spcBef>
            </a:pPr>
            <a:r>
              <a:rPr lang="en-GB" sz="1400" dirty="0">
                <a:latin typeface="+mn-lt"/>
              </a:rPr>
              <a:t>Selected configs studied further for daylight compliance </a:t>
            </a:r>
            <a:endParaRPr lang="en-GB" sz="1400" dirty="0">
              <a:solidFill>
                <a:srgbClr val="595959"/>
              </a:solidFill>
              <a:latin typeface="+mn-lt"/>
              <a:cs typeface="Arial"/>
            </a:endParaRPr>
          </a:p>
        </p:txBody>
      </p:sp>
      <p:sp>
        <p:nvSpPr>
          <p:cNvPr id="30" name="Rectangle: Rounded Corners 29">
            <a:extLst>
              <a:ext uri="{FF2B5EF4-FFF2-40B4-BE49-F238E27FC236}">
                <a16:creationId xmlns:a16="http://schemas.microsoft.com/office/drawing/2014/main" id="{36EEF08A-8CDE-7D8A-89B6-63DDB75B0B5A}"/>
              </a:ext>
            </a:extLst>
          </p:cNvPr>
          <p:cNvSpPr/>
          <p:nvPr/>
        </p:nvSpPr>
        <p:spPr>
          <a:xfrm>
            <a:off x="494919" y="1868052"/>
            <a:ext cx="1464596" cy="1937814"/>
          </a:xfrm>
          <a:prstGeom prst="roundRect">
            <a:avLst/>
          </a:prstGeom>
          <a:noFill/>
          <a:ln w="6350">
            <a:solidFill>
              <a:srgbClr val="B1BECD"/>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sp>
        <p:nvSpPr>
          <p:cNvPr id="31" name="Rectangle: Rounded Corners 30">
            <a:extLst>
              <a:ext uri="{FF2B5EF4-FFF2-40B4-BE49-F238E27FC236}">
                <a16:creationId xmlns:a16="http://schemas.microsoft.com/office/drawing/2014/main" id="{4ADA0F10-5808-0728-43B4-26257B5C4084}"/>
              </a:ext>
            </a:extLst>
          </p:cNvPr>
          <p:cNvSpPr/>
          <p:nvPr/>
        </p:nvSpPr>
        <p:spPr>
          <a:xfrm>
            <a:off x="2529713" y="2300100"/>
            <a:ext cx="1464596" cy="882679"/>
          </a:xfrm>
          <a:prstGeom prst="roundRect">
            <a:avLst/>
          </a:prstGeom>
          <a:noFill/>
          <a:ln w="6350">
            <a:solidFill>
              <a:srgbClr val="B1BECD"/>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sp>
        <p:nvSpPr>
          <p:cNvPr id="32" name="Rectangle: Rounded Corners 31">
            <a:extLst>
              <a:ext uri="{FF2B5EF4-FFF2-40B4-BE49-F238E27FC236}">
                <a16:creationId xmlns:a16="http://schemas.microsoft.com/office/drawing/2014/main" id="{AC60A8C4-25E7-D594-7906-617AEDCCEB24}"/>
              </a:ext>
            </a:extLst>
          </p:cNvPr>
          <p:cNvSpPr/>
          <p:nvPr/>
        </p:nvSpPr>
        <p:spPr>
          <a:xfrm>
            <a:off x="4508990" y="2300100"/>
            <a:ext cx="2986646" cy="1080117"/>
          </a:xfrm>
          <a:prstGeom prst="roundRect">
            <a:avLst/>
          </a:prstGeom>
          <a:noFill/>
          <a:ln w="6350">
            <a:solidFill>
              <a:srgbClr val="B1BECD"/>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CE8F820B-F0E5-33CF-7697-D07E93D9A100}"/>
              </a:ext>
            </a:extLst>
          </p:cNvPr>
          <p:cNvSpPr/>
          <p:nvPr/>
        </p:nvSpPr>
        <p:spPr>
          <a:xfrm>
            <a:off x="8004373" y="2453118"/>
            <a:ext cx="1429290" cy="936102"/>
          </a:xfrm>
          <a:prstGeom prst="roundRect">
            <a:avLst/>
          </a:prstGeom>
          <a:noFill/>
          <a:ln w="19050">
            <a:solidFill>
              <a:srgbClr val="EA560D"/>
            </a:solidFill>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sp>
        <p:nvSpPr>
          <p:cNvPr id="34" name="Rectangle: Rounded Corners 33">
            <a:extLst>
              <a:ext uri="{FF2B5EF4-FFF2-40B4-BE49-F238E27FC236}">
                <a16:creationId xmlns:a16="http://schemas.microsoft.com/office/drawing/2014/main" id="{A1E89131-925C-F1FF-41B2-C5C0A6F01248}"/>
              </a:ext>
            </a:extLst>
          </p:cNvPr>
          <p:cNvSpPr/>
          <p:nvPr/>
        </p:nvSpPr>
        <p:spPr>
          <a:xfrm>
            <a:off x="9912424" y="2140891"/>
            <a:ext cx="1641049" cy="1595886"/>
          </a:xfrm>
          <a:prstGeom prst="roundRect">
            <a:avLst/>
          </a:prstGeom>
          <a:noFill/>
          <a:ln w="6350">
            <a:solidFill>
              <a:srgbClr val="B1BECD"/>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E91D2173-FEC5-FCA4-DB5C-5C463301BC31}"/>
              </a:ext>
            </a:extLst>
          </p:cNvPr>
          <p:cNvCxnSpPr>
            <a:cxnSpLocks/>
          </p:cNvCxnSpPr>
          <p:nvPr/>
        </p:nvCxnSpPr>
        <p:spPr>
          <a:xfrm>
            <a:off x="10704512" y="3941091"/>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47849C13-4779-C4E3-8580-E1669BA6A3EC}"/>
              </a:ext>
            </a:extLst>
          </p:cNvPr>
          <p:cNvSpPr/>
          <p:nvPr/>
        </p:nvSpPr>
        <p:spPr>
          <a:xfrm>
            <a:off x="9912424" y="4232821"/>
            <a:ext cx="1641049" cy="1595886"/>
          </a:xfrm>
          <a:prstGeom prst="roundRect">
            <a:avLst/>
          </a:prstGeom>
          <a:noFill/>
          <a:ln w="6350">
            <a:solidFill>
              <a:srgbClr val="B1BECD"/>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sp>
        <p:nvSpPr>
          <p:cNvPr id="35" name="TextBox 34">
            <a:extLst>
              <a:ext uri="{FF2B5EF4-FFF2-40B4-BE49-F238E27FC236}">
                <a16:creationId xmlns:a16="http://schemas.microsoft.com/office/drawing/2014/main" id="{2646DC7D-7803-3919-0FD5-AA087B4EC5F5}"/>
              </a:ext>
            </a:extLst>
          </p:cNvPr>
          <p:cNvSpPr txBox="1"/>
          <p:nvPr/>
        </p:nvSpPr>
        <p:spPr bwMode="auto">
          <a:xfrm>
            <a:off x="10050711" y="5565960"/>
            <a:ext cx="1368152" cy="246221"/>
          </a:xfrm>
          <a:prstGeom prst="rect">
            <a:avLst/>
          </a:prstGeom>
          <a:noFill/>
          <a:ln w="9525">
            <a:noFill/>
            <a:miter lim="800000"/>
            <a:headEnd/>
            <a:tailEnd/>
          </a:ln>
          <a:effectLst/>
        </p:spPr>
        <p:txBody>
          <a:bodyPr wrap="square" lIns="0" rtlCol="0">
            <a:spAutoFit/>
          </a:bodyPr>
          <a:lstStyle/>
          <a:p>
            <a:pPr algn="ctr">
              <a:spcBef>
                <a:spcPct val="50000"/>
              </a:spcBef>
            </a:pPr>
            <a:r>
              <a:rPr lang="en-US" sz="1000" i="1" dirty="0">
                <a:solidFill>
                  <a:srgbClr val="EA560D"/>
                </a:solidFill>
                <a:latin typeface="+mn-lt"/>
                <a:cs typeface="Arial"/>
              </a:rPr>
              <a:t>(Study 2)</a:t>
            </a:r>
            <a:endParaRPr lang="en-GB" sz="1000" i="1" dirty="0">
              <a:solidFill>
                <a:srgbClr val="EA560D"/>
              </a:solidFill>
              <a:latin typeface="+mn-lt"/>
              <a:cs typeface="Arial"/>
            </a:endParaRPr>
          </a:p>
        </p:txBody>
      </p:sp>
      <p:sp>
        <p:nvSpPr>
          <p:cNvPr id="37" name="Right Bracket 36">
            <a:extLst>
              <a:ext uri="{FF2B5EF4-FFF2-40B4-BE49-F238E27FC236}">
                <a16:creationId xmlns:a16="http://schemas.microsoft.com/office/drawing/2014/main" id="{D2BF8E1A-42AF-8F3F-C98B-2BC00121BDC8}"/>
              </a:ext>
            </a:extLst>
          </p:cNvPr>
          <p:cNvSpPr/>
          <p:nvPr/>
        </p:nvSpPr>
        <p:spPr>
          <a:xfrm rot="16200000">
            <a:off x="6033867" y="-3904965"/>
            <a:ext cx="124262" cy="11421772"/>
          </a:xfrm>
          <a:prstGeom prst="rightBracket">
            <a:avLst/>
          </a:prstGeom>
          <a:ln w="3175">
            <a:prstDash val="lgDash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8" name="TextBox 37">
            <a:extLst>
              <a:ext uri="{FF2B5EF4-FFF2-40B4-BE49-F238E27FC236}">
                <a16:creationId xmlns:a16="http://schemas.microsoft.com/office/drawing/2014/main" id="{75EE8916-75DC-0817-9004-C44BA8D67F18}"/>
              </a:ext>
            </a:extLst>
          </p:cNvPr>
          <p:cNvSpPr txBox="1"/>
          <p:nvPr/>
        </p:nvSpPr>
        <p:spPr bwMode="auto">
          <a:xfrm>
            <a:off x="5244520" y="1456297"/>
            <a:ext cx="1368152" cy="246221"/>
          </a:xfrm>
          <a:prstGeom prst="rect">
            <a:avLst/>
          </a:prstGeom>
          <a:noFill/>
          <a:ln w="9525">
            <a:noFill/>
            <a:miter lim="800000"/>
            <a:headEnd/>
            <a:tailEnd/>
          </a:ln>
          <a:effectLst/>
        </p:spPr>
        <p:txBody>
          <a:bodyPr wrap="square" lIns="0" rtlCol="0">
            <a:spAutoFit/>
          </a:bodyPr>
          <a:lstStyle/>
          <a:p>
            <a:pPr algn="ctr">
              <a:spcBef>
                <a:spcPct val="50000"/>
              </a:spcBef>
            </a:pPr>
            <a:r>
              <a:rPr lang="en-US" sz="1000" i="1" dirty="0">
                <a:solidFill>
                  <a:srgbClr val="EA560D"/>
                </a:solidFill>
                <a:latin typeface="+mn-lt"/>
                <a:cs typeface="Arial"/>
              </a:rPr>
              <a:t>(Study 1)</a:t>
            </a:r>
            <a:endParaRPr lang="en-GB" sz="1000" i="1" dirty="0">
              <a:solidFill>
                <a:srgbClr val="EA560D"/>
              </a:solidFill>
              <a:latin typeface="+mn-lt"/>
              <a:cs typeface="Arial"/>
            </a:endParaRPr>
          </a:p>
        </p:txBody>
      </p:sp>
      <p:sp>
        <p:nvSpPr>
          <p:cNvPr id="12" name="TextBox 11">
            <a:extLst>
              <a:ext uri="{FF2B5EF4-FFF2-40B4-BE49-F238E27FC236}">
                <a16:creationId xmlns:a16="http://schemas.microsoft.com/office/drawing/2014/main" id="{D0CB15FD-0B45-C60E-A587-90A87D1B3C08}"/>
              </a:ext>
            </a:extLst>
          </p:cNvPr>
          <p:cNvSpPr txBox="1"/>
          <p:nvPr/>
        </p:nvSpPr>
        <p:spPr bwMode="auto">
          <a:xfrm>
            <a:off x="494919" y="5538760"/>
            <a:ext cx="8507039" cy="646331"/>
          </a:xfrm>
          <a:prstGeom prst="rect">
            <a:avLst/>
          </a:prstGeom>
          <a:noFill/>
          <a:ln w="9525">
            <a:noFill/>
            <a:miter lim="800000"/>
            <a:headEnd/>
            <a:tailEnd/>
          </a:ln>
          <a:effectLst/>
        </p:spPr>
        <p:txBody>
          <a:bodyPr wrap="square">
            <a:spAutoFit/>
          </a:bodyPr>
          <a:lstStyle/>
          <a:p>
            <a:pPr marL="0" marR="0">
              <a:buNone/>
            </a:pPr>
            <a:r>
              <a:rPr lang="en-US" sz="1200" dirty="0">
                <a:solidFill>
                  <a:schemeClr val="tx1"/>
                </a:solidFill>
                <a:effectLst/>
                <a:latin typeface="Arial" charset="0"/>
              </a:rPr>
              <a:t>Aim: show how the depth of the roof canopy and the solar-control performance of the glass (shading coefficient, SC) reduce the solar heat gain through the façade; compare the result with the solar load the MEP's HVAC design allows for; and take the compatible options forward to a daylight check (</a:t>
            </a:r>
            <a:r>
              <a:rPr lang="en-US" sz="1200" dirty="0" err="1">
                <a:solidFill>
                  <a:schemeClr val="tx1"/>
                </a:solidFill>
                <a:effectLst/>
                <a:latin typeface="Arial" charset="0"/>
              </a:rPr>
              <a:t>sDA</a:t>
            </a:r>
            <a:r>
              <a:rPr lang="en-US" sz="1200" dirty="0">
                <a:solidFill>
                  <a:schemeClr val="tx1"/>
                </a:solidFill>
                <a:effectLst/>
                <a:latin typeface="Arial" charset="0"/>
              </a:rPr>
              <a:t> / ASE).</a:t>
            </a:r>
            <a:endParaRPr lang="en-GB" sz="1200" dirty="0">
              <a:solidFill>
                <a:schemeClr val="tx1"/>
              </a:solidFill>
              <a:effectLst/>
              <a:latin typeface="Arial" charset="0"/>
            </a:endParaRPr>
          </a:p>
        </p:txBody>
      </p:sp>
    </p:spTree>
    <p:extLst>
      <p:ext uri="{BB962C8B-B14F-4D97-AF65-F5344CB8AC3E}">
        <p14:creationId xmlns:p14="http://schemas.microsoft.com/office/powerpoint/2010/main" val="8675691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5DC5B83-3F98-0CED-A86C-045FA5221B4C}"/>
              </a:ext>
            </a:extLst>
          </p:cNvPr>
          <p:cNvSpPr>
            <a:spLocks noGrp="1"/>
          </p:cNvSpPr>
          <p:nvPr>
            <p:ph type="body" sz="quarter" idx="10"/>
          </p:nvPr>
        </p:nvSpPr>
        <p:spPr/>
        <p:txBody>
          <a:bodyPr/>
          <a:lstStyle/>
          <a:p>
            <a:r>
              <a:rPr lang="en-US" sz="3600" dirty="0"/>
              <a:t>Solar Heat Gain Analysis</a:t>
            </a:r>
            <a:endParaRPr lang="en-GB" sz="3600" dirty="0"/>
          </a:p>
        </p:txBody>
      </p:sp>
    </p:spTree>
    <p:extLst>
      <p:ext uri="{BB962C8B-B14F-4D97-AF65-F5344CB8AC3E}">
        <p14:creationId xmlns:p14="http://schemas.microsoft.com/office/powerpoint/2010/main" val="890009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9E6C4A8-383B-D7B1-9902-B2230972A206}"/>
              </a:ext>
            </a:extLst>
          </p:cNvPr>
          <p:cNvPicPr>
            <a:picLocks noChangeAspect="1"/>
          </p:cNvPicPr>
          <p:nvPr/>
        </p:nvPicPr>
        <p:blipFill>
          <a:blip r:embed="rId2"/>
          <a:srcRect/>
          <a:stretch/>
        </p:blipFill>
        <p:spPr>
          <a:xfrm>
            <a:off x="7187985" y="2546206"/>
            <a:ext cx="4202058" cy="2203055"/>
          </a:xfrm>
          <a:prstGeom prst="rect">
            <a:avLst/>
          </a:prstGeom>
        </p:spPr>
      </p:pic>
      <p:pic>
        <p:nvPicPr>
          <p:cNvPr id="6" name="Picture 5">
            <a:extLst>
              <a:ext uri="{FF2B5EF4-FFF2-40B4-BE49-F238E27FC236}">
                <a16:creationId xmlns:a16="http://schemas.microsoft.com/office/drawing/2014/main" id="{439DB6C1-25A9-6FB6-3DE5-3D83381D4739}"/>
              </a:ext>
            </a:extLst>
          </p:cNvPr>
          <p:cNvPicPr>
            <a:picLocks noChangeAspect="1"/>
          </p:cNvPicPr>
          <p:nvPr/>
        </p:nvPicPr>
        <p:blipFill>
          <a:blip r:embed="rId3"/>
          <a:srcRect l="15868" r="7582"/>
          <a:stretch>
            <a:fillRect/>
          </a:stretch>
        </p:blipFill>
        <p:spPr>
          <a:xfrm>
            <a:off x="119336" y="1351732"/>
            <a:ext cx="6600180" cy="4453531"/>
          </a:xfrm>
          <a:prstGeom prst="rect">
            <a:avLst/>
          </a:prstGeom>
        </p:spPr>
      </p:pic>
      <p:sp>
        <p:nvSpPr>
          <p:cNvPr id="2" name="Text Placeholder 1">
            <a:extLst>
              <a:ext uri="{FF2B5EF4-FFF2-40B4-BE49-F238E27FC236}">
                <a16:creationId xmlns:a16="http://schemas.microsoft.com/office/drawing/2014/main" id="{09C32688-717C-7B42-6C19-7CB661456870}"/>
              </a:ext>
            </a:extLst>
          </p:cNvPr>
          <p:cNvSpPr>
            <a:spLocks noGrp="1"/>
          </p:cNvSpPr>
          <p:nvPr>
            <p:ph type="body" sz="quarter" idx="14"/>
          </p:nvPr>
        </p:nvSpPr>
        <p:spPr>
          <a:xfrm>
            <a:off x="1570710" y="6419210"/>
            <a:ext cx="9133802" cy="400110"/>
          </a:xfrm>
        </p:spPr>
        <p:txBody>
          <a:bodyPr wrap="square">
            <a:noAutofit/>
          </a:bodyPr>
          <a:lstStyle/>
          <a:p>
            <a:r>
              <a:rPr lang="en-US" sz="1000" i="1" dirty="0"/>
              <a:t>Note: Set-up: the glazed façade is split into five zones that follow the floor plan, so every result can be traced back to a space.</a:t>
            </a:r>
            <a:endParaRPr lang="en-GB" sz="1000" i="1" dirty="0"/>
          </a:p>
        </p:txBody>
      </p:sp>
      <p:sp>
        <p:nvSpPr>
          <p:cNvPr id="3" name="Text Placeholder 2">
            <a:extLst>
              <a:ext uri="{FF2B5EF4-FFF2-40B4-BE49-F238E27FC236}">
                <a16:creationId xmlns:a16="http://schemas.microsoft.com/office/drawing/2014/main" id="{A75170E0-4F86-254D-4D8C-968932D71C25}"/>
              </a:ext>
            </a:extLst>
          </p:cNvPr>
          <p:cNvSpPr>
            <a:spLocks noGrp="1"/>
          </p:cNvSpPr>
          <p:nvPr>
            <p:ph type="body" sz="quarter" idx="10"/>
          </p:nvPr>
        </p:nvSpPr>
        <p:spPr>
          <a:xfrm>
            <a:off x="335360" y="260648"/>
            <a:ext cx="11521279" cy="553998"/>
          </a:xfrm>
        </p:spPr>
        <p:txBody>
          <a:bodyPr/>
          <a:lstStyle/>
          <a:p>
            <a:r>
              <a:rPr lang="en-US" dirty="0"/>
              <a:t>Façade Zones</a:t>
            </a:r>
            <a:endParaRPr lang="en-GB" dirty="0"/>
          </a:p>
        </p:txBody>
      </p:sp>
      <p:sp>
        <p:nvSpPr>
          <p:cNvPr id="4" name="Text Placeholder 3">
            <a:extLst>
              <a:ext uri="{FF2B5EF4-FFF2-40B4-BE49-F238E27FC236}">
                <a16:creationId xmlns:a16="http://schemas.microsoft.com/office/drawing/2014/main" id="{DF83E0C0-9C04-A6EA-43BC-340E47017177}"/>
              </a:ext>
            </a:extLst>
          </p:cNvPr>
          <p:cNvSpPr>
            <a:spLocks noGrp="1"/>
          </p:cNvSpPr>
          <p:nvPr>
            <p:ph type="body" sz="quarter" idx="15"/>
          </p:nvPr>
        </p:nvSpPr>
        <p:spPr>
          <a:xfrm>
            <a:off x="335360" y="897755"/>
            <a:ext cx="5645714" cy="307777"/>
          </a:xfrm>
        </p:spPr>
        <p:txBody>
          <a:bodyPr/>
          <a:lstStyle/>
          <a:p>
            <a:r>
              <a:rPr lang="en-US" dirty="0"/>
              <a:t>Façade zones based on floor plan</a:t>
            </a:r>
            <a:endParaRPr lang="en-GB" dirty="0"/>
          </a:p>
        </p:txBody>
      </p:sp>
      <p:pic>
        <p:nvPicPr>
          <p:cNvPr id="8" name="Picture 7">
            <a:extLst>
              <a:ext uri="{FF2B5EF4-FFF2-40B4-BE49-F238E27FC236}">
                <a16:creationId xmlns:a16="http://schemas.microsoft.com/office/drawing/2014/main" id="{16A193BF-BDBA-2861-ABBC-D63AC0475E3D}"/>
              </a:ext>
            </a:extLst>
          </p:cNvPr>
          <p:cNvPicPr>
            <a:picLocks noChangeAspect="1"/>
          </p:cNvPicPr>
          <p:nvPr/>
        </p:nvPicPr>
        <p:blipFill>
          <a:blip r:embed="rId4"/>
          <a:stretch>
            <a:fillRect/>
          </a:stretch>
        </p:blipFill>
        <p:spPr>
          <a:xfrm>
            <a:off x="182350" y="5370592"/>
            <a:ext cx="1479690" cy="764308"/>
          </a:xfrm>
          <a:prstGeom prst="rect">
            <a:avLst/>
          </a:prstGeom>
        </p:spPr>
      </p:pic>
      <p:pic>
        <p:nvPicPr>
          <p:cNvPr id="10" name="Picture 9">
            <a:extLst>
              <a:ext uri="{FF2B5EF4-FFF2-40B4-BE49-F238E27FC236}">
                <a16:creationId xmlns:a16="http://schemas.microsoft.com/office/drawing/2014/main" id="{5DDA1A51-FAEA-9966-634A-1C6E560D33A2}"/>
              </a:ext>
            </a:extLst>
          </p:cNvPr>
          <p:cNvPicPr>
            <a:picLocks noChangeAspect="1"/>
          </p:cNvPicPr>
          <p:nvPr/>
        </p:nvPicPr>
        <p:blipFill>
          <a:blip r:embed="rId5"/>
          <a:stretch>
            <a:fillRect/>
          </a:stretch>
        </p:blipFill>
        <p:spPr>
          <a:xfrm>
            <a:off x="6960096" y="4565926"/>
            <a:ext cx="509792" cy="733869"/>
          </a:xfrm>
          <a:prstGeom prst="rect">
            <a:avLst/>
          </a:prstGeom>
        </p:spPr>
      </p:pic>
      <p:pic>
        <p:nvPicPr>
          <p:cNvPr id="11" name="Picture 10">
            <a:extLst>
              <a:ext uri="{FF2B5EF4-FFF2-40B4-BE49-F238E27FC236}">
                <a16:creationId xmlns:a16="http://schemas.microsoft.com/office/drawing/2014/main" id="{1C965B33-A5AC-BBD8-DDBE-D9B96860478E}"/>
              </a:ext>
            </a:extLst>
          </p:cNvPr>
          <p:cNvPicPr>
            <a:picLocks noChangeAspect="1"/>
          </p:cNvPicPr>
          <p:nvPr/>
        </p:nvPicPr>
        <p:blipFill>
          <a:blip r:embed="rId3"/>
          <a:srcRect l="-2644" t="13768" r="83452"/>
          <a:stretch>
            <a:fillRect/>
          </a:stretch>
        </p:blipFill>
        <p:spPr>
          <a:xfrm>
            <a:off x="5159896" y="2876173"/>
            <a:ext cx="1404149" cy="3258727"/>
          </a:xfrm>
          <a:prstGeom prst="rect">
            <a:avLst/>
          </a:prstGeom>
        </p:spPr>
      </p:pic>
      <p:sp>
        <p:nvSpPr>
          <p:cNvPr id="13" name="TextBox 12">
            <a:extLst>
              <a:ext uri="{FF2B5EF4-FFF2-40B4-BE49-F238E27FC236}">
                <a16:creationId xmlns:a16="http://schemas.microsoft.com/office/drawing/2014/main" id="{7A931BBE-CF7C-1E84-8673-E2773BBA272B}"/>
              </a:ext>
            </a:extLst>
          </p:cNvPr>
          <p:cNvSpPr txBox="1"/>
          <p:nvPr/>
        </p:nvSpPr>
        <p:spPr bwMode="auto">
          <a:xfrm>
            <a:off x="976147" y="5960245"/>
            <a:ext cx="4608512" cy="261610"/>
          </a:xfrm>
          <a:prstGeom prst="rect">
            <a:avLst/>
          </a:prstGeom>
          <a:noFill/>
          <a:ln w="9525">
            <a:noFill/>
            <a:miter lim="800000"/>
            <a:headEnd/>
            <a:tailEnd/>
          </a:ln>
          <a:effectLst/>
        </p:spPr>
        <p:txBody>
          <a:bodyPr wrap="square" lIns="0" rtlCol="0">
            <a:spAutoFit/>
          </a:bodyPr>
          <a:lstStyle/>
          <a:p>
            <a:pPr algn="ctr">
              <a:spcBef>
                <a:spcPct val="50000"/>
              </a:spcBef>
            </a:pPr>
            <a:r>
              <a:rPr lang="en-US" sz="1100" i="1" dirty="0">
                <a:solidFill>
                  <a:srgbClr val="595959"/>
                </a:solidFill>
                <a:latin typeface="Arial"/>
                <a:cs typeface="Arial"/>
              </a:rPr>
              <a:t>Façade divide into five zones</a:t>
            </a:r>
            <a:endParaRPr lang="en-GB" sz="1100" i="1" dirty="0">
              <a:solidFill>
                <a:srgbClr val="595959"/>
              </a:solidFill>
              <a:latin typeface="Arial"/>
              <a:cs typeface="Arial"/>
            </a:endParaRPr>
          </a:p>
        </p:txBody>
      </p:sp>
      <p:sp>
        <p:nvSpPr>
          <p:cNvPr id="14" name="TextBox 13">
            <a:extLst>
              <a:ext uri="{FF2B5EF4-FFF2-40B4-BE49-F238E27FC236}">
                <a16:creationId xmlns:a16="http://schemas.microsoft.com/office/drawing/2014/main" id="{DF199BEE-C9D8-9D84-612B-A36DBF05C504}"/>
              </a:ext>
            </a:extLst>
          </p:cNvPr>
          <p:cNvSpPr txBox="1"/>
          <p:nvPr/>
        </p:nvSpPr>
        <p:spPr bwMode="auto">
          <a:xfrm>
            <a:off x="7096704" y="5038185"/>
            <a:ext cx="4608512" cy="261610"/>
          </a:xfrm>
          <a:prstGeom prst="rect">
            <a:avLst/>
          </a:prstGeom>
          <a:noFill/>
          <a:ln w="9525">
            <a:noFill/>
            <a:miter lim="800000"/>
            <a:headEnd/>
            <a:tailEnd/>
          </a:ln>
          <a:effectLst/>
        </p:spPr>
        <p:txBody>
          <a:bodyPr wrap="square" lIns="0" rtlCol="0">
            <a:spAutoFit/>
          </a:bodyPr>
          <a:lstStyle/>
          <a:p>
            <a:pPr algn="ctr">
              <a:spcBef>
                <a:spcPct val="50000"/>
              </a:spcBef>
            </a:pPr>
            <a:r>
              <a:rPr lang="en-US" sz="1100" i="1" dirty="0">
                <a:solidFill>
                  <a:srgbClr val="595959"/>
                </a:solidFill>
                <a:latin typeface="Arial"/>
                <a:cs typeface="Arial"/>
              </a:rPr>
              <a:t>Five façade zones shown in plan</a:t>
            </a:r>
            <a:endParaRPr lang="en-GB" sz="1100" i="1" dirty="0">
              <a:solidFill>
                <a:srgbClr val="595959"/>
              </a:solidFill>
              <a:latin typeface="Arial"/>
              <a:cs typeface="Arial"/>
            </a:endParaRPr>
          </a:p>
        </p:txBody>
      </p:sp>
    </p:spTree>
    <p:extLst>
      <p:ext uri="{BB962C8B-B14F-4D97-AF65-F5344CB8AC3E}">
        <p14:creationId xmlns:p14="http://schemas.microsoft.com/office/powerpoint/2010/main" val="23214775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32885262-2E15-223E-07FC-A72104EE5CEE}"/>
              </a:ext>
            </a:extLst>
          </p:cNvPr>
          <p:cNvSpPr/>
          <p:nvPr/>
        </p:nvSpPr>
        <p:spPr>
          <a:xfrm>
            <a:off x="6528048" y="2193299"/>
            <a:ext cx="4956134" cy="2747869"/>
          </a:xfrm>
          <a:prstGeom prst="roundRect">
            <a:avLst/>
          </a:prstGeom>
          <a:blipFill>
            <a:blip r:embed="rId2"/>
            <a:stretch>
              <a:fillRect/>
            </a:stretch>
          </a:blipFill>
          <a:ln>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pic>
        <p:nvPicPr>
          <p:cNvPr id="8" name="Picture 7">
            <a:extLst>
              <a:ext uri="{FF2B5EF4-FFF2-40B4-BE49-F238E27FC236}">
                <a16:creationId xmlns:a16="http://schemas.microsoft.com/office/drawing/2014/main" id="{01CA75AE-498D-3F39-7967-16CE553485B5}"/>
              </a:ext>
            </a:extLst>
          </p:cNvPr>
          <p:cNvPicPr>
            <a:picLocks noChangeAspect="1"/>
          </p:cNvPicPr>
          <p:nvPr/>
        </p:nvPicPr>
        <p:blipFill>
          <a:blip r:embed="rId3"/>
          <a:srcRect l="33006" r="13110"/>
          <a:stretch>
            <a:fillRect/>
          </a:stretch>
        </p:blipFill>
        <p:spPr>
          <a:xfrm>
            <a:off x="839416" y="1059615"/>
            <a:ext cx="4770000" cy="4572552"/>
          </a:xfrm>
          <a:prstGeom prst="rect">
            <a:avLst/>
          </a:prstGeom>
        </p:spPr>
      </p:pic>
      <p:sp>
        <p:nvSpPr>
          <p:cNvPr id="2" name="Text Placeholder 1">
            <a:extLst>
              <a:ext uri="{FF2B5EF4-FFF2-40B4-BE49-F238E27FC236}">
                <a16:creationId xmlns:a16="http://schemas.microsoft.com/office/drawing/2014/main" id="{0513C85F-9AFF-7F90-3B2E-B590774764AC}"/>
              </a:ext>
            </a:extLst>
          </p:cNvPr>
          <p:cNvSpPr>
            <a:spLocks noGrp="1"/>
          </p:cNvSpPr>
          <p:nvPr>
            <p:ph type="body" sz="quarter" idx="14"/>
          </p:nvPr>
        </p:nvSpPr>
        <p:spPr>
          <a:xfrm>
            <a:off x="6210300" y="812800"/>
            <a:ext cx="5651500" cy="400110"/>
          </a:xfrm>
        </p:spPr>
        <p:txBody>
          <a:bodyPr wrap="square">
            <a:noAutofit/>
          </a:bodyPr>
          <a:lstStyle/>
          <a:p>
            <a:pPr algn="r"/>
            <a:r>
              <a:rPr lang="en-US" sz="1000" i="1"/>
              <a:t>1 · Set-up: the pavilion is modelled with its surroundings; the neighbouring buildings shade much of the low east and west sun.</a:t>
            </a:r>
            <a:endParaRPr lang="en-GB" sz="1000" i="1"/>
          </a:p>
        </p:txBody>
      </p:sp>
      <p:sp>
        <p:nvSpPr>
          <p:cNvPr id="3" name="Text Placeholder 2">
            <a:extLst>
              <a:ext uri="{FF2B5EF4-FFF2-40B4-BE49-F238E27FC236}">
                <a16:creationId xmlns:a16="http://schemas.microsoft.com/office/drawing/2014/main" id="{F2A7C367-8796-6CD4-7A75-B94D692AC30C}"/>
              </a:ext>
            </a:extLst>
          </p:cNvPr>
          <p:cNvSpPr>
            <a:spLocks noGrp="1"/>
          </p:cNvSpPr>
          <p:nvPr>
            <p:ph type="body" sz="quarter" idx="10"/>
          </p:nvPr>
        </p:nvSpPr>
        <p:spPr>
          <a:xfrm>
            <a:off x="335360" y="260648"/>
            <a:ext cx="11521279" cy="553998"/>
          </a:xfrm>
        </p:spPr>
        <p:txBody>
          <a:bodyPr/>
          <a:lstStyle/>
          <a:p>
            <a:r>
              <a:rPr lang="en-US" dirty="0"/>
              <a:t>Analysis Geometry</a:t>
            </a:r>
            <a:endParaRPr lang="en-GB" dirty="0"/>
          </a:p>
        </p:txBody>
      </p:sp>
      <p:sp>
        <p:nvSpPr>
          <p:cNvPr id="4" name="Text Placeholder 3">
            <a:extLst>
              <a:ext uri="{FF2B5EF4-FFF2-40B4-BE49-F238E27FC236}">
                <a16:creationId xmlns:a16="http://schemas.microsoft.com/office/drawing/2014/main" id="{E45665F0-62E3-76E9-7937-82264951C3C5}"/>
              </a:ext>
            </a:extLst>
          </p:cNvPr>
          <p:cNvSpPr>
            <a:spLocks noGrp="1"/>
          </p:cNvSpPr>
          <p:nvPr>
            <p:ph type="body" sz="quarter" idx="15"/>
          </p:nvPr>
        </p:nvSpPr>
        <p:spPr>
          <a:xfrm>
            <a:off x="335360" y="897755"/>
            <a:ext cx="5645714" cy="307777"/>
          </a:xfrm>
        </p:spPr>
        <p:txBody>
          <a:bodyPr/>
          <a:lstStyle/>
          <a:p>
            <a:r>
              <a:rPr lang="en-US" dirty="0"/>
              <a:t>Lab located along with its context</a:t>
            </a:r>
            <a:endParaRPr lang="en-GB" dirty="0"/>
          </a:p>
        </p:txBody>
      </p:sp>
      <p:sp>
        <p:nvSpPr>
          <p:cNvPr id="10" name="TextBox 9">
            <a:extLst>
              <a:ext uri="{FF2B5EF4-FFF2-40B4-BE49-F238E27FC236}">
                <a16:creationId xmlns:a16="http://schemas.microsoft.com/office/drawing/2014/main" id="{E7CE1EBD-C2F7-B6CD-E08A-26783DEB86C1}"/>
              </a:ext>
            </a:extLst>
          </p:cNvPr>
          <p:cNvSpPr txBox="1"/>
          <p:nvPr/>
        </p:nvSpPr>
        <p:spPr bwMode="auto">
          <a:xfrm>
            <a:off x="976147" y="5960245"/>
            <a:ext cx="4608512" cy="261610"/>
          </a:xfrm>
          <a:prstGeom prst="rect">
            <a:avLst/>
          </a:prstGeom>
          <a:noFill/>
          <a:ln w="9525">
            <a:noFill/>
            <a:miter lim="800000"/>
            <a:headEnd/>
            <a:tailEnd/>
          </a:ln>
          <a:effectLst/>
        </p:spPr>
        <p:txBody>
          <a:bodyPr wrap="square" lIns="0" rtlCol="0">
            <a:spAutoFit/>
          </a:bodyPr>
          <a:lstStyle/>
          <a:p>
            <a:pPr algn="ctr">
              <a:spcBef>
                <a:spcPct val="50000"/>
              </a:spcBef>
            </a:pPr>
            <a:r>
              <a:rPr lang="en-US" sz="1100" i="1" dirty="0">
                <a:solidFill>
                  <a:srgbClr val="595959"/>
                </a:solidFill>
                <a:latin typeface="Arial"/>
                <a:cs typeface="Arial"/>
              </a:rPr>
              <a:t>Façade model with context</a:t>
            </a:r>
            <a:endParaRPr lang="en-GB" sz="1100" i="1" dirty="0">
              <a:solidFill>
                <a:srgbClr val="595959"/>
              </a:solidFill>
              <a:latin typeface="Arial"/>
              <a:cs typeface="Arial"/>
            </a:endParaRPr>
          </a:p>
        </p:txBody>
      </p:sp>
      <p:sp>
        <p:nvSpPr>
          <p:cNvPr id="9" name="TextBox 8">
            <a:extLst>
              <a:ext uri="{FF2B5EF4-FFF2-40B4-BE49-F238E27FC236}">
                <a16:creationId xmlns:a16="http://schemas.microsoft.com/office/drawing/2014/main" id="{06E2CCA6-B1A2-0A87-D42C-095A3C501B1A}"/>
              </a:ext>
            </a:extLst>
          </p:cNvPr>
          <p:cNvSpPr txBox="1"/>
          <p:nvPr/>
        </p:nvSpPr>
        <p:spPr bwMode="auto">
          <a:xfrm>
            <a:off x="6760400" y="5960245"/>
            <a:ext cx="4608512" cy="261610"/>
          </a:xfrm>
          <a:prstGeom prst="rect">
            <a:avLst/>
          </a:prstGeom>
          <a:noFill/>
          <a:ln w="9525">
            <a:noFill/>
            <a:miter lim="800000"/>
            <a:headEnd/>
            <a:tailEnd/>
          </a:ln>
          <a:effectLst/>
        </p:spPr>
        <p:txBody>
          <a:bodyPr wrap="square" lIns="0" rtlCol="0">
            <a:spAutoFit/>
          </a:bodyPr>
          <a:lstStyle/>
          <a:p>
            <a:pPr algn="ctr">
              <a:spcBef>
                <a:spcPct val="50000"/>
              </a:spcBef>
            </a:pPr>
            <a:r>
              <a:rPr lang="en-US" sz="1100" i="1" dirty="0">
                <a:solidFill>
                  <a:srgbClr val="595959"/>
                </a:solidFill>
                <a:latin typeface="Arial"/>
                <a:cs typeface="Arial"/>
              </a:rPr>
              <a:t>Zoom-in of faced from North-west aerial view</a:t>
            </a:r>
            <a:endParaRPr lang="en-GB" sz="1100" i="1" dirty="0">
              <a:solidFill>
                <a:srgbClr val="595959"/>
              </a:solidFill>
              <a:latin typeface="Arial"/>
              <a:cs typeface="Arial"/>
            </a:endParaRPr>
          </a:p>
        </p:txBody>
      </p:sp>
      <p:pic>
        <p:nvPicPr>
          <p:cNvPr id="21" name="Picture 20">
            <a:extLst>
              <a:ext uri="{FF2B5EF4-FFF2-40B4-BE49-F238E27FC236}">
                <a16:creationId xmlns:a16="http://schemas.microsoft.com/office/drawing/2014/main" id="{8B587375-8E42-4311-C448-C46BCEFC55E3}"/>
              </a:ext>
            </a:extLst>
          </p:cNvPr>
          <p:cNvPicPr>
            <a:picLocks noChangeAspect="1"/>
          </p:cNvPicPr>
          <p:nvPr/>
        </p:nvPicPr>
        <p:blipFill>
          <a:blip r:embed="rId4"/>
          <a:srcRect/>
          <a:stretch/>
        </p:blipFill>
        <p:spPr>
          <a:xfrm>
            <a:off x="237905" y="5266892"/>
            <a:ext cx="1847528" cy="954309"/>
          </a:xfrm>
          <a:prstGeom prst="rect">
            <a:avLst/>
          </a:prstGeom>
        </p:spPr>
      </p:pic>
      <p:sp>
        <p:nvSpPr>
          <p:cNvPr id="22" name="Rectangle: Rounded Corners 21">
            <a:extLst>
              <a:ext uri="{FF2B5EF4-FFF2-40B4-BE49-F238E27FC236}">
                <a16:creationId xmlns:a16="http://schemas.microsoft.com/office/drawing/2014/main" id="{D36768AF-710C-FF6C-C86F-872306022A3A}"/>
              </a:ext>
            </a:extLst>
          </p:cNvPr>
          <p:cNvSpPr/>
          <p:nvPr/>
        </p:nvSpPr>
        <p:spPr>
          <a:xfrm>
            <a:off x="1932633" y="4247138"/>
            <a:ext cx="378752" cy="252122"/>
          </a:xfrm>
          <a:prstGeom prst="roundRect">
            <a:avLst/>
          </a:prstGeom>
          <a:solidFill>
            <a:srgbClr val="EA560D">
              <a:alpha val="41000"/>
            </a:srgbClr>
          </a:solidFill>
          <a:ln w="19050">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pic>
        <p:nvPicPr>
          <p:cNvPr id="26" name="Picture 25">
            <a:extLst>
              <a:ext uri="{FF2B5EF4-FFF2-40B4-BE49-F238E27FC236}">
                <a16:creationId xmlns:a16="http://schemas.microsoft.com/office/drawing/2014/main" id="{106BF35D-226B-50BC-9D0A-0A6279D4DDF2}"/>
              </a:ext>
            </a:extLst>
          </p:cNvPr>
          <p:cNvPicPr>
            <a:picLocks noChangeAspect="1"/>
          </p:cNvPicPr>
          <p:nvPr/>
        </p:nvPicPr>
        <p:blipFill>
          <a:blip r:embed="rId5"/>
          <a:srcRect/>
          <a:stretch/>
        </p:blipFill>
        <p:spPr>
          <a:xfrm>
            <a:off x="6204744" y="5029344"/>
            <a:ext cx="1847528" cy="954309"/>
          </a:xfrm>
          <a:prstGeom prst="rect">
            <a:avLst/>
          </a:prstGeom>
        </p:spPr>
      </p:pic>
    </p:spTree>
    <p:extLst>
      <p:ext uri="{BB962C8B-B14F-4D97-AF65-F5344CB8AC3E}">
        <p14:creationId xmlns:p14="http://schemas.microsoft.com/office/powerpoint/2010/main" val="35034705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878FB-8CF4-598A-8F1A-D4603DD60954}"/>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7A60AD46-468A-5256-77B7-F7F90A04423F}"/>
              </a:ext>
            </a:extLst>
          </p:cNvPr>
          <p:cNvSpPr>
            <a:spLocks noGrp="1"/>
          </p:cNvSpPr>
          <p:nvPr>
            <p:ph type="body" sz="quarter" idx="10"/>
          </p:nvPr>
        </p:nvSpPr>
        <p:spPr/>
        <p:txBody>
          <a:bodyPr/>
          <a:lstStyle/>
          <a:p>
            <a:r>
              <a:rPr lang="en-US" sz="3600" dirty="0"/>
              <a:t>Solar control using canopy</a:t>
            </a:r>
            <a:endParaRPr lang="en-GB" sz="3600" dirty="0"/>
          </a:p>
        </p:txBody>
      </p:sp>
    </p:spTree>
    <p:extLst>
      <p:ext uri="{BB962C8B-B14F-4D97-AF65-F5344CB8AC3E}">
        <p14:creationId xmlns:p14="http://schemas.microsoft.com/office/powerpoint/2010/main" val="4193813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4C5DBD-0D73-360B-B3B9-F2FD7FB361D8}"/>
              </a:ext>
            </a:extLst>
          </p:cNvPr>
          <p:cNvSpPr>
            <a:spLocks noGrp="1"/>
          </p:cNvSpPr>
          <p:nvPr>
            <p:ph type="body" sz="quarter" idx="14"/>
          </p:nvPr>
        </p:nvSpPr>
        <p:spPr>
          <a:xfrm>
            <a:off x="5715001" y="889000"/>
            <a:ext cx="4245367" cy="609600"/>
          </a:xfrm>
        </p:spPr>
        <p:txBody>
          <a:bodyPr wrap="square">
            <a:noAutofit/>
          </a:bodyPr>
          <a:lstStyle/>
          <a:p>
            <a:pPr algn="r"/>
            <a:r>
              <a:rPr lang="en-US" sz="1000" i="1"/>
              <a:t>2 · How much sun reaches the glass: deepening the canopy from 0 to 1.5 m cuts annual façade radiation by a third (290.9 to 192.2 kWh/m²·yr) and the façade peak from 53.1 to 33.2 kW.</a:t>
            </a:r>
            <a:endParaRPr lang="en-GB" sz="1000" i="1" dirty="0"/>
          </a:p>
        </p:txBody>
      </p:sp>
      <p:sp>
        <p:nvSpPr>
          <p:cNvPr id="3" name="Text Placeholder 2">
            <a:extLst>
              <a:ext uri="{FF2B5EF4-FFF2-40B4-BE49-F238E27FC236}">
                <a16:creationId xmlns:a16="http://schemas.microsoft.com/office/drawing/2014/main" id="{B48D43AF-31E5-6F76-A329-B81E909C472B}"/>
              </a:ext>
            </a:extLst>
          </p:cNvPr>
          <p:cNvSpPr>
            <a:spLocks noGrp="1"/>
          </p:cNvSpPr>
          <p:nvPr>
            <p:ph type="body" sz="quarter" idx="10"/>
          </p:nvPr>
        </p:nvSpPr>
        <p:spPr>
          <a:xfrm>
            <a:off x="335360" y="260648"/>
            <a:ext cx="11521279" cy="553998"/>
          </a:xfrm>
        </p:spPr>
        <p:txBody>
          <a:bodyPr/>
          <a:lstStyle/>
          <a:p>
            <a:r>
              <a:rPr lang="en-US" dirty="0"/>
              <a:t>Incident Solar Radiation</a:t>
            </a:r>
            <a:endParaRPr lang="en-GB" dirty="0"/>
          </a:p>
        </p:txBody>
      </p:sp>
      <p:sp>
        <p:nvSpPr>
          <p:cNvPr id="4" name="Text Placeholder 3">
            <a:extLst>
              <a:ext uri="{FF2B5EF4-FFF2-40B4-BE49-F238E27FC236}">
                <a16:creationId xmlns:a16="http://schemas.microsoft.com/office/drawing/2014/main" id="{4DBBBED5-D49F-1FB2-DD07-96EB5D060B29}"/>
              </a:ext>
            </a:extLst>
          </p:cNvPr>
          <p:cNvSpPr>
            <a:spLocks noGrp="1"/>
          </p:cNvSpPr>
          <p:nvPr>
            <p:ph type="body" sz="quarter" idx="15"/>
          </p:nvPr>
        </p:nvSpPr>
        <p:spPr>
          <a:xfrm>
            <a:off x="335360" y="897755"/>
            <a:ext cx="5645714" cy="307777"/>
          </a:xfrm>
        </p:spPr>
        <p:txBody>
          <a:bodyPr/>
          <a:lstStyle/>
          <a:p>
            <a:r>
              <a:rPr lang="en-US"/>
              <a:t>Effect of canopy depth on incident façade radiation (typical year)</a:t>
            </a:r>
            <a:endParaRPr lang="en-GB" dirty="0"/>
          </a:p>
        </p:txBody>
      </p:sp>
      <p:pic>
        <p:nvPicPr>
          <p:cNvPr id="15" name="Picture 14">
            <a:extLst>
              <a:ext uri="{FF2B5EF4-FFF2-40B4-BE49-F238E27FC236}">
                <a16:creationId xmlns:a16="http://schemas.microsoft.com/office/drawing/2014/main" id="{2D748899-724F-9FEB-02D7-72695A87F3DE}"/>
              </a:ext>
            </a:extLst>
          </p:cNvPr>
          <p:cNvPicPr>
            <a:picLocks noChangeAspect="1"/>
          </p:cNvPicPr>
          <p:nvPr/>
        </p:nvPicPr>
        <p:blipFill>
          <a:blip r:embed="rId2"/>
          <a:srcRect/>
          <a:stretch/>
        </p:blipFill>
        <p:spPr>
          <a:xfrm>
            <a:off x="11213800" y="25400"/>
            <a:ext cx="952800" cy="1371600"/>
          </a:xfrm>
          <a:prstGeom prst="rect">
            <a:avLst/>
          </a:prstGeom>
        </p:spPr>
      </p:pic>
      <p:pic>
        <p:nvPicPr>
          <p:cNvPr id="19" name="Picture 18">
            <a:extLst>
              <a:ext uri="{FF2B5EF4-FFF2-40B4-BE49-F238E27FC236}">
                <a16:creationId xmlns:a16="http://schemas.microsoft.com/office/drawing/2014/main" id="{82FAA7A7-6D11-69FD-6986-6ED44D896D16}"/>
              </a:ext>
            </a:extLst>
          </p:cNvPr>
          <p:cNvPicPr>
            <a:picLocks noChangeAspect="1"/>
          </p:cNvPicPr>
          <p:nvPr/>
        </p:nvPicPr>
        <p:blipFill>
          <a:blip r:embed="rId3"/>
          <a:stretch>
            <a:fillRect/>
          </a:stretch>
        </p:blipFill>
        <p:spPr>
          <a:xfrm>
            <a:off x="10061967" y="76200"/>
            <a:ext cx="1075633" cy="733257"/>
          </a:xfrm>
          <a:prstGeom prst="rect">
            <a:avLst/>
          </a:prstGeom>
        </p:spPr>
      </p:pic>
      <p:sp>
        <p:nvSpPr>
          <p:cNvPr id="33" name="TextBox 32">
            <a:extLst>
              <a:ext uri="{FF2B5EF4-FFF2-40B4-BE49-F238E27FC236}">
                <a16:creationId xmlns:a16="http://schemas.microsoft.com/office/drawing/2014/main" id="{FFCA04E4-0602-1EE7-A216-D40685DF358E}"/>
              </a:ext>
            </a:extLst>
          </p:cNvPr>
          <p:cNvSpPr txBox="1"/>
          <p:nvPr/>
        </p:nvSpPr>
        <p:spPr bwMode="auto">
          <a:xfrm>
            <a:off x="1487488" y="6464339"/>
            <a:ext cx="10537584" cy="400110"/>
          </a:xfrm>
          <a:prstGeom prst="rect">
            <a:avLst/>
          </a:prstGeom>
          <a:noFill/>
          <a:ln w="9525">
            <a:noFill/>
            <a:miter lim="800000"/>
            <a:headEnd/>
            <a:tailEnd/>
          </a:ln>
          <a:effectLst/>
        </p:spPr>
        <p:txBody>
          <a:bodyPr wrap="square" lIns="0" rtlCol="0">
            <a:spAutoFit/>
          </a:bodyPr>
          <a:lstStyle>
            <a:defPPr>
              <a:defRPr lang="en-US"/>
            </a:defPPr>
            <a:lvl1pPr>
              <a:spcBef>
                <a:spcPct val="50000"/>
              </a:spcBef>
              <a:defRPr sz="1000" i="1">
                <a:solidFill>
                  <a:srgbClr val="595959"/>
                </a:solidFill>
                <a:latin typeface="Arial"/>
                <a:cs typeface="Arial"/>
              </a:defRPr>
            </a:lvl1pPr>
          </a:lstStyle>
          <a:p>
            <a:r>
              <a:rPr lang="en-US" dirty="0"/>
              <a:t>* Peak incident solar irradiance on the façade glazing (area-weighted mean at the façade's peak hour) [W/m²]. Typical year (</a:t>
            </a:r>
            <a:r>
              <a:rPr lang="en-US" dirty="0" err="1"/>
              <a:t>TMYx</a:t>
            </a:r>
            <a:r>
              <a:rPr lang="en-US" dirty="0"/>
              <a:t>), side canopies 1.0 m on all options. The skylight (~745 kWh/m²·yr) is above the legend range.</a:t>
            </a:r>
            <a:endParaRPr lang="en-GB" dirty="0"/>
          </a:p>
        </p:txBody>
      </p:sp>
      <p:pic>
        <p:nvPicPr>
          <p:cNvPr id="11" name="Picture 10">
            <a:extLst>
              <a:ext uri="{FF2B5EF4-FFF2-40B4-BE49-F238E27FC236}">
                <a16:creationId xmlns:a16="http://schemas.microsoft.com/office/drawing/2014/main" id="{AC8B7CB9-2216-FE87-09FB-3DF273195C2A}"/>
              </a:ext>
            </a:extLst>
          </p:cNvPr>
          <p:cNvPicPr>
            <a:picLocks/>
          </p:cNvPicPr>
          <p:nvPr/>
        </p:nvPicPr>
        <p:blipFill>
          <a:blip r:embed="rId4"/>
          <a:stretch>
            <a:fillRect/>
          </a:stretch>
        </p:blipFill>
        <p:spPr>
          <a:xfrm>
            <a:off x="63500" y="1905000"/>
            <a:ext cx="1955800" cy="1350433"/>
          </a:xfrm>
          <a:prstGeom prst="rect">
            <a:avLst/>
          </a:prstGeom>
        </p:spPr>
      </p:pic>
      <p:sp>
        <p:nvSpPr>
          <p:cNvPr id="13" name="TextBox 12">
            <a:extLst>
              <a:ext uri="{FF2B5EF4-FFF2-40B4-BE49-F238E27FC236}">
                <a16:creationId xmlns:a16="http://schemas.microsoft.com/office/drawing/2014/main" id="{6178F7E3-9247-6024-B7B5-94A0C21F2447}"/>
              </a:ext>
            </a:extLst>
          </p:cNvPr>
          <p:cNvSpPr txBox="1"/>
          <p:nvPr/>
        </p:nvSpPr>
        <p:spPr bwMode="auto">
          <a:xfrm>
            <a:off x="139699" y="3403600"/>
            <a:ext cx="1854200" cy="2239074"/>
          </a:xfrm>
          <a:prstGeom prst="rect">
            <a:avLst/>
          </a:prstGeom>
        </p:spPr>
        <p:txBody>
          <a:bodyPr wrap="square" lIns="0" rtlCol="0">
            <a:spAutoFit/>
          </a:bodyPr>
          <a:lstStyle/>
          <a:p>
            <a:pPr algn="ctr">
              <a:spcBef>
                <a:spcPct val="50000"/>
              </a:spcBef>
            </a:pPr>
            <a:r>
              <a:rPr lang="en-US" sz="900" i="1" dirty="0">
                <a:solidFill>
                  <a:srgbClr val="595959"/>
                </a:solidFill>
                <a:latin typeface="Arial"/>
                <a:cs typeface="Arial"/>
              </a:rPr>
              <a:t>Overhang depth </a:t>
            </a:r>
          </a:p>
          <a:p>
            <a:pPr algn="ctr">
              <a:spcBef>
                <a:spcPct val="50000"/>
              </a:spcBef>
            </a:pPr>
            <a:r>
              <a:rPr lang="en-US" sz="900" i="1">
                <a:solidFill>
                  <a:srgbClr val="EA560D"/>
                </a:solidFill>
                <a:latin typeface="Arial"/>
                <a:cs typeface="Arial"/>
              </a:rPr>
              <a:t>0mm</a:t>
            </a:r>
            <a:endParaRPr lang="en-US" sz="900" i="1" dirty="0">
              <a:solidFill>
                <a:srgbClr val="EA560D"/>
              </a:solidFill>
              <a:latin typeface="Arial"/>
              <a:cs typeface="Arial"/>
            </a:endParaRPr>
          </a:p>
          <a:p>
            <a:pPr algn="ctr">
              <a:spcBef>
                <a:spcPct val="50000"/>
              </a:spcBef>
            </a:pPr>
            <a:r>
              <a:rPr lang="en-GB" sz="900" i="1">
                <a:solidFill>
                  <a:srgbClr val="595959"/>
                </a:solidFill>
                <a:latin typeface="Arial"/>
                <a:cs typeface="Arial"/>
              </a:rPr>
              <a:t>Annual incident solar irradiation (façade mean)</a:t>
            </a:r>
            <a:endParaRPr lang="en-GB" sz="900" i="1" dirty="0">
              <a:solidFill>
                <a:srgbClr val="595959"/>
              </a:solidFill>
              <a:latin typeface="Arial"/>
              <a:cs typeface="Arial"/>
            </a:endParaRPr>
          </a:p>
          <a:p>
            <a:pPr algn="ctr">
              <a:spcBef>
                <a:spcPct val="50000"/>
              </a:spcBef>
            </a:pPr>
            <a:r>
              <a:rPr lang="en-GB" sz="900" i="1">
                <a:solidFill>
                  <a:srgbClr val="EA560D"/>
                </a:solidFill>
                <a:latin typeface="Arial"/>
                <a:cs typeface="Arial"/>
              </a:rPr>
              <a:t>290.9 kWh/m²·yr</a:t>
            </a:r>
            <a:endParaRPr lang="en-GB" sz="900" i="1" dirty="0">
              <a:solidFill>
                <a:srgbClr val="EA560D"/>
              </a:solidFill>
              <a:latin typeface="Arial"/>
              <a:cs typeface="Arial"/>
            </a:endParaRPr>
          </a:p>
          <a:p>
            <a:pPr algn="ctr">
              <a:spcBef>
                <a:spcPct val="50000"/>
              </a:spcBef>
            </a:pPr>
            <a:r>
              <a:rPr lang="en-GB" sz="900" i="1">
                <a:solidFill>
                  <a:srgbClr val="595959"/>
                </a:solidFill>
                <a:latin typeface="Arial"/>
                <a:cs typeface="Arial"/>
              </a:rPr>
              <a:t>Peak incident solar irradiance *</a:t>
            </a:r>
            <a:endParaRPr lang="en-GB" sz="900" i="1" dirty="0">
              <a:solidFill>
                <a:srgbClr val="595959"/>
              </a:solidFill>
              <a:latin typeface="Arial"/>
              <a:cs typeface="Arial"/>
            </a:endParaRPr>
          </a:p>
          <a:p>
            <a:pPr algn="ctr">
              <a:spcBef>
                <a:spcPct val="50000"/>
              </a:spcBef>
            </a:pPr>
            <a:r>
              <a:rPr lang="en-GB" sz="900" i="1">
                <a:solidFill>
                  <a:srgbClr val="EA560D"/>
                </a:solidFill>
                <a:latin typeface="Arial"/>
                <a:cs typeface="Arial"/>
              </a:rPr>
              <a:t>256 W/m²</a:t>
            </a:r>
            <a:endParaRPr lang="en-GB" sz="900" i="1" dirty="0">
              <a:solidFill>
                <a:srgbClr val="EA560D"/>
              </a:solidFill>
              <a:latin typeface="Arial"/>
              <a:cs typeface="Arial"/>
            </a:endParaRPr>
          </a:p>
          <a:p>
            <a:pPr algn="ctr">
              <a:spcBef>
                <a:spcPct val="50000"/>
              </a:spcBef>
            </a:pPr>
            <a:r>
              <a:rPr lang="en-GB" sz="900" i="1">
                <a:solidFill>
                  <a:srgbClr val="595959"/>
                </a:solidFill>
                <a:latin typeface="Arial"/>
                <a:cs typeface="Arial"/>
              </a:rPr>
              <a:t>Peak incident power (façade)</a:t>
            </a:r>
            <a:endParaRPr lang="en-GB" sz="900" i="1" dirty="0">
              <a:solidFill>
                <a:srgbClr val="595959"/>
              </a:solidFill>
              <a:latin typeface="Arial"/>
              <a:cs typeface="Arial"/>
            </a:endParaRPr>
          </a:p>
          <a:p>
            <a:pPr algn="ctr">
              <a:spcBef>
                <a:spcPct val="50000"/>
              </a:spcBef>
            </a:pPr>
            <a:r>
              <a:rPr lang="en-US" sz="900" i="1">
                <a:solidFill>
                  <a:srgbClr val="EA560D"/>
                </a:solidFill>
                <a:latin typeface="Arial"/>
                <a:cs typeface="Arial"/>
              </a:rPr>
              <a:t>53.1 kW</a:t>
            </a:r>
            <a:endParaRPr lang="en-US" sz="900" i="1" dirty="0">
              <a:solidFill>
                <a:srgbClr val="EA560D"/>
              </a:solidFill>
              <a:latin typeface="Arial"/>
              <a:cs typeface="Arial"/>
            </a:endParaRPr>
          </a:p>
          <a:p>
            <a:pPr algn="ctr">
              <a:spcBef>
                <a:spcPct val="50000"/>
              </a:spcBef>
            </a:pPr>
            <a:r>
              <a:rPr lang="en-US" sz="900" i="1">
                <a:solidFill>
                  <a:srgbClr val="56626F"/>
                </a:solidFill>
                <a:latin typeface="Arial"/>
                <a:cs typeface="Arial"/>
              </a:rPr>
              <a:t>@ 12-Jun 09:00</a:t>
            </a:r>
            <a:endParaRPr lang="en-US" sz="900" i="1" dirty="0">
              <a:solidFill>
                <a:srgbClr val="56626F"/>
              </a:solidFill>
              <a:latin typeface="Arial"/>
              <a:cs typeface="Arial"/>
            </a:endParaRPr>
          </a:p>
          <a:p>
            <a:pPr algn="ctr">
              <a:spcBef>
                <a:spcPct val="50000"/>
              </a:spcBef>
            </a:pPr>
            <a:endParaRPr lang="en-GB" sz="900" i="1" dirty="0">
              <a:solidFill>
                <a:srgbClr val="595959"/>
              </a:solidFill>
              <a:latin typeface="Arial"/>
              <a:cs typeface="Arial"/>
            </a:endParaRPr>
          </a:p>
        </p:txBody>
      </p:sp>
      <p:pic>
        <p:nvPicPr>
          <p:cNvPr id="18" name="Picture 17">
            <a:extLst>
              <a:ext uri="{FF2B5EF4-FFF2-40B4-BE49-F238E27FC236}">
                <a16:creationId xmlns:a16="http://schemas.microsoft.com/office/drawing/2014/main" id="{E724BC21-E45A-79B3-B557-A468EDFD4892}"/>
              </a:ext>
            </a:extLst>
          </p:cNvPr>
          <p:cNvPicPr>
            <a:picLocks/>
          </p:cNvPicPr>
          <p:nvPr/>
        </p:nvPicPr>
        <p:blipFill>
          <a:blip r:embed="rId5"/>
          <a:stretch>
            <a:fillRect/>
          </a:stretch>
        </p:blipFill>
        <p:spPr>
          <a:xfrm>
            <a:off x="2070100" y="1905000"/>
            <a:ext cx="1955800" cy="1350433"/>
          </a:xfrm>
          <a:prstGeom prst="rect">
            <a:avLst/>
          </a:prstGeom>
        </p:spPr>
      </p:pic>
      <p:sp>
        <p:nvSpPr>
          <p:cNvPr id="20" name="TextBox 19">
            <a:extLst>
              <a:ext uri="{FF2B5EF4-FFF2-40B4-BE49-F238E27FC236}">
                <a16:creationId xmlns:a16="http://schemas.microsoft.com/office/drawing/2014/main" id="{FB766E8B-68EE-432B-BC9D-4C4CC03C10A7}"/>
              </a:ext>
            </a:extLst>
          </p:cNvPr>
          <p:cNvSpPr txBox="1"/>
          <p:nvPr/>
        </p:nvSpPr>
        <p:spPr bwMode="auto">
          <a:xfrm>
            <a:off x="2146299" y="3403600"/>
            <a:ext cx="1854200" cy="2239074"/>
          </a:xfrm>
          <a:prstGeom prst="rect">
            <a:avLst/>
          </a:prstGeom>
        </p:spPr>
        <p:txBody>
          <a:bodyPr wrap="square" lIns="0" rtlCol="0">
            <a:spAutoFit/>
          </a:bodyPr>
          <a:lstStyle/>
          <a:p>
            <a:pPr algn="ctr">
              <a:spcBef>
                <a:spcPct val="50000"/>
              </a:spcBef>
            </a:pPr>
            <a:r>
              <a:rPr lang="en-US" sz="900" i="1" dirty="0">
                <a:solidFill>
                  <a:srgbClr val="595959"/>
                </a:solidFill>
                <a:latin typeface="Arial"/>
                <a:cs typeface="Arial"/>
              </a:rPr>
              <a:t>Overhang depth </a:t>
            </a:r>
          </a:p>
          <a:p>
            <a:pPr algn="ctr">
              <a:spcBef>
                <a:spcPct val="50000"/>
              </a:spcBef>
            </a:pPr>
            <a:r>
              <a:rPr lang="en-US" sz="900" i="1">
                <a:solidFill>
                  <a:srgbClr val="EA560D"/>
                </a:solidFill>
                <a:latin typeface="Arial"/>
                <a:cs typeface="Arial"/>
              </a:rPr>
              <a:t>500mm</a:t>
            </a:r>
            <a:endParaRPr lang="en-US" sz="900" i="1" dirty="0">
              <a:solidFill>
                <a:srgbClr val="EA560D"/>
              </a:solidFill>
              <a:latin typeface="Arial"/>
              <a:cs typeface="Arial"/>
            </a:endParaRPr>
          </a:p>
          <a:p>
            <a:pPr algn="ctr">
              <a:spcBef>
                <a:spcPct val="50000"/>
              </a:spcBef>
            </a:pPr>
            <a:r>
              <a:rPr lang="en-GB" sz="900" i="1">
                <a:solidFill>
                  <a:srgbClr val="595959"/>
                </a:solidFill>
                <a:latin typeface="Arial"/>
                <a:cs typeface="Arial"/>
              </a:rPr>
              <a:t>Annual incident solar irradiation (façade mean)</a:t>
            </a:r>
            <a:endParaRPr lang="en-GB" sz="900" i="1" dirty="0">
              <a:solidFill>
                <a:srgbClr val="595959"/>
              </a:solidFill>
              <a:latin typeface="Arial"/>
              <a:cs typeface="Arial"/>
            </a:endParaRPr>
          </a:p>
          <a:p>
            <a:pPr algn="ctr">
              <a:spcBef>
                <a:spcPct val="50000"/>
              </a:spcBef>
            </a:pPr>
            <a:r>
              <a:rPr lang="en-GB" sz="900" i="1">
                <a:solidFill>
                  <a:srgbClr val="EA560D"/>
                </a:solidFill>
                <a:latin typeface="Arial"/>
                <a:cs typeface="Arial"/>
              </a:rPr>
              <a:t>247.1 kWh/m²·yr</a:t>
            </a:r>
            <a:endParaRPr lang="en-GB" sz="900" i="1" dirty="0">
              <a:solidFill>
                <a:srgbClr val="EA560D"/>
              </a:solidFill>
              <a:latin typeface="Arial"/>
              <a:cs typeface="Arial"/>
            </a:endParaRPr>
          </a:p>
          <a:p>
            <a:pPr algn="ctr">
              <a:spcBef>
                <a:spcPct val="50000"/>
              </a:spcBef>
            </a:pPr>
            <a:r>
              <a:rPr lang="en-GB" sz="900" i="1">
                <a:solidFill>
                  <a:srgbClr val="595959"/>
                </a:solidFill>
                <a:latin typeface="Arial"/>
                <a:cs typeface="Arial"/>
              </a:rPr>
              <a:t>Peak incident solar irradiance *</a:t>
            </a:r>
            <a:endParaRPr lang="en-GB" sz="900" i="1" dirty="0">
              <a:solidFill>
                <a:srgbClr val="595959"/>
              </a:solidFill>
              <a:latin typeface="Arial"/>
              <a:cs typeface="Arial"/>
            </a:endParaRPr>
          </a:p>
          <a:p>
            <a:pPr algn="ctr">
              <a:spcBef>
                <a:spcPct val="50000"/>
              </a:spcBef>
            </a:pPr>
            <a:r>
              <a:rPr lang="en-GB" sz="900" i="1">
                <a:solidFill>
                  <a:srgbClr val="EA560D"/>
                </a:solidFill>
                <a:latin typeface="Arial"/>
                <a:cs typeface="Arial"/>
              </a:rPr>
              <a:t>212 W/m²</a:t>
            </a:r>
            <a:endParaRPr lang="en-GB" sz="900" i="1" dirty="0">
              <a:solidFill>
                <a:srgbClr val="EA560D"/>
              </a:solidFill>
              <a:latin typeface="Arial"/>
              <a:cs typeface="Arial"/>
            </a:endParaRPr>
          </a:p>
          <a:p>
            <a:pPr algn="ctr">
              <a:spcBef>
                <a:spcPct val="50000"/>
              </a:spcBef>
            </a:pPr>
            <a:r>
              <a:rPr lang="en-GB" sz="900" i="1">
                <a:solidFill>
                  <a:srgbClr val="595959"/>
                </a:solidFill>
                <a:latin typeface="Arial"/>
                <a:cs typeface="Arial"/>
              </a:rPr>
              <a:t>Peak incident power (façade)</a:t>
            </a:r>
            <a:endParaRPr lang="en-GB" sz="900" i="1" dirty="0">
              <a:solidFill>
                <a:srgbClr val="595959"/>
              </a:solidFill>
              <a:latin typeface="Arial"/>
              <a:cs typeface="Arial"/>
            </a:endParaRPr>
          </a:p>
          <a:p>
            <a:pPr algn="ctr">
              <a:spcBef>
                <a:spcPct val="50000"/>
              </a:spcBef>
            </a:pPr>
            <a:r>
              <a:rPr lang="en-US" sz="900" i="1">
                <a:solidFill>
                  <a:srgbClr val="EA560D"/>
                </a:solidFill>
                <a:latin typeface="Arial"/>
                <a:cs typeface="Arial"/>
              </a:rPr>
              <a:t>44.0 kW</a:t>
            </a:r>
            <a:endParaRPr lang="en-US" sz="900" i="1" dirty="0">
              <a:solidFill>
                <a:srgbClr val="EA560D"/>
              </a:solidFill>
              <a:latin typeface="Arial"/>
              <a:cs typeface="Arial"/>
            </a:endParaRPr>
          </a:p>
          <a:p>
            <a:pPr algn="ctr">
              <a:spcBef>
                <a:spcPct val="50000"/>
              </a:spcBef>
            </a:pPr>
            <a:r>
              <a:rPr lang="en-US" sz="900" i="1">
                <a:solidFill>
                  <a:srgbClr val="56626F"/>
                </a:solidFill>
                <a:latin typeface="Arial"/>
                <a:cs typeface="Arial"/>
              </a:rPr>
              <a:t>@ 28-May 08:00</a:t>
            </a:r>
            <a:endParaRPr lang="en-US" sz="900" i="1" dirty="0">
              <a:solidFill>
                <a:srgbClr val="56626F"/>
              </a:solidFill>
              <a:latin typeface="Arial"/>
              <a:cs typeface="Arial"/>
            </a:endParaRPr>
          </a:p>
          <a:p>
            <a:pPr algn="ctr">
              <a:spcBef>
                <a:spcPct val="50000"/>
              </a:spcBef>
            </a:pPr>
            <a:endParaRPr lang="en-GB" sz="900" i="1" dirty="0">
              <a:solidFill>
                <a:srgbClr val="595959"/>
              </a:solidFill>
              <a:latin typeface="Arial"/>
              <a:cs typeface="Arial"/>
            </a:endParaRPr>
          </a:p>
        </p:txBody>
      </p:sp>
      <p:pic>
        <p:nvPicPr>
          <p:cNvPr id="28" name="Picture 27">
            <a:extLst>
              <a:ext uri="{FF2B5EF4-FFF2-40B4-BE49-F238E27FC236}">
                <a16:creationId xmlns:a16="http://schemas.microsoft.com/office/drawing/2014/main" id="{E5F2C339-AD07-6077-80A7-1FE495F4DCD3}"/>
              </a:ext>
            </a:extLst>
          </p:cNvPr>
          <p:cNvPicPr>
            <a:picLocks/>
          </p:cNvPicPr>
          <p:nvPr/>
        </p:nvPicPr>
        <p:blipFill>
          <a:blip r:embed="rId6"/>
          <a:stretch>
            <a:fillRect/>
          </a:stretch>
        </p:blipFill>
        <p:spPr>
          <a:xfrm>
            <a:off x="4076700" y="1905000"/>
            <a:ext cx="1955800" cy="1350433"/>
          </a:xfrm>
          <a:prstGeom prst="rect">
            <a:avLst/>
          </a:prstGeom>
        </p:spPr>
      </p:pic>
      <p:sp>
        <p:nvSpPr>
          <p:cNvPr id="30" name="TextBox 29">
            <a:extLst>
              <a:ext uri="{FF2B5EF4-FFF2-40B4-BE49-F238E27FC236}">
                <a16:creationId xmlns:a16="http://schemas.microsoft.com/office/drawing/2014/main" id="{1CCC49E6-B076-125B-EB5E-38530EC5954D}"/>
              </a:ext>
            </a:extLst>
          </p:cNvPr>
          <p:cNvSpPr txBox="1"/>
          <p:nvPr/>
        </p:nvSpPr>
        <p:spPr bwMode="auto">
          <a:xfrm>
            <a:off x="4152899" y="3403600"/>
            <a:ext cx="1854200" cy="2239074"/>
          </a:xfrm>
          <a:prstGeom prst="rect">
            <a:avLst/>
          </a:prstGeom>
        </p:spPr>
        <p:txBody>
          <a:bodyPr wrap="square" lIns="0" rtlCol="0">
            <a:spAutoFit/>
          </a:bodyPr>
          <a:lstStyle/>
          <a:p>
            <a:pPr algn="ctr">
              <a:spcBef>
                <a:spcPct val="50000"/>
              </a:spcBef>
            </a:pPr>
            <a:r>
              <a:rPr lang="en-US" sz="900" i="1" dirty="0">
                <a:solidFill>
                  <a:srgbClr val="595959"/>
                </a:solidFill>
                <a:latin typeface="Arial"/>
                <a:cs typeface="Arial"/>
              </a:rPr>
              <a:t>Overhang depth </a:t>
            </a:r>
          </a:p>
          <a:p>
            <a:pPr algn="ctr">
              <a:spcBef>
                <a:spcPct val="50000"/>
              </a:spcBef>
            </a:pPr>
            <a:r>
              <a:rPr lang="en-US" sz="900" i="1">
                <a:solidFill>
                  <a:srgbClr val="EA560D"/>
                </a:solidFill>
                <a:latin typeface="Arial"/>
                <a:cs typeface="Arial"/>
              </a:rPr>
              <a:t>750mm</a:t>
            </a:r>
            <a:endParaRPr lang="en-US" sz="900" i="1" dirty="0">
              <a:solidFill>
                <a:srgbClr val="EA560D"/>
              </a:solidFill>
              <a:latin typeface="Arial"/>
              <a:cs typeface="Arial"/>
            </a:endParaRPr>
          </a:p>
          <a:p>
            <a:pPr algn="ctr">
              <a:spcBef>
                <a:spcPct val="50000"/>
              </a:spcBef>
            </a:pPr>
            <a:r>
              <a:rPr lang="en-GB" sz="900" i="1">
                <a:solidFill>
                  <a:srgbClr val="595959"/>
                </a:solidFill>
                <a:latin typeface="Arial"/>
                <a:cs typeface="Arial"/>
              </a:rPr>
              <a:t>Annual incident solar irradiation (façade mean)</a:t>
            </a:r>
            <a:endParaRPr lang="en-GB" sz="900" i="1" dirty="0">
              <a:solidFill>
                <a:srgbClr val="595959"/>
              </a:solidFill>
              <a:latin typeface="Arial"/>
              <a:cs typeface="Arial"/>
            </a:endParaRPr>
          </a:p>
          <a:p>
            <a:pPr algn="ctr">
              <a:spcBef>
                <a:spcPct val="50000"/>
              </a:spcBef>
            </a:pPr>
            <a:r>
              <a:rPr lang="en-GB" sz="900" i="1">
                <a:solidFill>
                  <a:srgbClr val="EA560D"/>
                </a:solidFill>
                <a:latin typeface="Arial"/>
                <a:cs typeface="Arial"/>
              </a:rPr>
              <a:t>231.5 kWh/m²·yr</a:t>
            </a:r>
            <a:endParaRPr lang="en-GB" sz="900" i="1" dirty="0">
              <a:solidFill>
                <a:srgbClr val="EA560D"/>
              </a:solidFill>
              <a:latin typeface="Arial"/>
              <a:cs typeface="Arial"/>
            </a:endParaRPr>
          </a:p>
          <a:p>
            <a:pPr algn="ctr">
              <a:spcBef>
                <a:spcPct val="50000"/>
              </a:spcBef>
            </a:pPr>
            <a:r>
              <a:rPr lang="en-GB" sz="900" i="1">
                <a:solidFill>
                  <a:srgbClr val="595959"/>
                </a:solidFill>
                <a:latin typeface="Arial"/>
                <a:cs typeface="Arial"/>
              </a:rPr>
              <a:t>Peak incident solar irradiance *</a:t>
            </a:r>
            <a:endParaRPr lang="en-GB" sz="900" i="1" dirty="0">
              <a:solidFill>
                <a:srgbClr val="595959"/>
              </a:solidFill>
              <a:latin typeface="Arial"/>
              <a:cs typeface="Arial"/>
            </a:endParaRPr>
          </a:p>
          <a:p>
            <a:pPr algn="ctr">
              <a:spcBef>
                <a:spcPct val="50000"/>
              </a:spcBef>
            </a:pPr>
            <a:r>
              <a:rPr lang="en-GB" sz="900" i="1">
                <a:solidFill>
                  <a:srgbClr val="EA560D"/>
                </a:solidFill>
                <a:latin typeface="Arial"/>
                <a:cs typeface="Arial"/>
              </a:rPr>
              <a:t>203 W/m²</a:t>
            </a:r>
            <a:endParaRPr lang="en-GB" sz="900" i="1" dirty="0">
              <a:solidFill>
                <a:srgbClr val="EA560D"/>
              </a:solidFill>
              <a:latin typeface="Arial"/>
              <a:cs typeface="Arial"/>
            </a:endParaRPr>
          </a:p>
          <a:p>
            <a:pPr algn="ctr">
              <a:spcBef>
                <a:spcPct val="50000"/>
              </a:spcBef>
            </a:pPr>
            <a:r>
              <a:rPr lang="en-GB" sz="900" i="1">
                <a:solidFill>
                  <a:srgbClr val="595959"/>
                </a:solidFill>
                <a:latin typeface="Arial"/>
                <a:cs typeface="Arial"/>
              </a:rPr>
              <a:t>Peak incident power (façade)</a:t>
            </a:r>
            <a:endParaRPr lang="en-GB" sz="900" i="1" dirty="0">
              <a:solidFill>
                <a:srgbClr val="595959"/>
              </a:solidFill>
              <a:latin typeface="Arial"/>
              <a:cs typeface="Arial"/>
            </a:endParaRPr>
          </a:p>
          <a:p>
            <a:pPr algn="ctr">
              <a:spcBef>
                <a:spcPct val="50000"/>
              </a:spcBef>
            </a:pPr>
            <a:r>
              <a:rPr lang="en-US" sz="900" i="1">
                <a:solidFill>
                  <a:srgbClr val="EA560D"/>
                </a:solidFill>
                <a:latin typeface="Arial"/>
                <a:cs typeface="Arial"/>
              </a:rPr>
              <a:t>42.2 kW</a:t>
            </a:r>
            <a:endParaRPr lang="en-US" sz="900" i="1" dirty="0">
              <a:solidFill>
                <a:srgbClr val="EA560D"/>
              </a:solidFill>
              <a:latin typeface="Arial"/>
              <a:cs typeface="Arial"/>
            </a:endParaRPr>
          </a:p>
          <a:p>
            <a:pPr algn="ctr">
              <a:spcBef>
                <a:spcPct val="50000"/>
              </a:spcBef>
            </a:pPr>
            <a:r>
              <a:rPr lang="en-US" sz="900" i="1">
                <a:solidFill>
                  <a:srgbClr val="56626F"/>
                </a:solidFill>
                <a:latin typeface="Arial"/>
                <a:cs typeface="Arial"/>
              </a:rPr>
              <a:t>@ 24-Jun 08:00</a:t>
            </a:r>
            <a:endParaRPr lang="en-US" sz="900" i="1" dirty="0">
              <a:solidFill>
                <a:srgbClr val="56626F"/>
              </a:solidFill>
              <a:latin typeface="Arial"/>
              <a:cs typeface="Arial"/>
            </a:endParaRPr>
          </a:p>
          <a:p>
            <a:pPr algn="ctr">
              <a:spcBef>
                <a:spcPct val="50000"/>
              </a:spcBef>
            </a:pPr>
            <a:endParaRPr lang="en-GB" sz="900" i="1" dirty="0">
              <a:solidFill>
                <a:srgbClr val="595959"/>
              </a:solidFill>
              <a:latin typeface="Arial"/>
              <a:cs typeface="Arial"/>
            </a:endParaRPr>
          </a:p>
        </p:txBody>
      </p:sp>
      <p:pic>
        <p:nvPicPr>
          <p:cNvPr id="34" name="Picture 33">
            <a:extLst>
              <a:ext uri="{FF2B5EF4-FFF2-40B4-BE49-F238E27FC236}">
                <a16:creationId xmlns:a16="http://schemas.microsoft.com/office/drawing/2014/main" id="{B7FB4C2D-F740-E88A-F3E6-DA0784E71C85}"/>
              </a:ext>
            </a:extLst>
          </p:cNvPr>
          <p:cNvPicPr>
            <a:picLocks/>
          </p:cNvPicPr>
          <p:nvPr/>
        </p:nvPicPr>
        <p:blipFill>
          <a:blip r:embed="rId7"/>
          <a:stretch>
            <a:fillRect/>
          </a:stretch>
        </p:blipFill>
        <p:spPr>
          <a:xfrm>
            <a:off x="6083300" y="1905000"/>
            <a:ext cx="1955800" cy="1350433"/>
          </a:xfrm>
          <a:prstGeom prst="rect">
            <a:avLst/>
          </a:prstGeom>
        </p:spPr>
      </p:pic>
      <p:sp>
        <p:nvSpPr>
          <p:cNvPr id="35" name="TextBox 34">
            <a:extLst>
              <a:ext uri="{FF2B5EF4-FFF2-40B4-BE49-F238E27FC236}">
                <a16:creationId xmlns:a16="http://schemas.microsoft.com/office/drawing/2014/main" id="{D8839873-0703-5599-06F7-4E431593D8B4}"/>
              </a:ext>
            </a:extLst>
          </p:cNvPr>
          <p:cNvSpPr txBox="1"/>
          <p:nvPr/>
        </p:nvSpPr>
        <p:spPr bwMode="auto">
          <a:xfrm>
            <a:off x="6159499" y="3403600"/>
            <a:ext cx="1854200" cy="2239074"/>
          </a:xfrm>
          <a:prstGeom prst="rect">
            <a:avLst/>
          </a:prstGeom>
        </p:spPr>
        <p:txBody>
          <a:bodyPr wrap="square" lIns="0" rtlCol="0">
            <a:spAutoFit/>
          </a:bodyPr>
          <a:lstStyle/>
          <a:p>
            <a:pPr algn="ctr">
              <a:spcBef>
                <a:spcPct val="50000"/>
              </a:spcBef>
            </a:pPr>
            <a:r>
              <a:rPr lang="en-US" sz="900" i="1" dirty="0">
                <a:solidFill>
                  <a:srgbClr val="595959"/>
                </a:solidFill>
                <a:latin typeface="Arial"/>
                <a:cs typeface="Arial"/>
              </a:rPr>
              <a:t>Overhang depth </a:t>
            </a:r>
          </a:p>
          <a:p>
            <a:pPr algn="ctr">
              <a:spcBef>
                <a:spcPct val="50000"/>
              </a:spcBef>
            </a:pPr>
            <a:r>
              <a:rPr lang="en-US" sz="900" i="1">
                <a:solidFill>
                  <a:srgbClr val="EA560D"/>
                </a:solidFill>
                <a:latin typeface="Arial"/>
                <a:cs typeface="Arial"/>
              </a:rPr>
              <a:t>1000mm</a:t>
            </a:r>
            <a:endParaRPr lang="en-US" sz="900" i="1" dirty="0">
              <a:solidFill>
                <a:srgbClr val="EA560D"/>
              </a:solidFill>
              <a:latin typeface="Arial"/>
              <a:cs typeface="Arial"/>
            </a:endParaRPr>
          </a:p>
          <a:p>
            <a:pPr algn="ctr">
              <a:spcBef>
                <a:spcPct val="50000"/>
              </a:spcBef>
            </a:pPr>
            <a:r>
              <a:rPr lang="en-GB" sz="900" i="1">
                <a:solidFill>
                  <a:srgbClr val="595959"/>
                </a:solidFill>
                <a:latin typeface="Arial"/>
                <a:cs typeface="Arial"/>
              </a:rPr>
              <a:t>Annual incident solar irradiation (façade mean)</a:t>
            </a:r>
            <a:endParaRPr lang="en-GB" sz="900" i="1" dirty="0">
              <a:solidFill>
                <a:srgbClr val="595959"/>
              </a:solidFill>
              <a:latin typeface="Arial"/>
              <a:cs typeface="Arial"/>
            </a:endParaRPr>
          </a:p>
          <a:p>
            <a:pPr algn="ctr">
              <a:spcBef>
                <a:spcPct val="50000"/>
              </a:spcBef>
            </a:pPr>
            <a:r>
              <a:rPr lang="en-GB" sz="900" i="1">
                <a:solidFill>
                  <a:srgbClr val="EA560D"/>
                </a:solidFill>
                <a:latin typeface="Arial"/>
                <a:cs typeface="Arial"/>
              </a:rPr>
              <a:t>216.8 kWh/m²·yr</a:t>
            </a:r>
            <a:endParaRPr lang="en-GB" sz="900" i="1" dirty="0">
              <a:solidFill>
                <a:srgbClr val="EA560D"/>
              </a:solidFill>
              <a:latin typeface="Arial"/>
              <a:cs typeface="Arial"/>
            </a:endParaRPr>
          </a:p>
          <a:p>
            <a:pPr algn="ctr">
              <a:spcBef>
                <a:spcPct val="50000"/>
              </a:spcBef>
            </a:pPr>
            <a:r>
              <a:rPr lang="en-GB" sz="900" i="1">
                <a:solidFill>
                  <a:srgbClr val="595959"/>
                </a:solidFill>
                <a:latin typeface="Arial"/>
                <a:cs typeface="Arial"/>
              </a:rPr>
              <a:t>Peak incident solar irradiance *</a:t>
            </a:r>
            <a:endParaRPr lang="en-GB" sz="900" i="1" dirty="0">
              <a:solidFill>
                <a:srgbClr val="595959"/>
              </a:solidFill>
              <a:latin typeface="Arial"/>
              <a:cs typeface="Arial"/>
            </a:endParaRPr>
          </a:p>
          <a:p>
            <a:pPr algn="ctr">
              <a:spcBef>
                <a:spcPct val="50000"/>
              </a:spcBef>
            </a:pPr>
            <a:r>
              <a:rPr lang="en-GB" sz="900" i="1">
                <a:solidFill>
                  <a:srgbClr val="EA560D"/>
                </a:solidFill>
                <a:latin typeface="Arial"/>
                <a:cs typeface="Arial"/>
              </a:rPr>
              <a:t>190 W/m²</a:t>
            </a:r>
            <a:endParaRPr lang="en-GB" sz="900" i="1" dirty="0">
              <a:solidFill>
                <a:srgbClr val="EA560D"/>
              </a:solidFill>
              <a:latin typeface="Arial"/>
              <a:cs typeface="Arial"/>
            </a:endParaRPr>
          </a:p>
          <a:p>
            <a:pPr algn="ctr">
              <a:spcBef>
                <a:spcPct val="50000"/>
              </a:spcBef>
            </a:pPr>
            <a:r>
              <a:rPr lang="en-GB" sz="900" i="1">
                <a:solidFill>
                  <a:srgbClr val="595959"/>
                </a:solidFill>
                <a:latin typeface="Arial"/>
                <a:cs typeface="Arial"/>
              </a:rPr>
              <a:t>Peak incident power (façade)</a:t>
            </a:r>
            <a:endParaRPr lang="en-GB" sz="900" i="1" dirty="0">
              <a:solidFill>
                <a:srgbClr val="595959"/>
              </a:solidFill>
              <a:latin typeface="Arial"/>
              <a:cs typeface="Arial"/>
            </a:endParaRPr>
          </a:p>
          <a:p>
            <a:pPr algn="ctr">
              <a:spcBef>
                <a:spcPct val="50000"/>
              </a:spcBef>
            </a:pPr>
            <a:r>
              <a:rPr lang="en-US" sz="900" i="1">
                <a:solidFill>
                  <a:srgbClr val="EA560D"/>
                </a:solidFill>
                <a:latin typeface="Arial"/>
                <a:cs typeface="Arial"/>
              </a:rPr>
              <a:t>39.5 kW</a:t>
            </a:r>
            <a:endParaRPr lang="en-US" sz="900" i="1" dirty="0">
              <a:solidFill>
                <a:srgbClr val="EA560D"/>
              </a:solidFill>
              <a:latin typeface="Arial"/>
              <a:cs typeface="Arial"/>
            </a:endParaRPr>
          </a:p>
          <a:p>
            <a:pPr algn="ctr">
              <a:spcBef>
                <a:spcPct val="50000"/>
              </a:spcBef>
            </a:pPr>
            <a:r>
              <a:rPr lang="en-US" sz="900" i="1">
                <a:solidFill>
                  <a:srgbClr val="56626F"/>
                </a:solidFill>
                <a:latin typeface="Arial"/>
                <a:cs typeface="Arial"/>
              </a:rPr>
              <a:t>@ 12-Jun 08:00</a:t>
            </a:r>
            <a:endParaRPr lang="en-US" sz="900" i="1" dirty="0">
              <a:solidFill>
                <a:srgbClr val="56626F"/>
              </a:solidFill>
              <a:latin typeface="Arial"/>
              <a:cs typeface="Arial"/>
            </a:endParaRPr>
          </a:p>
          <a:p>
            <a:pPr algn="ctr">
              <a:spcBef>
                <a:spcPct val="50000"/>
              </a:spcBef>
            </a:pPr>
            <a:endParaRPr lang="en-GB" sz="900" i="1" dirty="0">
              <a:solidFill>
                <a:srgbClr val="595959"/>
              </a:solidFill>
              <a:latin typeface="Arial"/>
              <a:cs typeface="Arial"/>
            </a:endParaRPr>
          </a:p>
        </p:txBody>
      </p:sp>
      <p:pic>
        <p:nvPicPr>
          <p:cNvPr id="37" name="Picture 36">
            <a:extLst>
              <a:ext uri="{FF2B5EF4-FFF2-40B4-BE49-F238E27FC236}">
                <a16:creationId xmlns:a16="http://schemas.microsoft.com/office/drawing/2014/main" id="{A93E2E86-891E-60F2-D3BE-1C0C5ED49124}"/>
              </a:ext>
            </a:extLst>
          </p:cNvPr>
          <p:cNvPicPr>
            <a:picLocks/>
          </p:cNvPicPr>
          <p:nvPr/>
        </p:nvPicPr>
        <p:blipFill>
          <a:blip r:embed="rId8"/>
          <a:stretch>
            <a:fillRect/>
          </a:stretch>
        </p:blipFill>
        <p:spPr>
          <a:xfrm>
            <a:off x="8089900" y="1905000"/>
            <a:ext cx="1955800" cy="1350433"/>
          </a:xfrm>
          <a:prstGeom prst="rect">
            <a:avLst/>
          </a:prstGeom>
        </p:spPr>
      </p:pic>
      <p:sp>
        <p:nvSpPr>
          <p:cNvPr id="38" name="TextBox 37">
            <a:extLst>
              <a:ext uri="{FF2B5EF4-FFF2-40B4-BE49-F238E27FC236}">
                <a16:creationId xmlns:a16="http://schemas.microsoft.com/office/drawing/2014/main" id="{6CBD24A8-5DB9-5D63-F5A1-63093B43F382}"/>
              </a:ext>
            </a:extLst>
          </p:cNvPr>
          <p:cNvSpPr txBox="1"/>
          <p:nvPr/>
        </p:nvSpPr>
        <p:spPr bwMode="auto">
          <a:xfrm>
            <a:off x="8166099" y="3403600"/>
            <a:ext cx="1854200" cy="2239074"/>
          </a:xfrm>
          <a:prstGeom prst="rect">
            <a:avLst/>
          </a:prstGeom>
        </p:spPr>
        <p:txBody>
          <a:bodyPr wrap="square" lIns="0" rtlCol="0">
            <a:spAutoFit/>
          </a:bodyPr>
          <a:lstStyle/>
          <a:p>
            <a:pPr algn="ctr">
              <a:spcBef>
                <a:spcPct val="50000"/>
              </a:spcBef>
            </a:pPr>
            <a:r>
              <a:rPr lang="en-US" sz="900" i="1" dirty="0">
                <a:solidFill>
                  <a:srgbClr val="595959"/>
                </a:solidFill>
                <a:latin typeface="Arial"/>
                <a:cs typeface="Arial"/>
              </a:rPr>
              <a:t>Overhang depth </a:t>
            </a:r>
          </a:p>
          <a:p>
            <a:pPr algn="ctr">
              <a:spcBef>
                <a:spcPct val="50000"/>
              </a:spcBef>
            </a:pPr>
            <a:r>
              <a:rPr lang="en-US" sz="900" i="1">
                <a:solidFill>
                  <a:srgbClr val="EA560D"/>
                </a:solidFill>
                <a:latin typeface="Arial"/>
                <a:cs typeface="Arial"/>
              </a:rPr>
              <a:t>1250mm</a:t>
            </a:r>
            <a:endParaRPr lang="en-US" sz="900" i="1" dirty="0">
              <a:solidFill>
                <a:srgbClr val="EA560D"/>
              </a:solidFill>
              <a:latin typeface="Arial"/>
              <a:cs typeface="Arial"/>
            </a:endParaRPr>
          </a:p>
          <a:p>
            <a:pPr algn="ctr">
              <a:spcBef>
                <a:spcPct val="50000"/>
              </a:spcBef>
            </a:pPr>
            <a:r>
              <a:rPr lang="en-GB" sz="900" i="1">
                <a:solidFill>
                  <a:srgbClr val="595959"/>
                </a:solidFill>
                <a:latin typeface="Arial"/>
                <a:cs typeface="Arial"/>
              </a:rPr>
              <a:t>Annual incident solar irradiation (façade mean)</a:t>
            </a:r>
            <a:endParaRPr lang="en-GB" sz="900" i="1" dirty="0">
              <a:solidFill>
                <a:srgbClr val="595959"/>
              </a:solidFill>
              <a:latin typeface="Arial"/>
              <a:cs typeface="Arial"/>
            </a:endParaRPr>
          </a:p>
          <a:p>
            <a:pPr algn="ctr">
              <a:spcBef>
                <a:spcPct val="50000"/>
              </a:spcBef>
            </a:pPr>
            <a:r>
              <a:rPr lang="en-GB" sz="900" i="1">
                <a:solidFill>
                  <a:srgbClr val="EA560D"/>
                </a:solidFill>
                <a:latin typeface="Arial"/>
                <a:cs typeface="Arial"/>
              </a:rPr>
              <a:t>202.8 kWh/m²·yr</a:t>
            </a:r>
            <a:endParaRPr lang="en-GB" sz="900" i="1" dirty="0">
              <a:solidFill>
                <a:srgbClr val="EA560D"/>
              </a:solidFill>
              <a:latin typeface="Arial"/>
              <a:cs typeface="Arial"/>
            </a:endParaRPr>
          </a:p>
          <a:p>
            <a:pPr algn="ctr">
              <a:spcBef>
                <a:spcPct val="50000"/>
              </a:spcBef>
            </a:pPr>
            <a:r>
              <a:rPr lang="en-GB" sz="900" i="1">
                <a:solidFill>
                  <a:srgbClr val="595959"/>
                </a:solidFill>
                <a:latin typeface="Arial"/>
                <a:cs typeface="Arial"/>
              </a:rPr>
              <a:t>Peak incident solar irradiance *</a:t>
            </a:r>
            <a:endParaRPr lang="en-GB" sz="900" i="1" dirty="0">
              <a:solidFill>
                <a:srgbClr val="595959"/>
              </a:solidFill>
              <a:latin typeface="Arial"/>
              <a:cs typeface="Arial"/>
            </a:endParaRPr>
          </a:p>
          <a:p>
            <a:pPr algn="ctr">
              <a:spcBef>
                <a:spcPct val="50000"/>
              </a:spcBef>
            </a:pPr>
            <a:r>
              <a:rPr lang="en-GB" sz="900" i="1">
                <a:solidFill>
                  <a:srgbClr val="EA560D"/>
                </a:solidFill>
                <a:latin typeface="Arial"/>
                <a:cs typeface="Arial"/>
              </a:rPr>
              <a:t>176 W/m²</a:t>
            </a:r>
            <a:endParaRPr lang="en-GB" sz="900" i="1" dirty="0">
              <a:solidFill>
                <a:srgbClr val="EA560D"/>
              </a:solidFill>
              <a:latin typeface="Arial"/>
              <a:cs typeface="Arial"/>
            </a:endParaRPr>
          </a:p>
          <a:p>
            <a:pPr algn="ctr">
              <a:spcBef>
                <a:spcPct val="50000"/>
              </a:spcBef>
            </a:pPr>
            <a:r>
              <a:rPr lang="en-GB" sz="900" i="1">
                <a:solidFill>
                  <a:srgbClr val="595959"/>
                </a:solidFill>
                <a:latin typeface="Arial"/>
                <a:cs typeface="Arial"/>
              </a:rPr>
              <a:t>Peak incident power (façade)</a:t>
            </a:r>
            <a:endParaRPr lang="en-GB" sz="900" i="1" dirty="0">
              <a:solidFill>
                <a:srgbClr val="595959"/>
              </a:solidFill>
              <a:latin typeface="Arial"/>
              <a:cs typeface="Arial"/>
            </a:endParaRPr>
          </a:p>
          <a:p>
            <a:pPr algn="ctr">
              <a:spcBef>
                <a:spcPct val="50000"/>
              </a:spcBef>
            </a:pPr>
            <a:r>
              <a:rPr lang="en-US" sz="900" i="1">
                <a:solidFill>
                  <a:srgbClr val="EA560D"/>
                </a:solidFill>
                <a:latin typeface="Arial"/>
                <a:cs typeface="Arial"/>
              </a:rPr>
              <a:t>36.5 kW</a:t>
            </a:r>
            <a:endParaRPr lang="en-US" sz="900" i="1" dirty="0">
              <a:solidFill>
                <a:srgbClr val="EA560D"/>
              </a:solidFill>
              <a:latin typeface="Arial"/>
              <a:cs typeface="Arial"/>
            </a:endParaRPr>
          </a:p>
          <a:p>
            <a:pPr algn="ctr">
              <a:spcBef>
                <a:spcPct val="50000"/>
              </a:spcBef>
            </a:pPr>
            <a:r>
              <a:rPr lang="en-US" sz="900" i="1">
                <a:solidFill>
                  <a:srgbClr val="56626F"/>
                </a:solidFill>
                <a:latin typeface="Arial"/>
                <a:cs typeface="Arial"/>
              </a:rPr>
              <a:t>@ 11-Jun 08:00</a:t>
            </a:r>
            <a:endParaRPr lang="en-US" sz="900" i="1" dirty="0">
              <a:solidFill>
                <a:srgbClr val="56626F"/>
              </a:solidFill>
              <a:latin typeface="Arial"/>
              <a:cs typeface="Arial"/>
            </a:endParaRPr>
          </a:p>
          <a:p>
            <a:pPr algn="ctr">
              <a:spcBef>
                <a:spcPct val="50000"/>
              </a:spcBef>
            </a:pPr>
            <a:endParaRPr lang="en-GB" sz="900" i="1" dirty="0">
              <a:solidFill>
                <a:srgbClr val="595959"/>
              </a:solidFill>
              <a:latin typeface="Arial"/>
              <a:cs typeface="Arial"/>
            </a:endParaRPr>
          </a:p>
        </p:txBody>
      </p:sp>
      <p:pic>
        <p:nvPicPr>
          <p:cNvPr id="40" name="Picture 39">
            <a:extLst>
              <a:ext uri="{FF2B5EF4-FFF2-40B4-BE49-F238E27FC236}">
                <a16:creationId xmlns:a16="http://schemas.microsoft.com/office/drawing/2014/main" id="{18F12045-55DF-12F7-32A5-42EFF63538C1}"/>
              </a:ext>
            </a:extLst>
          </p:cNvPr>
          <p:cNvPicPr>
            <a:picLocks/>
          </p:cNvPicPr>
          <p:nvPr/>
        </p:nvPicPr>
        <p:blipFill>
          <a:blip r:embed="rId9"/>
          <a:stretch>
            <a:fillRect/>
          </a:stretch>
        </p:blipFill>
        <p:spPr>
          <a:xfrm>
            <a:off x="10096500" y="1905000"/>
            <a:ext cx="1955800" cy="1350433"/>
          </a:xfrm>
          <a:prstGeom prst="rect">
            <a:avLst/>
          </a:prstGeom>
        </p:spPr>
      </p:pic>
      <p:sp>
        <p:nvSpPr>
          <p:cNvPr id="41" name="TextBox 40">
            <a:extLst>
              <a:ext uri="{FF2B5EF4-FFF2-40B4-BE49-F238E27FC236}">
                <a16:creationId xmlns:a16="http://schemas.microsoft.com/office/drawing/2014/main" id="{C8B1ABFB-CD84-F45F-0E17-27797D14BD03}"/>
              </a:ext>
            </a:extLst>
          </p:cNvPr>
          <p:cNvSpPr txBox="1"/>
          <p:nvPr/>
        </p:nvSpPr>
        <p:spPr bwMode="auto">
          <a:xfrm>
            <a:off x="10172699" y="3403600"/>
            <a:ext cx="1854200" cy="2239074"/>
          </a:xfrm>
          <a:prstGeom prst="rect">
            <a:avLst/>
          </a:prstGeom>
        </p:spPr>
        <p:txBody>
          <a:bodyPr wrap="square" lIns="0" rtlCol="0">
            <a:spAutoFit/>
          </a:bodyPr>
          <a:lstStyle/>
          <a:p>
            <a:pPr algn="ctr">
              <a:spcBef>
                <a:spcPct val="50000"/>
              </a:spcBef>
            </a:pPr>
            <a:r>
              <a:rPr lang="en-US" sz="900" i="1" dirty="0">
                <a:solidFill>
                  <a:srgbClr val="595959"/>
                </a:solidFill>
                <a:latin typeface="Arial"/>
                <a:cs typeface="Arial"/>
              </a:rPr>
              <a:t>Overhang depth </a:t>
            </a:r>
          </a:p>
          <a:p>
            <a:pPr algn="ctr">
              <a:spcBef>
                <a:spcPct val="50000"/>
              </a:spcBef>
            </a:pPr>
            <a:r>
              <a:rPr lang="en-US" sz="900" i="1">
                <a:solidFill>
                  <a:srgbClr val="EA560D"/>
                </a:solidFill>
                <a:latin typeface="Arial"/>
                <a:cs typeface="Arial"/>
              </a:rPr>
              <a:t>1500mm</a:t>
            </a:r>
            <a:endParaRPr lang="en-US" sz="900" i="1" dirty="0">
              <a:solidFill>
                <a:srgbClr val="EA560D"/>
              </a:solidFill>
              <a:latin typeface="Arial"/>
              <a:cs typeface="Arial"/>
            </a:endParaRPr>
          </a:p>
          <a:p>
            <a:pPr algn="ctr">
              <a:spcBef>
                <a:spcPct val="50000"/>
              </a:spcBef>
            </a:pPr>
            <a:r>
              <a:rPr lang="en-GB" sz="900" i="1">
                <a:solidFill>
                  <a:srgbClr val="595959"/>
                </a:solidFill>
                <a:latin typeface="Arial"/>
                <a:cs typeface="Arial"/>
              </a:rPr>
              <a:t>Annual incident solar irradiation (façade mean)</a:t>
            </a:r>
            <a:endParaRPr lang="en-GB" sz="900" i="1" dirty="0">
              <a:solidFill>
                <a:srgbClr val="595959"/>
              </a:solidFill>
              <a:latin typeface="Arial"/>
              <a:cs typeface="Arial"/>
            </a:endParaRPr>
          </a:p>
          <a:p>
            <a:pPr algn="ctr">
              <a:spcBef>
                <a:spcPct val="50000"/>
              </a:spcBef>
            </a:pPr>
            <a:r>
              <a:rPr lang="en-GB" sz="900" i="1">
                <a:solidFill>
                  <a:srgbClr val="EA560D"/>
                </a:solidFill>
                <a:latin typeface="Arial"/>
                <a:cs typeface="Arial"/>
              </a:rPr>
              <a:t>192.2 kWh/m²·yr</a:t>
            </a:r>
            <a:endParaRPr lang="en-GB" sz="900" i="1" dirty="0">
              <a:solidFill>
                <a:srgbClr val="EA560D"/>
              </a:solidFill>
              <a:latin typeface="Arial"/>
              <a:cs typeface="Arial"/>
            </a:endParaRPr>
          </a:p>
          <a:p>
            <a:pPr algn="ctr">
              <a:spcBef>
                <a:spcPct val="50000"/>
              </a:spcBef>
            </a:pPr>
            <a:r>
              <a:rPr lang="en-GB" sz="900" i="1">
                <a:solidFill>
                  <a:srgbClr val="595959"/>
                </a:solidFill>
                <a:latin typeface="Arial"/>
                <a:cs typeface="Arial"/>
              </a:rPr>
              <a:t>Peak incident solar irradiance *</a:t>
            </a:r>
            <a:endParaRPr lang="en-GB" sz="900" i="1" dirty="0">
              <a:solidFill>
                <a:srgbClr val="595959"/>
              </a:solidFill>
              <a:latin typeface="Arial"/>
              <a:cs typeface="Arial"/>
            </a:endParaRPr>
          </a:p>
          <a:p>
            <a:pPr algn="ctr">
              <a:spcBef>
                <a:spcPct val="50000"/>
              </a:spcBef>
            </a:pPr>
            <a:r>
              <a:rPr lang="en-GB" sz="900" i="1">
                <a:solidFill>
                  <a:srgbClr val="EA560D"/>
                </a:solidFill>
                <a:latin typeface="Arial"/>
                <a:cs typeface="Arial"/>
              </a:rPr>
              <a:t>160 W/m²</a:t>
            </a:r>
            <a:endParaRPr lang="en-GB" sz="900" i="1" dirty="0">
              <a:solidFill>
                <a:srgbClr val="EA560D"/>
              </a:solidFill>
              <a:latin typeface="Arial"/>
              <a:cs typeface="Arial"/>
            </a:endParaRPr>
          </a:p>
          <a:p>
            <a:pPr algn="ctr">
              <a:spcBef>
                <a:spcPct val="50000"/>
              </a:spcBef>
            </a:pPr>
            <a:r>
              <a:rPr lang="en-GB" sz="900" i="1">
                <a:solidFill>
                  <a:srgbClr val="595959"/>
                </a:solidFill>
                <a:latin typeface="Arial"/>
                <a:cs typeface="Arial"/>
              </a:rPr>
              <a:t>Peak incident power (façade)</a:t>
            </a:r>
            <a:endParaRPr lang="en-GB" sz="900" i="1" dirty="0">
              <a:solidFill>
                <a:srgbClr val="595959"/>
              </a:solidFill>
              <a:latin typeface="Arial"/>
              <a:cs typeface="Arial"/>
            </a:endParaRPr>
          </a:p>
          <a:p>
            <a:pPr algn="ctr">
              <a:spcBef>
                <a:spcPct val="50000"/>
              </a:spcBef>
            </a:pPr>
            <a:r>
              <a:rPr lang="en-US" sz="900" i="1">
                <a:solidFill>
                  <a:srgbClr val="EA560D"/>
                </a:solidFill>
                <a:latin typeface="Arial"/>
                <a:cs typeface="Arial"/>
              </a:rPr>
              <a:t>33.2 kW</a:t>
            </a:r>
            <a:endParaRPr lang="en-US" sz="900" i="1" dirty="0">
              <a:solidFill>
                <a:srgbClr val="EA560D"/>
              </a:solidFill>
              <a:latin typeface="Arial"/>
              <a:cs typeface="Arial"/>
            </a:endParaRPr>
          </a:p>
          <a:p>
            <a:pPr algn="ctr">
              <a:spcBef>
                <a:spcPct val="50000"/>
              </a:spcBef>
            </a:pPr>
            <a:r>
              <a:rPr lang="en-US" sz="900" i="1">
                <a:solidFill>
                  <a:srgbClr val="56626F"/>
                </a:solidFill>
                <a:latin typeface="Arial"/>
                <a:cs typeface="Arial"/>
              </a:rPr>
              <a:t>@ 11-Jun 08:00</a:t>
            </a:r>
            <a:endParaRPr lang="en-US" sz="900" i="1" dirty="0">
              <a:solidFill>
                <a:srgbClr val="56626F"/>
              </a:solidFill>
              <a:latin typeface="Arial"/>
              <a:cs typeface="Arial"/>
            </a:endParaRPr>
          </a:p>
          <a:p>
            <a:pPr algn="ctr">
              <a:spcBef>
                <a:spcPct val="50000"/>
              </a:spcBef>
            </a:pPr>
            <a:endParaRPr lang="en-GB" sz="900" i="1" dirty="0">
              <a:solidFill>
                <a:srgbClr val="595959"/>
              </a:solidFill>
              <a:latin typeface="Arial"/>
              <a:cs typeface="Arial"/>
            </a:endParaRPr>
          </a:p>
        </p:txBody>
      </p:sp>
      <p:sp>
        <p:nvSpPr>
          <p:cNvPr id="42" name="TextBox 41">
            <a:extLst>
              <a:ext uri="{FF2B5EF4-FFF2-40B4-BE49-F238E27FC236}">
                <a16:creationId xmlns:a16="http://schemas.microsoft.com/office/drawing/2014/main" id="{53D3D230-6F4F-B952-B6B1-9C90A74BDD93}"/>
              </a:ext>
            </a:extLst>
          </p:cNvPr>
          <p:cNvSpPr txBox="1"/>
          <p:nvPr/>
        </p:nvSpPr>
        <p:spPr bwMode="auto">
          <a:xfrm>
            <a:off x="6237974" y="1625600"/>
            <a:ext cx="1697253" cy="230832"/>
          </a:xfrm>
          <a:prstGeom prst="rect">
            <a:avLst/>
          </a:prstGeom>
        </p:spPr>
        <p:txBody>
          <a:bodyPr wrap="square" lIns="0" rtlCol="0">
            <a:spAutoFit/>
          </a:bodyPr>
          <a:lstStyle>
            <a:defPPr>
              <a:defRPr lang="en-US"/>
            </a:defPPr>
            <a:lvl1pPr algn="ctr">
              <a:spcBef>
                <a:spcPct val="50000"/>
              </a:spcBef>
              <a:defRPr sz="900" i="1">
                <a:solidFill>
                  <a:srgbClr val="595959"/>
                </a:solidFill>
                <a:latin typeface="Arial"/>
                <a:cs typeface="Arial"/>
              </a:defRPr>
            </a:lvl1pPr>
          </a:lstStyle>
          <a:p>
            <a:r>
              <a:rPr lang="en-US"/>
              <a:t>Architect's option 1</a:t>
            </a:r>
            <a:endParaRPr lang="en-GB" dirty="0">
              <a:solidFill>
                <a:srgbClr val="56626F"/>
              </a:solidFill>
            </a:endParaRPr>
          </a:p>
        </p:txBody>
      </p:sp>
      <p:sp>
        <p:nvSpPr>
          <p:cNvPr id="43" name="Right Bracket 42">
            <a:extLst>
              <a:ext uri="{FF2B5EF4-FFF2-40B4-BE49-F238E27FC236}">
                <a16:creationId xmlns:a16="http://schemas.microsoft.com/office/drawing/2014/main" id="{43FB2208-7291-E34D-3635-F3FB11615C57}"/>
              </a:ext>
            </a:extLst>
          </p:cNvPr>
          <p:cNvSpPr/>
          <p:nvPr/>
        </p:nvSpPr>
        <p:spPr>
          <a:xfrm rot="16200000">
            <a:off x="7032066" y="1186331"/>
            <a:ext cx="109068" cy="1475420"/>
          </a:xfrm>
          <a:prstGeom prst="rightBracket">
            <a:avLst/>
          </a:prstGeom>
          <a:ln w="3175">
            <a:prstDash val="lgDash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4" name="TextBox 43">
            <a:extLst>
              <a:ext uri="{FF2B5EF4-FFF2-40B4-BE49-F238E27FC236}">
                <a16:creationId xmlns:a16="http://schemas.microsoft.com/office/drawing/2014/main" id="{AABF3078-2D32-1D89-7A03-C29ABF1CAF97}"/>
              </a:ext>
            </a:extLst>
          </p:cNvPr>
          <p:cNvSpPr txBox="1"/>
          <p:nvPr/>
        </p:nvSpPr>
        <p:spPr bwMode="auto">
          <a:xfrm>
            <a:off x="10251174" y="1625600"/>
            <a:ext cx="1697253" cy="230832"/>
          </a:xfrm>
          <a:prstGeom prst="rect">
            <a:avLst/>
          </a:prstGeom>
        </p:spPr>
        <p:txBody>
          <a:bodyPr wrap="square" lIns="0" rtlCol="0">
            <a:spAutoFit/>
          </a:bodyPr>
          <a:lstStyle>
            <a:defPPr>
              <a:defRPr lang="en-US"/>
            </a:defPPr>
            <a:lvl1pPr algn="ctr">
              <a:spcBef>
                <a:spcPct val="50000"/>
              </a:spcBef>
              <a:defRPr sz="900" i="1">
                <a:solidFill>
                  <a:srgbClr val="595959"/>
                </a:solidFill>
                <a:latin typeface="Arial"/>
                <a:cs typeface="Arial"/>
              </a:defRPr>
            </a:lvl1pPr>
          </a:lstStyle>
          <a:p>
            <a:r>
              <a:rPr lang="en-US"/>
              <a:t>Architect's option 2</a:t>
            </a:r>
            <a:endParaRPr lang="en-GB" dirty="0">
              <a:solidFill>
                <a:srgbClr val="56626F"/>
              </a:solidFill>
            </a:endParaRPr>
          </a:p>
        </p:txBody>
      </p:sp>
      <p:sp>
        <p:nvSpPr>
          <p:cNvPr id="45" name="Right Bracket 44">
            <a:extLst>
              <a:ext uri="{FF2B5EF4-FFF2-40B4-BE49-F238E27FC236}">
                <a16:creationId xmlns:a16="http://schemas.microsoft.com/office/drawing/2014/main" id="{04130E47-BA54-C4C7-E81E-12F52AA2D76A}"/>
              </a:ext>
            </a:extLst>
          </p:cNvPr>
          <p:cNvSpPr/>
          <p:nvPr/>
        </p:nvSpPr>
        <p:spPr>
          <a:xfrm rot="16200000">
            <a:off x="11045266" y="1186331"/>
            <a:ext cx="109068" cy="1475420"/>
          </a:xfrm>
          <a:prstGeom prst="rightBracket">
            <a:avLst/>
          </a:prstGeom>
          <a:ln w="3175">
            <a:prstDash val="lgDash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17050778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88E3B4-9449-436D-42AB-176C49A0C57C}"/>
              </a:ext>
            </a:extLst>
          </p:cNvPr>
          <p:cNvSpPr>
            <a:spLocks noGrp="1"/>
          </p:cNvSpPr>
          <p:nvPr>
            <p:ph type="body" sz="quarter" idx="14"/>
          </p:nvPr>
        </p:nvSpPr>
        <p:spPr>
          <a:xfrm>
            <a:off x="6210300" y="812800"/>
            <a:ext cx="5651500" cy="400110"/>
          </a:xfrm>
        </p:spPr>
        <p:txBody>
          <a:bodyPr wrap="square">
            <a:noAutofit/>
          </a:bodyPr>
          <a:lstStyle/>
          <a:p>
            <a:pPr algn="r"/>
            <a:r>
              <a:rPr lang="en-US" sz="1000" i="1"/>
              <a:t>3 · When the peak arrives: only on May–July mornings (08:00–11:00), with the sun low in the east-north-east – a horizontal canopy can only partly block it.</a:t>
            </a:r>
            <a:endParaRPr lang="en-GB" sz="1000" i="1"/>
          </a:p>
        </p:txBody>
      </p:sp>
      <p:sp>
        <p:nvSpPr>
          <p:cNvPr id="3" name="Text Placeholder 2">
            <a:extLst>
              <a:ext uri="{FF2B5EF4-FFF2-40B4-BE49-F238E27FC236}">
                <a16:creationId xmlns:a16="http://schemas.microsoft.com/office/drawing/2014/main" id="{8CC1EAC9-85CF-83AD-972F-A104406556C8}"/>
              </a:ext>
            </a:extLst>
          </p:cNvPr>
          <p:cNvSpPr>
            <a:spLocks noGrp="1"/>
          </p:cNvSpPr>
          <p:nvPr>
            <p:ph type="body" sz="quarter" idx="10"/>
          </p:nvPr>
        </p:nvSpPr>
        <p:spPr>
          <a:xfrm>
            <a:off x="335360" y="260648"/>
            <a:ext cx="11521279" cy="553998"/>
          </a:xfrm>
        </p:spPr>
        <p:txBody>
          <a:bodyPr wrap="square" lIns="0">
            <a:spAutoFit/>
          </a:bodyPr>
          <a:lstStyle/>
          <a:p>
            <a:r>
              <a:rPr lang="en-GB"/>
              <a:t>Sky Access &amp; Shading Masks</a:t>
            </a:r>
            <a:endParaRPr lang="en-GB" dirty="0"/>
          </a:p>
        </p:txBody>
      </p:sp>
      <p:sp>
        <p:nvSpPr>
          <p:cNvPr id="4" name="Text Placeholder 3">
            <a:extLst>
              <a:ext uri="{FF2B5EF4-FFF2-40B4-BE49-F238E27FC236}">
                <a16:creationId xmlns:a16="http://schemas.microsoft.com/office/drawing/2014/main" id="{14E1EAAC-8665-92A2-57A7-9A7632423088}"/>
              </a:ext>
            </a:extLst>
          </p:cNvPr>
          <p:cNvSpPr>
            <a:spLocks noGrp="1"/>
          </p:cNvSpPr>
          <p:nvPr>
            <p:ph type="body" sz="quarter" idx="15"/>
          </p:nvPr>
        </p:nvSpPr>
        <p:spPr>
          <a:xfrm>
            <a:off x="335360" y="897755"/>
            <a:ext cx="5645714" cy="307777"/>
          </a:xfrm>
        </p:spPr>
        <p:txBody>
          <a:bodyPr/>
          <a:lstStyle/>
          <a:p>
            <a:r>
              <a:rPr lang="en-US"/>
              <a:t>Sun path, sky radiation and shading masks (North-West Open Office)</a:t>
            </a:r>
            <a:endParaRPr lang="en-GB" dirty="0"/>
          </a:p>
        </p:txBody>
      </p:sp>
      <p:pic>
        <p:nvPicPr>
          <p:cNvPr id="8" name="Picture 7">
            <a:extLst>
              <a:ext uri="{FF2B5EF4-FFF2-40B4-BE49-F238E27FC236}">
                <a16:creationId xmlns:a16="http://schemas.microsoft.com/office/drawing/2014/main" id="{9EE4A120-E099-D0BB-4CBF-136E1F99A8C0}"/>
              </a:ext>
            </a:extLst>
          </p:cNvPr>
          <p:cNvPicPr>
            <a:picLocks/>
          </p:cNvPicPr>
          <p:nvPr/>
        </p:nvPicPr>
        <p:blipFill>
          <a:blip r:embed="rId2"/>
          <a:stretch>
            <a:fillRect/>
          </a:stretch>
        </p:blipFill>
        <p:spPr>
          <a:xfrm>
            <a:off x="710059" y="1295400"/>
            <a:ext cx="1932682" cy="1905000"/>
          </a:xfrm>
          <a:prstGeom prst="rect">
            <a:avLst/>
          </a:prstGeom>
        </p:spPr>
      </p:pic>
      <p:sp>
        <p:nvSpPr>
          <p:cNvPr id="17" name="TextBox 16">
            <a:extLst>
              <a:ext uri="{FF2B5EF4-FFF2-40B4-BE49-F238E27FC236}">
                <a16:creationId xmlns:a16="http://schemas.microsoft.com/office/drawing/2014/main" id="{DDC802DB-F2EA-A6C0-636C-98DBE67C477E}"/>
              </a:ext>
            </a:extLst>
          </p:cNvPr>
          <p:cNvSpPr txBox="1"/>
          <p:nvPr/>
        </p:nvSpPr>
        <p:spPr bwMode="auto">
          <a:xfrm>
            <a:off x="254000" y="3213100"/>
            <a:ext cx="2844800" cy="230832"/>
          </a:xfrm>
          <a:prstGeom prst="rect">
            <a:avLst/>
          </a:prstGeom>
          <a:noFill/>
          <a:ln w="9525">
            <a:noFill/>
            <a:miter lim="800000"/>
            <a:headEnd/>
            <a:tailEnd/>
          </a:ln>
          <a:effectLst/>
        </p:spPr>
        <p:txBody>
          <a:bodyPr vert="horz" wrap="square" lIns="0" rtlCol="0">
            <a:spAutoFit/>
          </a:bodyPr>
          <a:lstStyle/>
          <a:p>
            <a:pPr algn="ctr">
              <a:spcBef>
                <a:spcPct val="50000"/>
              </a:spcBef>
            </a:pPr>
            <a:r>
              <a:rPr lang="en-US" sz="900" i="1">
                <a:solidFill>
                  <a:srgbClr val="56626F"/>
                </a:solidFill>
                <a:latin typeface="Arial" panose="020B0604020202020204" pitchFamily="34" charset="0"/>
                <a:cs typeface="Arial"/>
              </a:rPr>
              <a:t>Reference: 0 mm, no surroundings (all daylight hours)</a:t>
            </a:r>
            <a:endParaRPr lang="en-GB" sz="900" i="1" dirty="0">
              <a:solidFill>
                <a:srgbClr val="56626F"/>
              </a:solidFill>
              <a:latin typeface="Arial" panose="020B0604020202020204" pitchFamily="34" charset="0"/>
              <a:cs typeface="Arial"/>
            </a:endParaRPr>
          </a:p>
        </p:txBody>
      </p:sp>
      <p:pic>
        <p:nvPicPr>
          <p:cNvPr id="27" name="Picture 26">
            <a:extLst>
              <a:ext uri="{FF2B5EF4-FFF2-40B4-BE49-F238E27FC236}">
                <a16:creationId xmlns:a16="http://schemas.microsoft.com/office/drawing/2014/main" id="{C877AEA9-FF70-D5FA-D9B3-81FFC69BC6E3}"/>
              </a:ext>
            </a:extLst>
          </p:cNvPr>
          <p:cNvPicPr>
            <a:picLocks/>
          </p:cNvPicPr>
          <p:nvPr/>
        </p:nvPicPr>
        <p:blipFill>
          <a:blip r:embed="rId3"/>
          <a:stretch>
            <a:fillRect/>
          </a:stretch>
        </p:blipFill>
        <p:spPr>
          <a:xfrm>
            <a:off x="3656459" y="1295400"/>
            <a:ext cx="1932682" cy="1905000"/>
          </a:xfrm>
          <a:prstGeom prst="rect">
            <a:avLst/>
          </a:prstGeom>
        </p:spPr>
      </p:pic>
      <p:sp>
        <p:nvSpPr>
          <p:cNvPr id="29" name="TextBox 28">
            <a:extLst>
              <a:ext uri="{FF2B5EF4-FFF2-40B4-BE49-F238E27FC236}">
                <a16:creationId xmlns:a16="http://schemas.microsoft.com/office/drawing/2014/main" id="{D42A3880-F1FA-D771-B73A-A20BD7618B8F}"/>
              </a:ext>
            </a:extLst>
          </p:cNvPr>
          <p:cNvSpPr txBox="1"/>
          <p:nvPr/>
        </p:nvSpPr>
        <p:spPr bwMode="auto">
          <a:xfrm>
            <a:off x="3200400" y="3213100"/>
            <a:ext cx="2844800" cy="230832"/>
          </a:xfrm>
          <a:prstGeom prst="rect">
            <a:avLst/>
          </a:prstGeom>
          <a:noFill/>
          <a:ln w="9525">
            <a:noFill/>
            <a:miter lim="800000"/>
            <a:headEnd/>
            <a:tailEnd/>
          </a:ln>
          <a:effectLst/>
        </p:spPr>
        <p:txBody>
          <a:bodyPr vert="horz" wrap="square" lIns="0" rtlCol="0">
            <a:spAutoFit/>
          </a:bodyPr>
          <a:lstStyle/>
          <a:p>
            <a:pPr algn="ctr">
              <a:spcBef>
                <a:spcPct val="50000"/>
              </a:spcBef>
            </a:pPr>
            <a:r>
              <a:rPr lang="en-GB" sz="900" i="1">
                <a:solidFill>
                  <a:srgbClr val="56626F"/>
                </a:solidFill>
                <a:latin typeface="Arial" panose="020B0604020202020204" pitchFamily="34" charset="0"/>
                <a:cs typeface="Arial"/>
              </a:rPr>
              <a:t>0 mm + surroundings</a:t>
            </a:r>
            <a:endParaRPr lang="en-GB" sz="900" i="1" dirty="0">
              <a:solidFill>
                <a:srgbClr val="56626F"/>
              </a:solidFill>
              <a:latin typeface="Arial" panose="020B0604020202020204" pitchFamily="34" charset="0"/>
              <a:cs typeface="Arial"/>
            </a:endParaRPr>
          </a:p>
        </p:txBody>
      </p:sp>
      <p:pic>
        <p:nvPicPr>
          <p:cNvPr id="33" name="Picture 32">
            <a:extLst>
              <a:ext uri="{FF2B5EF4-FFF2-40B4-BE49-F238E27FC236}">
                <a16:creationId xmlns:a16="http://schemas.microsoft.com/office/drawing/2014/main" id="{719137B0-672A-9462-976F-3972D807A777}"/>
              </a:ext>
            </a:extLst>
          </p:cNvPr>
          <p:cNvPicPr>
            <a:picLocks/>
          </p:cNvPicPr>
          <p:nvPr/>
        </p:nvPicPr>
        <p:blipFill>
          <a:blip r:embed="rId4"/>
          <a:stretch>
            <a:fillRect/>
          </a:stretch>
        </p:blipFill>
        <p:spPr>
          <a:xfrm>
            <a:off x="6602859" y="1295400"/>
            <a:ext cx="1932682" cy="1905000"/>
          </a:xfrm>
          <a:prstGeom prst="rect">
            <a:avLst/>
          </a:prstGeom>
        </p:spPr>
      </p:pic>
      <p:sp>
        <p:nvSpPr>
          <p:cNvPr id="34" name="TextBox 33">
            <a:extLst>
              <a:ext uri="{FF2B5EF4-FFF2-40B4-BE49-F238E27FC236}">
                <a16:creationId xmlns:a16="http://schemas.microsoft.com/office/drawing/2014/main" id="{5BB1E0E7-D289-20F1-A2B8-A7AB5120986C}"/>
              </a:ext>
            </a:extLst>
          </p:cNvPr>
          <p:cNvSpPr txBox="1"/>
          <p:nvPr/>
        </p:nvSpPr>
        <p:spPr bwMode="auto">
          <a:xfrm>
            <a:off x="6146800" y="3213100"/>
            <a:ext cx="2844800" cy="230832"/>
          </a:xfrm>
          <a:prstGeom prst="rect">
            <a:avLst/>
          </a:prstGeom>
          <a:noFill/>
          <a:ln w="9525">
            <a:noFill/>
            <a:miter lim="800000"/>
            <a:headEnd/>
            <a:tailEnd/>
          </a:ln>
          <a:effectLst/>
        </p:spPr>
        <p:txBody>
          <a:bodyPr vert="horz" wrap="square" lIns="0" rtlCol="0">
            <a:spAutoFit/>
          </a:bodyPr>
          <a:lstStyle/>
          <a:p>
            <a:pPr algn="ctr">
              <a:spcBef>
                <a:spcPct val="50000"/>
              </a:spcBef>
            </a:pPr>
            <a:r>
              <a:rPr lang="en-GB" sz="900" i="1">
                <a:solidFill>
                  <a:srgbClr val="56626F"/>
                </a:solidFill>
                <a:latin typeface="Arial" panose="020B0604020202020204" pitchFamily="34" charset="0"/>
                <a:cs typeface="Arial"/>
              </a:rPr>
              <a:t>500 mm + surroundings</a:t>
            </a:r>
            <a:endParaRPr lang="en-GB" sz="900" i="1" dirty="0">
              <a:solidFill>
                <a:srgbClr val="56626F"/>
              </a:solidFill>
              <a:latin typeface="Arial" panose="020B0604020202020204" pitchFamily="34" charset="0"/>
              <a:cs typeface="Arial"/>
            </a:endParaRPr>
          </a:p>
        </p:txBody>
      </p:sp>
      <p:pic>
        <p:nvPicPr>
          <p:cNvPr id="36" name="Picture 35">
            <a:extLst>
              <a:ext uri="{FF2B5EF4-FFF2-40B4-BE49-F238E27FC236}">
                <a16:creationId xmlns:a16="http://schemas.microsoft.com/office/drawing/2014/main" id="{4ECFA83E-F871-2135-064F-42BFCC699196}"/>
              </a:ext>
            </a:extLst>
          </p:cNvPr>
          <p:cNvPicPr>
            <a:picLocks/>
          </p:cNvPicPr>
          <p:nvPr/>
        </p:nvPicPr>
        <p:blipFill>
          <a:blip r:embed="rId5"/>
          <a:stretch>
            <a:fillRect/>
          </a:stretch>
        </p:blipFill>
        <p:spPr>
          <a:xfrm>
            <a:off x="9549259" y="1295400"/>
            <a:ext cx="1932682" cy="1905000"/>
          </a:xfrm>
          <a:prstGeom prst="rect">
            <a:avLst/>
          </a:prstGeom>
        </p:spPr>
      </p:pic>
      <p:sp>
        <p:nvSpPr>
          <p:cNvPr id="37" name="TextBox 36">
            <a:extLst>
              <a:ext uri="{FF2B5EF4-FFF2-40B4-BE49-F238E27FC236}">
                <a16:creationId xmlns:a16="http://schemas.microsoft.com/office/drawing/2014/main" id="{EC2CBDF0-7CE7-ED2B-CCC5-F5E18951656F}"/>
              </a:ext>
            </a:extLst>
          </p:cNvPr>
          <p:cNvSpPr txBox="1"/>
          <p:nvPr/>
        </p:nvSpPr>
        <p:spPr bwMode="auto">
          <a:xfrm>
            <a:off x="9093200" y="3213100"/>
            <a:ext cx="2844800" cy="230832"/>
          </a:xfrm>
          <a:prstGeom prst="rect">
            <a:avLst/>
          </a:prstGeom>
          <a:noFill/>
          <a:ln w="9525">
            <a:noFill/>
            <a:miter lim="800000"/>
            <a:headEnd/>
            <a:tailEnd/>
          </a:ln>
          <a:effectLst/>
        </p:spPr>
        <p:txBody>
          <a:bodyPr vert="horz" wrap="square" lIns="0" rtlCol="0">
            <a:spAutoFit/>
          </a:bodyPr>
          <a:lstStyle/>
          <a:p>
            <a:pPr algn="ctr">
              <a:spcBef>
                <a:spcPct val="50000"/>
              </a:spcBef>
            </a:pPr>
            <a:r>
              <a:rPr lang="en-GB" sz="900" i="1">
                <a:solidFill>
                  <a:srgbClr val="56626F"/>
                </a:solidFill>
                <a:latin typeface="Arial" panose="020B0604020202020204" pitchFamily="34" charset="0"/>
                <a:cs typeface="Arial"/>
              </a:rPr>
              <a:t>750 mm + surroundings</a:t>
            </a:r>
            <a:endParaRPr lang="en-GB" sz="900" i="1" dirty="0">
              <a:solidFill>
                <a:srgbClr val="56626F"/>
              </a:solidFill>
              <a:latin typeface="Arial" panose="020B0604020202020204" pitchFamily="34" charset="0"/>
              <a:cs typeface="Arial"/>
            </a:endParaRPr>
          </a:p>
        </p:txBody>
      </p:sp>
      <p:pic>
        <p:nvPicPr>
          <p:cNvPr id="39" name="Picture 38">
            <a:extLst>
              <a:ext uri="{FF2B5EF4-FFF2-40B4-BE49-F238E27FC236}">
                <a16:creationId xmlns:a16="http://schemas.microsoft.com/office/drawing/2014/main" id="{F2BD0377-4DB6-8BC5-63DA-4443A314C5FF}"/>
              </a:ext>
            </a:extLst>
          </p:cNvPr>
          <p:cNvPicPr>
            <a:picLocks/>
          </p:cNvPicPr>
          <p:nvPr/>
        </p:nvPicPr>
        <p:blipFill>
          <a:blip r:embed="rId6"/>
          <a:stretch>
            <a:fillRect/>
          </a:stretch>
        </p:blipFill>
        <p:spPr>
          <a:xfrm>
            <a:off x="710059" y="3581400"/>
            <a:ext cx="1932682" cy="1905000"/>
          </a:xfrm>
          <a:prstGeom prst="rect">
            <a:avLst/>
          </a:prstGeom>
        </p:spPr>
      </p:pic>
      <p:sp>
        <p:nvSpPr>
          <p:cNvPr id="40" name="TextBox 39">
            <a:extLst>
              <a:ext uri="{FF2B5EF4-FFF2-40B4-BE49-F238E27FC236}">
                <a16:creationId xmlns:a16="http://schemas.microsoft.com/office/drawing/2014/main" id="{21531F00-B21C-A85F-B2FE-A44B097866C0}"/>
              </a:ext>
            </a:extLst>
          </p:cNvPr>
          <p:cNvSpPr txBox="1"/>
          <p:nvPr/>
        </p:nvSpPr>
        <p:spPr bwMode="auto">
          <a:xfrm>
            <a:off x="254000" y="5499100"/>
            <a:ext cx="2844800" cy="230832"/>
          </a:xfrm>
          <a:prstGeom prst="rect">
            <a:avLst/>
          </a:prstGeom>
          <a:noFill/>
          <a:ln w="9525">
            <a:noFill/>
            <a:miter lim="800000"/>
            <a:headEnd/>
            <a:tailEnd/>
          </a:ln>
          <a:effectLst/>
        </p:spPr>
        <p:txBody>
          <a:bodyPr vert="horz" wrap="square" lIns="0" rtlCol="0">
            <a:spAutoFit/>
          </a:bodyPr>
          <a:lstStyle/>
          <a:p>
            <a:pPr algn="ctr">
              <a:spcBef>
                <a:spcPct val="50000"/>
              </a:spcBef>
            </a:pPr>
            <a:r>
              <a:rPr lang="en-US" sz="900" i="1">
                <a:solidFill>
                  <a:srgbClr val="56626F"/>
                </a:solidFill>
                <a:latin typeface="Arial" panose="020B0604020202020204" pitchFamily="34" charset="0"/>
                <a:cs typeface="Arial"/>
              </a:rPr>
              <a:t>1000 mm + surroundings (Architect's option 1)</a:t>
            </a:r>
            <a:endParaRPr lang="en-GB" sz="900" i="1" dirty="0">
              <a:solidFill>
                <a:srgbClr val="56626F"/>
              </a:solidFill>
              <a:latin typeface="Arial" panose="020B0604020202020204" pitchFamily="34" charset="0"/>
              <a:cs typeface="Arial"/>
            </a:endParaRPr>
          </a:p>
        </p:txBody>
      </p:sp>
      <p:pic>
        <p:nvPicPr>
          <p:cNvPr id="42" name="Picture 41">
            <a:extLst>
              <a:ext uri="{FF2B5EF4-FFF2-40B4-BE49-F238E27FC236}">
                <a16:creationId xmlns:a16="http://schemas.microsoft.com/office/drawing/2014/main" id="{ECA3F521-19E9-7E93-4423-01F737EBADF8}"/>
              </a:ext>
            </a:extLst>
          </p:cNvPr>
          <p:cNvPicPr>
            <a:picLocks/>
          </p:cNvPicPr>
          <p:nvPr/>
        </p:nvPicPr>
        <p:blipFill>
          <a:blip r:embed="rId7"/>
          <a:stretch>
            <a:fillRect/>
          </a:stretch>
        </p:blipFill>
        <p:spPr>
          <a:xfrm>
            <a:off x="3656459" y="3581400"/>
            <a:ext cx="1932682" cy="1905000"/>
          </a:xfrm>
          <a:prstGeom prst="rect">
            <a:avLst/>
          </a:prstGeom>
        </p:spPr>
      </p:pic>
      <p:sp>
        <p:nvSpPr>
          <p:cNvPr id="43" name="TextBox 42">
            <a:extLst>
              <a:ext uri="{FF2B5EF4-FFF2-40B4-BE49-F238E27FC236}">
                <a16:creationId xmlns:a16="http://schemas.microsoft.com/office/drawing/2014/main" id="{DA9801F9-AB9F-4582-F3FD-A308E9EEAA79}"/>
              </a:ext>
            </a:extLst>
          </p:cNvPr>
          <p:cNvSpPr txBox="1"/>
          <p:nvPr/>
        </p:nvSpPr>
        <p:spPr bwMode="auto">
          <a:xfrm>
            <a:off x="3200400" y="5499100"/>
            <a:ext cx="2844800" cy="230832"/>
          </a:xfrm>
          <a:prstGeom prst="rect">
            <a:avLst/>
          </a:prstGeom>
          <a:noFill/>
          <a:ln w="9525">
            <a:noFill/>
            <a:miter lim="800000"/>
            <a:headEnd/>
            <a:tailEnd/>
          </a:ln>
          <a:effectLst/>
        </p:spPr>
        <p:txBody>
          <a:bodyPr vert="horz" wrap="square" lIns="0" rtlCol="0">
            <a:spAutoFit/>
          </a:bodyPr>
          <a:lstStyle/>
          <a:p>
            <a:pPr algn="ctr">
              <a:spcBef>
                <a:spcPct val="50000"/>
              </a:spcBef>
            </a:pPr>
            <a:r>
              <a:rPr lang="en-GB" sz="900" i="1">
                <a:solidFill>
                  <a:srgbClr val="56626F"/>
                </a:solidFill>
                <a:latin typeface="Arial" panose="020B0604020202020204" pitchFamily="34" charset="0"/>
                <a:cs typeface="Arial"/>
              </a:rPr>
              <a:t>1250 mm + surroundings</a:t>
            </a:r>
            <a:endParaRPr lang="en-GB" sz="900" i="1" dirty="0">
              <a:solidFill>
                <a:srgbClr val="56626F"/>
              </a:solidFill>
              <a:latin typeface="Arial" panose="020B0604020202020204" pitchFamily="34" charset="0"/>
              <a:cs typeface="Arial"/>
            </a:endParaRPr>
          </a:p>
        </p:txBody>
      </p:sp>
      <p:pic>
        <p:nvPicPr>
          <p:cNvPr id="45" name="Picture 44">
            <a:extLst>
              <a:ext uri="{FF2B5EF4-FFF2-40B4-BE49-F238E27FC236}">
                <a16:creationId xmlns:a16="http://schemas.microsoft.com/office/drawing/2014/main" id="{C6B32EB5-2F11-F96C-59D9-757F9F1967F0}"/>
              </a:ext>
            </a:extLst>
          </p:cNvPr>
          <p:cNvPicPr>
            <a:picLocks/>
          </p:cNvPicPr>
          <p:nvPr/>
        </p:nvPicPr>
        <p:blipFill>
          <a:blip r:embed="rId8"/>
          <a:stretch>
            <a:fillRect/>
          </a:stretch>
        </p:blipFill>
        <p:spPr>
          <a:xfrm>
            <a:off x="6602859" y="3581400"/>
            <a:ext cx="1932682" cy="1905000"/>
          </a:xfrm>
          <a:prstGeom prst="rect">
            <a:avLst/>
          </a:prstGeom>
        </p:spPr>
      </p:pic>
      <p:sp>
        <p:nvSpPr>
          <p:cNvPr id="46" name="TextBox 45">
            <a:extLst>
              <a:ext uri="{FF2B5EF4-FFF2-40B4-BE49-F238E27FC236}">
                <a16:creationId xmlns:a16="http://schemas.microsoft.com/office/drawing/2014/main" id="{986E04CA-AADF-662F-6650-909957D2A836}"/>
              </a:ext>
            </a:extLst>
          </p:cNvPr>
          <p:cNvSpPr txBox="1"/>
          <p:nvPr/>
        </p:nvSpPr>
        <p:spPr bwMode="auto">
          <a:xfrm>
            <a:off x="6146800" y="5499100"/>
            <a:ext cx="2844800" cy="230832"/>
          </a:xfrm>
          <a:prstGeom prst="rect">
            <a:avLst/>
          </a:prstGeom>
          <a:noFill/>
          <a:ln w="9525">
            <a:noFill/>
            <a:miter lim="800000"/>
            <a:headEnd/>
            <a:tailEnd/>
          </a:ln>
          <a:effectLst/>
        </p:spPr>
        <p:txBody>
          <a:bodyPr vert="horz" wrap="square" lIns="0" rtlCol="0">
            <a:spAutoFit/>
          </a:bodyPr>
          <a:lstStyle/>
          <a:p>
            <a:pPr algn="ctr">
              <a:spcBef>
                <a:spcPct val="50000"/>
              </a:spcBef>
            </a:pPr>
            <a:r>
              <a:rPr lang="en-US" sz="900" i="1">
                <a:solidFill>
                  <a:srgbClr val="56626F"/>
                </a:solidFill>
                <a:latin typeface="Arial" panose="020B0604020202020204" pitchFamily="34" charset="0"/>
                <a:cs typeface="Arial"/>
              </a:rPr>
              <a:t>1500 mm + surroundings (Architect's option 2)</a:t>
            </a:r>
            <a:endParaRPr lang="en-GB" sz="900" i="1" dirty="0">
              <a:solidFill>
                <a:srgbClr val="56626F"/>
              </a:solidFill>
              <a:latin typeface="Arial" panose="020B0604020202020204" pitchFamily="34" charset="0"/>
              <a:cs typeface="Arial"/>
            </a:endParaRPr>
          </a:p>
        </p:txBody>
      </p:sp>
      <p:pic>
        <p:nvPicPr>
          <p:cNvPr id="48" name="Picture 47">
            <a:extLst>
              <a:ext uri="{FF2B5EF4-FFF2-40B4-BE49-F238E27FC236}">
                <a16:creationId xmlns:a16="http://schemas.microsoft.com/office/drawing/2014/main" id="{C5BBE6D8-CC0C-C5D8-8938-AB528B47F0C8}"/>
              </a:ext>
            </a:extLst>
          </p:cNvPr>
          <p:cNvPicPr>
            <a:picLocks/>
          </p:cNvPicPr>
          <p:nvPr/>
        </p:nvPicPr>
        <p:blipFill>
          <a:blip r:embed="rId9"/>
          <a:stretch>
            <a:fillRect/>
          </a:stretch>
        </p:blipFill>
        <p:spPr>
          <a:xfrm>
            <a:off x="8864600" y="3620039"/>
            <a:ext cx="457200" cy="1759527"/>
          </a:xfrm>
          <a:prstGeom prst="rect">
            <a:avLst/>
          </a:prstGeom>
        </p:spPr>
      </p:pic>
      <p:sp>
        <p:nvSpPr>
          <p:cNvPr id="49" name="TextBox 48">
            <a:extLst>
              <a:ext uri="{FF2B5EF4-FFF2-40B4-BE49-F238E27FC236}">
                <a16:creationId xmlns:a16="http://schemas.microsoft.com/office/drawing/2014/main" id="{D4D18587-A995-EBBA-9296-DF2C2EB7F581}"/>
              </a:ext>
            </a:extLst>
          </p:cNvPr>
          <p:cNvSpPr txBox="1"/>
          <p:nvPr/>
        </p:nvSpPr>
        <p:spPr bwMode="auto">
          <a:xfrm>
            <a:off x="9702800" y="3737978"/>
            <a:ext cx="2235200" cy="1792798"/>
          </a:xfrm>
          <a:prstGeom prst="rect">
            <a:avLst/>
          </a:prstGeom>
          <a:noFill/>
          <a:ln w="9525">
            <a:noFill/>
            <a:miter lim="800000"/>
            <a:headEnd/>
            <a:tailEnd/>
          </a:ln>
          <a:effectLst/>
        </p:spPr>
        <p:txBody>
          <a:bodyPr vert="horz" wrap="square" lIns="0" rtlCol="0">
            <a:spAutoFit/>
          </a:bodyPr>
          <a:lstStyle/>
          <a:p>
            <a:pPr>
              <a:spcBef>
                <a:spcPct val="50000"/>
              </a:spcBef>
            </a:pPr>
            <a:r>
              <a:rPr lang="en-US" sz="850" dirty="0" err="1">
                <a:solidFill>
                  <a:srgbClr val="56626F"/>
                </a:solidFill>
                <a:latin typeface="Arial" panose="020B0604020202020204" pitchFamily="34" charset="0"/>
                <a:cs typeface="Arial"/>
              </a:rPr>
              <a:t>Colours</a:t>
            </a:r>
            <a:r>
              <a:rPr lang="en-US" sz="850" dirty="0">
                <a:solidFill>
                  <a:srgbClr val="56626F"/>
                </a:solidFill>
                <a:latin typeface="Arial" panose="020B0604020202020204" pitchFamily="34" charset="0"/>
                <a:cs typeface="Arial"/>
              </a:rPr>
              <a:t>: solar radiation from each patch of sky, occupied hours (08–18, Mon–Fri) [kWh/m²]</a:t>
            </a:r>
          </a:p>
          <a:p>
            <a:pPr>
              <a:spcBef>
                <a:spcPct val="50000"/>
              </a:spcBef>
            </a:pPr>
            <a:r>
              <a:rPr lang="en-US" sz="850" dirty="0">
                <a:solidFill>
                  <a:srgbClr val="56626F"/>
                </a:solidFill>
                <a:latin typeface="Arial" panose="020B0604020202020204" pitchFamily="34" charset="0"/>
                <a:cs typeface="Arial"/>
              </a:rPr>
              <a:t>Black: sky behind the façade</a:t>
            </a:r>
          </a:p>
          <a:p>
            <a:pPr>
              <a:spcBef>
                <a:spcPct val="50000"/>
              </a:spcBef>
            </a:pPr>
            <a:r>
              <a:rPr lang="en-US" sz="850" dirty="0">
                <a:solidFill>
                  <a:srgbClr val="56626F"/>
                </a:solidFill>
                <a:latin typeface="Arial" panose="020B0604020202020204" pitchFamily="34" charset="0"/>
                <a:cs typeface="Arial"/>
              </a:rPr>
              <a:t>Grey: sky blocked by the canopy and surrounding buildings</a:t>
            </a:r>
          </a:p>
          <a:p>
            <a:pPr>
              <a:spcBef>
                <a:spcPct val="50000"/>
              </a:spcBef>
            </a:pPr>
            <a:r>
              <a:rPr lang="en-US" sz="850" dirty="0">
                <a:solidFill>
                  <a:srgbClr val="56626F"/>
                </a:solidFill>
                <a:latin typeface="Arial" panose="020B0604020202020204" pitchFamily="34" charset="0"/>
                <a:cs typeface="Arial"/>
              </a:rPr>
              <a:t>White figure-8s: sun position at each clock hour through the year (labels on 21 June)</a:t>
            </a:r>
          </a:p>
          <a:p>
            <a:pPr>
              <a:spcBef>
                <a:spcPct val="50000"/>
              </a:spcBef>
            </a:pPr>
            <a:r>
              <a:rPr lang="en-US" sz="850" dirty="0">
                <a:solidFill>
                  <a:srgbClr val="56626F"/>
                </a:solidFill>
                <a:latin typeface="Arial" panose="020B0604020202020204" pitchFamily="34" charset="0"/>
                <a:cs typeface="Arial"/>
              </a:rPr>
              <a:t>Orange: peak window, May–Jul 08:00–11:00 (hours with ≥ 80 % of the annual peak solar load)</a:t>
            </a:r>
            <a:endParaRPr lang="en-GB" sz="850" dirty="0">
              <a:solidFill>
                <a:srgbClr val="56626F"/>
              </a:solidFill>
              <a:latin typeface="Arial" panose="020B0604020202020204" pitchFamily="34" charset="0"/>
              <a:cs typeface="Arial"/>
            </a:endParaRPr>
          </a:p>
        </p:txBody>
      </p:sp>
      <p:sp>
        <p:nvSpPr>
          <p:cNvPr id="50" name="TextBox 49">
            <a:extLst>
              <a:ext uri="{FF2B5EF4-FFF2-40B4-BE49-F238E27FC236}">
                <a16:creationId xmlns:a16="http://schemas.microsoft.com/office/drawing/2014/main" id="{47C6DA4E-B88D-2530-6027-AA5DF2EE4B49}"/>
              </a:ext>
            </a:extLst>
          </p:cNvPr>
          <p:cNvSpPr txBox="1"/>
          <p:nvPr/>
        </p:nvSpPr>
        <p:spPr bwMode="auto">
          <a:xfrm>
            <a:off x="1524000" y="5969000"/>
            <a:ext cx="10414000" cy="604012"/>
          </a:xfrm>
          <a:prstGeom prst="rect">
            <a:avLst/>
          </a:prstGeom>
          <a:noFill/>
          <a:ln w="9525">
            <a:noFill/>
            <a:miter lim="800000"/>
            <a:headEnd/>
            <a:tailEnd/>
          </a:ln>
          <a:effectLst/>
        </p:spPr>
        <p:txBody>
          <a:bodyPr vert="horz" wrap="square" lIns="0" rtlCol="0">
            <a:spAutoFit/>
          </a:bodyPr>
          <a:lstStyle/>
          <a:p>
            <a:pPr>
              <a:spcBef>
                <a:spcPct val="50000"/>
              </a:spcBef>
            </a:pPr>
            <a:r>
              <a:rPr lang="en-US" sz="950" dirty="0">
                <a:solidFill>
                  <a:srgbClr val="56626F"/>
                </a:solidFill>
                <a:latin typeface="Arial" panose="020B0604020202020204" pitchFamily="34" charset="0"/>
                <a:cs typeface="Arial"/>
              </a:rPr>
              <a:t>Deepening the canopy grows the grey mask down from the top of the sky. The sun that drives the peak (orange) sits low in the east-north-east: from the </a:t>
            </a:r>
            <a:r>
              <a:rPr lang="en-US" sz="950" dirty="0" err="1">
                <a:solidFill>
                  <a:srgbClr val="56626F"/>
                </a:solidFill>
                <a:latin typeface="Arial" panose="020B0604020202020204" pitchFamily="34" charset="0"/>
                <a:cs typeface="Arial"/>
              </a:rPr>
              <a:t>centre</a:t>
            </a:r>
            <a:r>
              <a:rPr lang="en-US" sz="950" dirty="0">
                <a:solidFill>
                  <a:srgbClr val="56626F"/>
                </a:solidFill>
                <a:latin typeface="Arial" panose="020B0604020202020204" pitchFamily="34" charset="0"/>
                <a:cs typeface="Arial"/>
              </a:rPr>
              <a:t> of the pane the deeper canopies hide the 10:00–11:00 sun, but the 08:00–09:00 sun still reaches the glass even at 1.5 m depth. </a:t>
            </a:r>
          </a:p>
          <a:p>
            <a:pPr>
              <a:spcBef>
                <a:spcPct val="50000"/>
              </a:spcBef>
            </a:pPr>
            <a:r>
              <a:rPr lang="en-US" sz="950" dirty="0">
                <a:solidFill>
                  <a:srgbClr val="56626F"/>
                </a:solidFill>
                <a:latin typeface="Arial" panose="020B0604020202020204" pitchFamily="34" charset="0"/>
                <a:cs typeface="Arial"/>
              </a:rPr>
              <a:t>Take-away: the radiation peak on the façade happens on May–July mornings, so it is the morning sun that is driving the peak solar power on the facade.</a:t>
            </a:r>
            <a:endParaRPr lang="en-GB" sz="950" dirty="0">
              <a:solidFill>
                <a:srgbClr val="56626F"/>
              </a:solidFill>
              <a:latin typeface="Arial" panose="020B0604020202020204" pitchFamily="34" charset="0"/>
              <a:cs typeface="Arial"/>
            </a:endParaRPr>
          </a:p>
        </p:txBody>
      </p:sp>
    </p:spTree>
    <p:extLst>
      <p:ext uri="{BB962C8B-B14F-4D97-AF65-F5344CB8AC3E}">
        <p14:creationId xmlns:p14="http://schemas.microsoft.com/office/powerpoint/2010/main" val="14006220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357DA-425F-A7B5-25B3-169896A4A94A}"/>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1E7C24B8-BA65-0FC0-5D58-8638B8929328}"/>
              </a:ext>
            </a:extLst>
          </p:cNvPr>
          <p:cNvSpPr>
            <a:spLocks noGrp="1"/>
          </p:cNvSpPr>
          <p:nvPr>
            <p:ph type="body" sz="quarter" idx="10"/>
          </p:nvPr>
        </p:nvSpPr>
        <p:spPr/>
        <p:txBody>
          <a:bodyPr/>
          <a:lstStyle/>
          <a:p>
            <a:r>
              <a:rPr lang="en-US" sz="3600" dirty="0"/>
              <a:t>Solar control using glass coating</a:t>
            </a:r>
            <a:endParaRPr lang="en-GB" sz="3600" dirty="0"/>
          </a:p>
        </p:txBody>
      </p:sp>
    </p:spTree>
    <p:extLst>
      <p:ext uri="{BB962C8B-B14F-4D97-AF65-F5344CB8AC3E}">
        <p14:creationId xmlns:p14="http://schemas.microsoft.com/office/powerpoint/2010/main" val="19944185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B47C8EC-4715-6E4B-E601-913610DE18C5}"/>
              </a:ext>
            </a:extLst>
          </p:cNvPr>
          <p:cNvSpPr>
            <a:spLocks noGrp="1"/>
          </p:cNvSpPr>
          <p:nvPr>
            <p:ph type="body" sz="quarter" idx="10"/>
          </p:nvPr>
        </p:nvSpPr>
        <p:spPr>
          <a:xfrm>
            <a:off x="335360" y="260648"/>
            <a:ext cx="11521279" cy="553998"/>
          </a:xfrm>
        </p:spPr>
        <p:txBody>
          <a:bodyPr/>
          <a:lstStyle/>
          <a:p>
            <a:r>
              <a:rPr lang="en-GB" dirty="0"/>
              <a:t>Glazing performance</a:t>
            </a:r>
          </a:p>
        </p:txBody>
      </p:sp>
      <p:sp>
        <p:nvSpPr>
          <p:cNvPr id="4" name="Text Placeholder 3">
            <a:extLst>
              <a:ext uri="{FF2B5EF4-FFF2-40B4-BE49-F238E27FC236}">
                <a16:creationId xmlns:a16="http://schemas.microsoft.com/office/drawing/2014/main" id="{5419A10E-7F36-83BE-9582-4B2A72F4FEFA}"/>
              </a:ext>
            </a:extLst>
          </p:cNvPr>
          <p:cNvSpPr>
            <a:spLocks noGrp="1"/>
          </p:cNvSpPr>
          <p:nvPr>
            <p:ph type="body" sz="quarter" idx="15"/>
          </p:nvPr>
        </p:nvSpPr>
        <p:spPr>
          <a:xfrm>
            <a:off x="335360" y="897755"/>
            <a:ext cx="5645714" cy="307777"/>
          </a:xfrm>
        </p:spPr>
        <p:txBody>
          <a:bodyPr/>
          <a:lstStyle/>
          <a:p>
            <a:r>
              <a:rPr lang="en-GB" b="1" dirty="0"/>
              <a:t>Introduction</a:t>
            </a:r>
          </a:p>
        </p:txBody>
      </p:sp>
      <p:sp>
        <p:nvSpPr>
          <p:cNvPr id="7" name="TextBox 6">
            <a:extLst>
              <a:ext uri="{FF2B5EF4-FFF2-40B4-BE49-F238E27FC236}">
                <a16:creationId xmlns:a16="http://schemas.microsoft.com/office/drawing/2014/main" id="{DF5F0B59-1A7D-A44A-30D9-ECCFB91F7366}"/>
              </a:ext>
            </a:extLst>
          </p:cNvPr>
          <p:cNvSpPr txBox="1"/>
          <p:nvPr/>
        </p:nvSpPr>
        <p:spPr bwMode="auto">
          <a:xfrm>
            <a:off x="329769" y="1491467"/>
            <a:ext cx="5618031" cy="1323439"/>
          </a:xfrm>
          <a:prstGeom prst="rect">
            <a:avLst/>
          </a:prstGeom>
          <a:noFill/>
          <a:ln w="9525">
            <a:noFill/>
            <a:miter lim="800000"/>
            <a:headEnd/>
            <a:tailEnd/>
          </a:ln>
          <a:effectLst/>
        </p:spPr>
        <p:txBody>
          <a:bodyPr wrap="square" lIns="0" rtlCol="0">
            <a:spAutoFit/>
          </a:bodyPr>
          <a:lstStyle/>
          <a:p>
            <a:r>
              <a:rPr lang="en-US" sz="1000" dirty="0"/>
              <a:t>When designing glazing, the goal is to achieve a balance between views out, daylight, thermal insulation, and solar gains to ensure occupant comfort and wellbeing. Achieving the right balance between thermal performance and daylight quality depends on key parameters such as </a:t>
            </a:r>
            <a:r>
              <a:rPr lang="en-US" sz="1000" b="1" dirty="0"/>
              <a:t>the U-value, g-value, and visible light transmission</a:t>
            </a:r>
            <a:r>
              <a:rPr lang="en-US" sz="1000" dirty="0"/>
              <a:t>, which represent respectively the thermal insulation and solar control properties of the glass. Additional factors influencing solar performance include the color rendering index (CRI), which measures how closely the interior light resembles natural daylight.</a:t>
            </a:r>
          </a:p>
          <a:p>
            <a:endParaRPr lang="en-US" sz="1000" dirty="0"/>
          </a:p>
        </p:txBody>
      </p:sp>
      <p:pic>
        <p:nvPicPr>
          <p:cNvPr id="10" name="Picture 9">
            <a:extLst>
              <a:ext uri="{FF2B5EF4-FFF2-40B4-BE49-F238E27FC236}">
                <a16:creationId xmlns:a16="http://schemas.microsoft.com/office/drawing/2014/main" id="{BE588B07-30AA-2344-48EF-67A5DB74662A}"/>
              </a:ext>
            </a:extLst>
          </p:cNvPr>
          <p:cNvPicPr>
            <a:picLocks noChangeAspect="1"/>
          </p:cNvPicPr>
          <p:nvPr/>
        </p:nvPicPr>
        <p:blipFill>
          <a:blip r:embed="rId2"/>
          <a:stretch>
            <a:fillRect/>
          </a:stretch>
        </p:blipFill>
        <p:spPr>
          <a:xfrm>
            <a:off x="1371668" y="2871171"/>
            <a:ext cx="3886200" cy="2647950"/>
          </a:xfrm>
          <a:prstGeom prst="rect">
            <a:avLst/>
          </a:prstGeom>
        </p:spPr>
      </p:pic>
      <p:sp>
        <p:nvSpPr>
          <p:cNvPr id="11" name="TextBox 10">
            <a:extLst>
              <a:ext uri="{FF2B5EF4-FFF2-40B4-BE49-F238E27FC236}">
                <a16:creationId xmlns:a16="http://schemas.microsoft.com/office/drawing/2014/main" id="{1A9FE157-065C-3B57-292C-5A92BCB118EE}"/>
              </a:ext>
            </a:extLst>
          </p:cNvPr>
          <p:cNvSpPr txBox="1"/>
          <p:nvPr/>
        </p:nvSpPr>
        <p:spPr bwMode="auto">
          <a:xfrm>
            <a:off x="6224768" y="1491466"/>
            <a:ext cx="5618031" cy="1631216"/>
          </a:xfrm>
          <a:prstGeom prst="rect">
            <a:avLst/>
          </a:prstGeom>
          <a:noFill/>
          <a:ln w="9525">
            <a:noFill/>
            <a:miter lim="800000"/>
            <a:headEnd/>
            <a:tailEnd/>
          </a:ln>
          <a:effectLst/>
        </p:spPr>
        <p:txBody>
          <a:bodyPr wrap="square" lIns="0" rtlCol="0">
            <a:spAutoFit/>
          </a:bodyPr>
          <a:lstStyle/>
          <a:p>
            <a:r>
              <a:rPr lang="en-US" sz="1000" dirty="0"/>
              <a:t>The g-value represents the total energy transmitted through a glazing surface. It is composed of:</a:t>
            </a:r>
          </a:p>
          <a:p>
            <a:pPr marL="171450" indent="-171450">
              <a:buFont typeface="Arial" panose="020B0604020202020204" pitchFamily="34" charset="0"/>
              <a:buChar char="—"/>
            </a:pPr>
            <a:r>
              <a:rPr lang="en-US" sz="1000" dirty="0"/>
              <a:t>7% ultraviolet radiation, </a:t>
            </a:r>
          </a:p>
          <a:p>
            <a:pPr marL="171450" indent="-171450">
              <a:buFont typeface="Arial" panose="020B0604020202020204" pitchFamily="34" charset="0"/>
              <a:buChar char="—"/>
            </a:pPr>
            <a:r>
              <a:rPr lang="en-US" sz="1000" dirty="0"/>
              <a:t>44% visible light, with light transmittance measured across the visible spectrum only, and </a:t>
            </a:r>
          </a:p>
          <a:p>
            <a:pPr marL="171450" indent="-171450">
              <a:buFont typeface="Arial" panose="020B0604020202020204" pitchFamily="34" charset="0"/>
              <a:buChar char="—"/>
            </a:pPr>
            <a:r>
              <a:rPr lang="en-US" sz="1000" dirty="0"/>
              <a:t>49% infrared radiation, which contributes to solar heat gains.</a:t>
            </a:r>
          </a:p>
          <a:p>
            <a:endParaRPr lang="en-US" sz="1000" dirty="0"/>
          </a:p>
          <a:p>
            <a:r>
              <a:rPr lang="en-US" sz="1000" dirty="0"/>
              <a:t>Consequently, specifying a g-value below 0.44 will reduce the amount of transmitted visible light. Additionally, the color rendering index (CRI) drops significantly for coatings with a g-value below 0.4, affecting the quality of interior daylight.</a:t>
            </a:r>
          </a:p>
          <a:p>
            <a:endParaRPr lang="en-US" sz="1000" dirty="0"/>
          </a:p>
          <a:p>
            <a:endParaRPr lang="en-US" sz="1000" dirty="0"/>
          </a:p>
        </p:txBody>
      </p:sp>
      <p:pic>
        <p:nvPicPr>
          <p:cNvPr id="12" name="Picture 11">
            <a:extLst>
              <a:ext uri="{FF2B5EF4-FFF2-40B4-BE49-F238E27FC236}">
                <a16:creationId xmlns:a16="http://schemas.microsoft.com/office/drawing/2014/main" id="{AF9BE0F6-1173-546D-C212-98073F3516C2}"/>
              </a:ext>
            </a:extLst>
          </p:cNvPr>
          <p:cNvPicPr>
            <a:picLocks noChangeAspect="1"/>
          </p:cNvPicPr>
          <p:nvPr/>
        </p:nvPicPr>
        <p:blipFill>
          <a:blip r:embed="rId3"/>
          <a:stretch>
            <a:fillRect/>
          </a:stretch>
        </p:blipFill>
        <p:spPr>
          <a:xfrm>
            <a:off x="6858000" y="2871171"/>
            <a:ext cx="4017899" cy="2972745"/>
          </a:xfrm>
          <a:prstGeom prst="rect">
            <a:avLst/>
          </a:prstGeom>
        </p:spPr>
      </p:pic>
      <p:sp>
        <p:nvSpPr>
          <p:cNvPr id="13" name="TextBox 12">
            <a:extLst>
              <a:ext uri="{FF2B5EF4-FFF2-40B4-BE49-F238E27FC236}">
                <a16:creationId xmlns:a16="http://schemas.microsoft.com/office/drawing/2014/main" id="{10180DDA-ADF4-2912-9758-3F9B23CF63B3}"/>
              </a:ext>
            </a:extLst>
          </p:cNvPr>
          <p:cNvSpPr txBox="1"/>
          <p:nvPr/>
        </p:nvSpPr>
        <p:spPr bwMode="auto">
          <a:xfrm>
            <a:off x="1511766" y="5828899"/>
            <a:ext cx="3886200" cy="215444"/>
          </a:xfrm>
          <a:prstGeom prst="rect">
            <a:avLst/>
          </a:prstGeom>
          <a:noFill/>
          <a:ln w="9525">
            <a:noFill/>
            <a:miter lim="800000"/>
            <a:headEnd/>
            <a:tailEnd/>
          </a:ln>
          <a:effectLst/>
        </p:spPr>
        <p:txBody>
          <a:bodyPr wrap="square" lIns="0" rtlCol="0">
            <a:spAutoFit/>
          </a:bodyPr>
          <a:lstStyle/>
          <a:p>
            <a:pPr>
              <a:spcBef>
                <a:spcPct val="50000"/>
              </a:spcBef>
            </a:pPr>
            <a:r>
              <a:rPr lang="en-GB" sz="800" dirty="0">
                <a:latin typeface="Arial"/>
                <a:cs typeface="Arial"/>
              </a:rPr>
              <a:t>Solar radiation reflection, transmission and emission scheme in an IGU</a:t>
            </a:r>
          </a:p>
        </p:txBody>
      </p:sp>
      <p:sp>
        <p:nvSpPr>
          <p:cNvPr id="14" name="TextBox 13">
            <a:extLst>
              <a:ext uri="{FF2B5EF4-FFF2-40B4-BE49-F238E27FC236}">
                <a16:creationId xmlns:a16="http://schemas.microsoft.com/office/drawing/2014/main" id="{16A9B88E-C71D-4F4D-245E-F2BC05EC3471}"/>
              </a:ext>
            </a:extLst>
          </p:cNvPr>
          <p:cNvSpPr txBox="1"/>
          <p:nvPr/>
        </p:nvSpPr>
        <p:spPr bwMode="auto">
          <a:xfrm>
            <a:off x="8458200" y="5843916"/>
            <a:ext cx="3886200" cy="215444"/>
          </a:xfrm>
          <a:prstGeom prst="rect">
            <a:avLst/>
          </a:prstGeom>
          <a:noFill/>
          <a:ln w="9525">
            <a:noFill/>
            <a:miter lim="800000"/>
            <a:headEnd/>
            <a:tailEnd/>
          </a:ln>
          <a:effectLst/>
        </p:spPr>
        <p:txBody>
          <a:bodyPr wrap="square" lIns="0" rtlCol="0">
            <a:spAutoFit/>
          </a:bodyPr>
          <a:lstStyle/>
          <a:p>
            <a:pPr>
              <a:spcBef>
                <a:spcPct val="50000"/>
              </a:spcBef>
            </a:pPr>
            <a:r>
              <a:rPr lang="en-GB" sz="800" dirty="0">
                <a:latin typeface="Arial"/>
                <a:cs typeface="Arial"/>
              </a:rPr>
              <a:t>Schematic representation of g-value</a:t>
            </a:r>
          </a:p>
        </p:txBody>
      </p:sp>
    </p:spTree>
    <p:extLst>
      <p:ext uri="{BB962C8B-B14F-4D97-AF65-F5344CB8AC3E}">
        <p14:creationId xmlns:p14="http://schemas.microsoft.com/office/powerpoint/2010/main" val="22689084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 name="Arrow: Right 36">
            <a:extLst>
              <a:ext uri="{FF2B5EF4-FFF2-40B4-BE49-F238E27FC236}">
                <a16:creationId xmlns:a16="http://schemas.microsoft.com/office/drawing/2014/main" id="{768F96BD-00DD-00D2-AEC6-54EBB6FA5825}"/>
              </a:ext>
            </a:extLst>
          </p:cNvPr>
          <p:cNvSpPr/>
          <p:nvPr/>
        </p:nvSpPr>
        <p:spPr>
          <a:xfrm>
            <a:off x="1355540" y="1769755"/>
            <a:ext cx="9512768" cy="115762"/>
          </a:xfrm>
          <a:prstGeom prst="rightArrow">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F8F76A72-7429-FA74-9EDD-098CF89F6717}"/>
              </a:ext>
            </a:extLst>
          </p:cNvPr>
          <p:cNvSpPr>
            <a:spLocks noGrp="1"/>
          </p:cNvSpPr>
          <p:nvPr>
            <p:ph type="body" sz="quarter" idx="10"/>
          </p:nvPr>
        </p:nvSpPr>
        <p:spPr/>
        <p:txBody>
          <a:bodyPr/>
          <a:lstStyle/>
          <a:p>
            <a:r>
              <a:rPr lang="en-GB" dirty="0"/>
              <a:t>Glass coating types</a:t>
            </a:r>
          </a:p>
        </p:txBody>
      </p:sp>
      <p:sp>
        <p:nvSpPr>
          <p:cNvPr id="7" name="Text Placeholder 6">
            <a:extLst>
              <a:ext uri="{FF2B5EF4-FFF2-40B4-BE49-F238E27FC236}">
                <a16:creationId xmlns:a16="http://schemas.microsoft.com/office/drawing/2014/main" id="{EECCC39D-0E24-D07A-C38F-6C930EF507D6}"/>
              </a:ext>
            </a:extLst>
          </p:cNvPr>
          <p:cNvSpPr>
            <a:spLocks noGrp="1"/>
          </p:cNvSpPr>
          <p:nvPr>
            <p:ph type="body" sz="quarter" idx="12"/>
          </p:nvPr>
        </p:nvSpPr>
        <p:spPr>
          <a:xfrm>
            <a:off x="335359" y="891713"/>
            <a:ext cx="11521279" cy="307777"/>
          </a:xfrm>
        </p:spPr>
        <p:txBody>
          <a:bodyPr/>
          <a:lstStyle/>
          <a:p>
            <a:r>
              <a:rPr lang="en-US" dirty="0"/>
              <a:t>Overview</a:t>
            </a:r>
            <a:endParaRPr lang="en-GB" dirty="0"/>
          </a:p>
        </p:txBody>
      </p:sp>
      <p:sp>
        <p:nvSpPr>
          <p:cNvPr id="8" name="Text Placeholder 2">
            <a:extLst>
              <a:ext uri="{FF2B5EF4-FFF2-40B4-BE49-F238E27FC236}">
                <a16:creationId xmlns:a16="http://schemas.microsoft.com/office/drawing/2014/main" id="{1D8C9F7B-060E-E923-DF1C-8C7F5079E1E6}"/>
              </a:ext>
            </a:extLst>
          </p:cNvPr>
          <p:cNvSpPr txBox="1">
            <a:spLocks/>
          </p:cNvSpPr>
          <p:nvPr/>
        </p:nvSpPr>
        <p:spPr>
          <a:xfrm>
            <a:off x="216306" y="1585530"/>
            <a:ext cx="1025902" cy="692497"/>
          </a:xfrm>
          <a:prstGeom prst="rect">
            <a:avLst/>
          </a:prstGeom>
        </p:spPr>
        <p:txBody>
          <a:bodyPr wrap="square" lIns="0" tIns="0" rIns="0" bIns="0">
            <a:spAutoFit/>
          </a:bodyPr>
          <a:lstStyle>
            <a:lvl1pPr marL="0" indent="0" algn="l" defTabSz="1007943" rtl="0" eaLnBrk="1" latinLnBrk="0" hangingPunct="1">
              <a:lnSpc>
                <a:spcPts val="1200"/>
              </a:lnSpc>
              <a:spcBef>
                <a:spcPts val="0"/>
              </a:spcBef>
              <a:spcAft>
                <a:spcPts val="1200"/>
              </a:spcAft>
              <a:buClr>
                <a:srgbClr val="696C71"/>
              </a:buClr>
              <a:buFont typeface="+mj-lt"/>
              <a:buNone/>
              <a:defRPr sz="900" b="0" i="0" kern="1200" spc="20" baseline="0">
                <a:solidFill>
                  <a:srgbClr val="696C71"/>
                </a:solidFill>
                <a:latin typeface="Arial" panose="020B0604020202020204" pitchFamily="34" charset="0"/>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algn="r" defTabSz="646495" fontAlgn="auto">
              <a:lnSpc>
                <a:spcPct val="100000"/>
              </a:lnSpc>
              <a:spcAft>
                <a:spcPts val="0"/>
              </a:spcAft>
              <a:defRPr/>
            </a:pPr>
            <a:r>
              <a:rPr lang="en-US" b="1" spc="13" dirty="0">
                <a:solidFill>
                  <a:schemeClr val="accent1"/>
                </a:solidFill>
                <a:latin typeface="+mn-lt"/>
                <a:ea typeface="Calibri" panose="020F0502020204030204" pitchFamily="34" charset="0"/>
                <a:cs typeface="Calibri" panose="020F0502020204030204" pitchFamily="34" charset="0"/>
              </a:rPr>
              <a:t>Less solar control</a:t>
            </a:r>
          </a:p>
          <a:p>
            <a:pPr algn="r" defTabSz="646495" fontAlgn="auto">
              <a:lnSpc>
                <a:spcPct val="100000"/>
              </a:lnSpc>
              <a:spcAft>
                <a:spcPts val="0"/>
              </a:spcAft>
              <a:defRPr/>
            </a:pPr>
            <a:r>
              <a:rPr lang="en-US" b="1" spc="13" dirty="0">
                <a:solidFill>
                  <a:schemeClr val="accent1"/>
                </a:solidFill>
                <a:latin typeface="+mn-lt"/>
                <a:ea typeface="Calibri" panose="020F0502020204030204" pitchFamily="34" charset="0"/>
                <a:cs typeface="Calibri" panose="020F0502020204030204" pitchFamily="34" charset="0"/>
              </a:rPr>
              <a:t>Less reflective</a:t>
            </a:r>
          </a:p>
          <a:p>
            <a:pPr algn="r" defTabSz="646495" fontAlgn="auto">
              <a:lnSpc>
                <a:spcPct val="100000"/>
              </a:lnSpc>
              <a:spcAft>
                <a:spcPts val="0"/>
              </a:spcAft>
              <a:defRPr/>
            </a:pPr>
            <a:r>
              <a:rPr lang="en-US" b="1" spc="13" dirty="0">
                <a:solidFill>
                  <a:schemeClr val="accent1"/>
                </a:solidFill>
                <a:latin typeface="+mn-lt"/>
                <a:ea typeface="Calibri" panose="020F0502020204030204" pitchFamily="34" charset="0"/>
                <a:cs typeface="Calibri" panose="020F0502020204030204" pitchFamily="34" charset="0"/>
              </a:rPr>
              <a:t>Less expensive</a:t>
            </a:r>
          </a:p>
          <a:p>
            <a:pPr algn="r" defTabSz="646495" fontAlgn="auto">
              <a:lnSpc>
                <a:spcPct val="100000"/>
              </a:lnSpc>
              <a:spcAft>
                <a:spcPts val="0"/>
              </a:spcAft>
              <a:defRPr/>
            </a:pPr>
            <a:r>
              <a:rPr lang="en-US" b="1" spc="13" dirty="0">
                <a:solidFill>
                  <a:schemeClr val="accent1"/>
                </a:solidFill>
                <a:latin typeface="+mn-lt"/>
                <a:ea typeface="Calibri" panose="020F0502020204030204" pitchFamily="34" charset="0"/>
                <a:cs typeface="Calibri" panose="020F0502020204030204" pitchFamily="34" charset="0"/>
              </a:rPr>
              <a:t>Higher CRI</a:t>
            </a:r>
          </a:p>
          <a:p>
            <a:pPr algn="r" defTabSz="646495" fontAlgn="auto">
              <a:lnSpc>
                <a:spcPct val="100000"/>
              </a:lnSpc>
              <a:spcAft>
                <a:spcPts val="0"/>
              </a:spcAft>
              <a:defRPr/>
            </a:pPr>
            <a:endParaRPr lang="en-US" b="1" spc="13" dirty="0">
              <a:solidFill>
                <a:schemeClr val="accent1"/>
              </a:solidFill>
              <a:latin typeface="+mn-lt"/>
              <a:ea typeface="Calibri" panose="020F0502020204030204" pitchFamily="34" charset="0"/>
              <a:cs typeface="Calibri" panose="020F0502020204030204" pitchFamily="34" charset="0"/>
            </a:endParaRPr>
          </a:p>
        </p:txBody>
      </p:sp>
      <p:sp>
        <p:nvSpPr>
          <p:cNvPr id="9" name="Text Placeholder 2">
            <a:extLst>
              <a:ext uri="{FF2B5EF4-FFF2-40B4-BE49-F238E27FC236}">
                <a16:creationId xmlns:a16="http://schemas.microsoft.com/office/drawing/2014/main" id="{03CD3E70-F31C-2F61-1BDC-E1404110EE52}"/>
              </a:ext>
            </a:extLst>
          </p:cNvPr>
          <p:cNvSpPr txBox="1">
            <a:spLocks/>
          </p:cNvSpPr>
          <p:nvPr/>
        </p:nvSpPr>
        <p:spPr>
          <a:xfrm>
            <a:off x="10978101" y="1585530"/>
            <a:ext cx="1131834" cy="553998"/>
          </a:xfrm>
          <a:prstGeom prst="rect">
            <a:avLst/>
          </a:prstGeom>
        </p:spPr>
        <p:txBody>
          <a:bodyPr wrap="square" lIns="0" tIns="0" rIns="0" bIns="0">
            <a:spAutoFit/>
          </a:bodyPr>
          <a:lstStyle>
            <a:lvl1pPr marL="0" indent="0" algn="l" defTabSz="1007943" rtl="0" eaLnBrk="1" latinLnBrk="0" hangingPunct="1">
              <a:lnSpc>
                <a:spcPts val="1200"/>
              </a:lnSpc>
              <a:spcBef>
                <a:spcPts val="0"/>
              </a:spcBef>
              <a:spcAft>
                <a:spcPts val="1200"/>
              </a:spcAft>
              <a:buClr>
                <a:srgbClr val="696C71"/>
              </a:buClr>
              <a:buFont typeface="+mj-lt"/>
              <a:buNone/>
              <a:defRPr sz="900" b="0" i="0" kern="1200" spc="20" baseline="0">
                <a:solidFill>
                  <a:srgbClr val="696C71"/>
                </a:solidFill>
                <a:latin typeface="Arial" panose="020B0604020202020204" pitchFamily="34" charset="0"/>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defTabSz="646495" fontAlgn="auto">
              <a:lnSpc>
                <a:spcPct val="100000"/>
              </a:lnSpc>
              <a:spcAft>
                <a:spcPts val="0"/>
              </a:spcAft>
              <a:defRPr/>
            </a:pPr>
            <a:r>
              <a:rPr lang="en-US" b="1" spc="13" dirty="0">
                <a:solidFill>
                  <a:schemeClr val="accent1"/>
                </a:solidFill>
              </a:rPr>
              <a:t>More solar control</a:t>
            </a:r>
          </a:p>
          <a:p>
            <a:pPr defTabSz="646495" fontAlgn="auto">
              <a:lnSpc>
                <a:spcPct val="100000"/>
              </a:lnSpc>
              <a:spcAft>
                <a:spcPts val="0"/>
              </a:spcAft>
              <a:defRPr/>
            </a:pPr>
            <a:r>
              <a:rPr lang="en-US" b="1" spc="13" dirty="0">
                <a:solidFill>
                  <a:schemeClr val="accent1"/>
                </a:solidFill>
              </a:rPr>
              <a:t>More reflective</a:t>
            </a:r>
          </a:p>
          <a:p>
            <a:pPr defTabSz="646495" fontAlgn="auto">
              <a:lnSpc>
                <a:spcPct val="100000"/>
              </a:lnSpc>
              <a:spcAft>
                <a:spcPts val="0"/>
              </a:spcAft>
              <a:defRPr/>
            </a:pPr>
            <a:r>
              <a:rPr lang="en-US" b="1" spc="13" dirty="0">
                <a:solidFill>
                  <a:schemeClr val="accent1"/>
                </a:solidFill>
              </a:rPr>
              <a:t>More expensive</a:t>
            </a:r>
          </a:p>
          <a:p>
            <a:pPr defTabSz="646495" fontAlgn="auto">
              <a:lnSpc>
                <a:spcPct val="100000"/>
              </a:lnSpc>
              <a:spcAft>
                <a:spcPts val="0"/>
              </a:spcAft>
              <a:defRPr/>
            </a:pPr>
            <a:r>
              <a:rPr lang="en-US" b="1" spc="13" dirty="0">
                <a:solidFill>
                  <a:schemeClr val="accent1"/>
                </a:solidFill>
              </a:rPr>
              <a:t>Lower CRI</a:t>
            </a:r>
          </a:p>
        </p:txBody>
      </p:sp>
      <p:grpSp>
        <p:nvGrpSpPr>
          <p:cNvPr id="35" name="Group 34">
            <a:extLst>
              <a:ext uri="{FF2B5EF4-FFF2-40B4-BE49-F238E27FC236}">
                <a16:creationId xmlns:a16="http://schemas.microsoft.com/office/drawing/2014/main" id="{A3AD9576-5925-D39E-F15D-BBF62123D77F}"/>
              </a:ext>
            </a:extLst>
          </p:cNvPr>
          <p:cNvGrpSpPr/>
          <p:nvPr/>
        </p:nvGrpSpPr>
        <p:grpSpPr>
          <a:xfrm>
            <a:off x="1490712" y="1522218"/>
            <a:ext cx="2977611" cy="4142460"/>
            <a:chOff x="1432367" y="2365282"/>
            <a:chExt cx="2977611" cy="4142460"/>
          </a:xfrm>
        </p:grpSpPr>
        <p:sp>
          <p:nvSpPr>
            <p:cNvPr id="5" name="Rectangle: Rounded Corners 4">
              <a:extLst>
                <a:ext uri="{FF2B5EF4-FFF2-40B4-BE49-F238E27FC236}">
                  <a16:creationId xmlns:a16="http://schemas.microsoft.com/office/drawing/2014/main" id="{9417420A-2AEC-FCA8-7B9F-0EDF8B75C810}"/>
                </a:ext>
              </a:extLst>
            </p:cNvPr>
            <p:cNvSpPr/>
            <p:nvPr/>
          </p:nvSpPr>
          <p:spPr>
            <a:xfrm>
              <a:off x="1432367" y="2365282"/>
              <a:ext cx="2977611" cy="4142460"/>
            </a:xfrm>
            <a:prstGeom prst="roundRect">
              <a:avLst>
                <a:gd name="adj" fmla="val 4759"/>
              </a:avLst>
            </a:prstGeom>
            <a:solidFill>
              <a:srgbClr val="FFFFFF">
                <a:alpha val="69804"/>
              </a:srgbClr>
            </a:solidFill>
            <a:ln>
              <a:solidFill>
                <a:schemeClr val="tx1">
                  <a:lumMod val="60000"/>
                  <a:lumOff val="40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nvGrpSpPr>
            <p:cNvPr id="6" name="Group 5">
              <a:extLst>
                <a:ext uri="{FF2B5EF4-FFF2-40B4-BE49-F238E27FC236}">
                  <a16:creationId xmlns:a16="http://schemas.microsoft.com/office/drawing/2014/main" id="{A2C6FE73-7A0D-D7B0-4BDE-3A6FAEB0CFCD}"/>
                </a:ext>
              </a:extLst>
            </p:cNvPr>
            <p:cNvGrpSpPr/>
            <p:nvPr/>
          </p:nvGrpSpPr>
          <p:grpSpPr>
            <a:xfrm>
              <a:off x="1569396" y="2454863"/>
              <a:ext cx="2730789" cy="419587"/>
              <a:chOff x="2166395" y="1528525"/>
              <a:chExt cx="1543622" cy="335482"/>
            </a:xfrm>
          </p:grpSpPr>
          <p:sp>
            <p:nvSpPr>
              <p:cNvPr id="10" name="Rectangle: Rounded Corners 9">
                <a:extLst>
                  <a:ext uri="{FF2B5EF4-FFF2-40B4-BE49-F238E27FC236}">
                    <a16:creationId xmlns:a16="http://schemas.microsoft.com/office/drawing/2014/main" id="{B605D96A-5EF9-46A4-4FD6-5BCC1D6B0D47}"/>
                  </a:ext>
                </a:extLst>
              </p:cNvPr>
              <p:cNvSpPr/>
              <p:nvPr/>
            </p:nvSpPr>
            <p:spPr>
              <a:xfrm>
                <a:off x="2166395" y="1528525"/>
                <a:ext cx="1543622" cy="330328"/>
              </a:xfrm>
              <a:prstGeom prst="roundRect">
                <a:avLst>
                  <a:gd name="adj" fmla="val 25887"/>
                </a:avLst>
              </a:prstGeom>
              <a:solidFill>
                <a:srgbClr val="EFF2F5"/>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CB1E3192-8FE7-F002-50C6-8423D863CFAF}"/>
                  </a:ext>
                </a:extLst>
              </p:cNvPr>
              <p:cNvSpPr txBox="1"/>
              <p:nvPr/>
            </p:nvSpPr>
            <p:spPr bwMode="auto">
              <a:xfrm>
                <a:off x="2396671" y="1593988"/>
                <a:ext cx="1136696" cy="270019"/>
              </a:xfrm>
              <a:prstGeom prst="rect">
                <a:avLst/>
              </a:prstGeom>
              <a:noFill/>
              <a:ln w="9525">
                <a:noFill/>
                <a:miter lim="800000"/>
                <a:headEnd/>
                <a:tailEnd/>
              </a:ln>
              <a:effectLst/>
            </p:spPr>
            <p:txBody>
              <a:bodyPr wrap="square" lIns="0" rtlCol="0" anchor="t">
                <a:spAutoFit/>
              </a:bodyPr>
              <a:lstStyle/>
              <a:p>
                <a:pPr algn="ctr">
                  <a:spcBef>
                    <a:spcPct val="50000"/>
                  </a:spcBef>
                </a:pPr>
                <a:r>
                  <a:rPr lang="en-US" sz="1200" b="1" dirty="0">
                    <a:latin typeface="+mj-lt"/>
                    <a:cs typeface="Arial"/>
                  </a:rPr>
                  <a:t>Low-emissivity coatings:</a:t>
                </a:r>
                <a:endParaRPr lang="en-GB" sz="1200" b="1" dirty="0">
                  <a:latin typeface="+mj-lt"/>
                  <a:cs typeface="Arial"/>
                </a:endParaRPr>
              </a:p>
            </p:txBody>
          </p:sp>
        </p:grpSp>
        <p:sp>
          <p:nvSpPr>
            <p:cNvPr id="12" name="Text Placeholder 3">
              <a:extLst>
                <a:ext uri="{FF2B5EF4-FFF2-40B4-BE49-F238E27FC236}">
                  <a16:creationId xmlns:a16="http://schemas.microsoft.com/office/drawing/2014/main" id="{B6EF8FDF-6AB2-100D-E2DB-E90B2CAC8F6F}"/>
                </a:ext>
              </a:extLst>
            </p:cNvPr>
            <p:cNvSpPr txBox="1">
              <a:spLocks/>
            </p:cNvSpPr>
            <p:nvPr/>
          </p:nvSpPr>
          <p:spPr>
            <a:xfrm>
              <a:off x="1555778" y="2987678"/>
              <a:ext cx="2730788" cy="3153171"/>
            </a:xfrm>
            <a:prstGeom prst="rect">
              <a:avLst/>
            </a:prstGeom>
          </p:spPr>
          <p:txBody>
            <a:bodyPr wrap="square" lIns="0">
              <a:spAutoFit/>
            </a:bodyPr>
            <a:lstStyle>
              <a:lvl1pPr marL="0" indent="0" algn="l" rtl="0" eaLnBrk="1" fontAlgn="base" hangingPunct="1">
                <a:spcBef>
                  <a:spcPct val="20000"/>
                </a:spcBef>
                <a:spcAft>
                  <a:spcPct val="0"/>
                </a:spcAft>
                <a:buFont typeface="Arial" panose="020B0604020202020204" pitchFamily="34" charset="0"/>
                <a:buNone/>
                <a:defRPr sz="1400">
                  <a:solidFill>
                    <a:srgbClr val="56626F"/>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2pPr>
              <a:lvl3pPr marL="1200150" indent="-285750" algn="l" rtl="0" eaLnBrk="1" fontAlgn="base" hangingPunct="1">
                <a:spcBef>
                  <a:spcPct val="20000"/>
                </a:spcBef>
                <a:spcAft>
                  <a:spcPct val="0"/>
                </a:spcAft>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3pPr>
              <a:lvl4pPr marL="1657350" indent="-285750" algn="l" rtl="0" eaLnBrk="1" fontAlgn="base" hangingPunct="1">
                <a:spcBef>
                  <a:spcPct val="20000"/>
                </a:spcBef>
                <a:spcAft>
                  <a:spcPct val="0"/>
                </a:spcAft>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4pPr>
              <a:lvl5pPr marL="1828800" indent="0" algn="l" rtl="0" eaLnBrk="1" fontAlgn="base" hangingPunct="1">
                <a:spcBef>
                  <a:spcPct val="20000"/>
                </a:spcBef>
                <a:spcAft>
                  <a:spcPct val="0"/>
                </a:spcAft>
                <a:buNone/>
                <a:defRPr sz="1400">
                  <a:solidFill>
                    <a:srgbClr val="56626F"/>
                  </a:solidFill>
                  <a:latin typeface="Arial" panose="020B0604020202020204" pitchFamily="34" charset="0"/>
                  <a:ea typeface="ＭＳ Ｐゴシック" pitchFamily="-105" charset="-128"/>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9pPr>
            </a:lstStyle>
            <a:p>
              <a:pPr marL="285750" indent="-285750">
                <a:spcBef>
                  <a:spcPct val="50000"/>
                </a:spcBef>
                <a:buFont typeface="Arial" panose="020B0604020202020204" pitchFamily="34" charset="0"/>
                <a:buChar char="—"/>
              </a:pPr>
              <a:r>
                <a:rPr lang="en-GB" sz="900" dirty="0" err="1">
                  <a:solidFill>
                    <a:srgbClr val="595959"/>
                  </a:solidFill>
                  <a:latin typeface="Arial"/>
                  <a:cs typeface="Arial"/>
                </a:rPr>
                <a:t>Magnetronic</a:t>
              </a:r>
              <a:r>
                <a:rPr lang="en-GB" sz="900" dirty="0">
                  <a:solidFill>
                    <a:srgbClr val="595959"/>
                  </a:solidFill>
                  <a:latin typeface="Arial"/>
                  <a:cs typeface="Arial"/>
                </a:rPr>
                <a:t> (soft) coatings</a:t>
              </a:r>
            </a:p>
            <a:p>
              <a:pPr marL="285750" indent="-285750">
                <a:spcBef>
                  <a:spcPct val="50000"/>
                </a:spcBef>
                <a:buFont typeface="Arial" panose="020B0604020202020204" pitchFamily="34" charset="0"/>
                <a:buChar char="—"/>
              </a:pPr>
              <a:r>
                <a:rPr lang="en-GB" sz="900" dirty="0">
                  <a:solidFill>
                    <a:srgbClr val="595959"/>
                  </a:solidFill>
                  <a:latin typeface="Arial"/>
                  <a:cs typeface="Arial"/>
                </a:rPr>
                <a:t>Control thermal performance of glazing unit rather than provide solar performance</a:t>
              </a:r>
            </a:p>
            <a:p>
              <a:pPr marL="285750" indent="-285750">
                <a:spcBef>
                  <a:spcPct val="50000"/>
                </a:spcBef>
                <a:buFont typeface="Arial" panose="020B0604020202020204" pitchFamily="34" charset="0"/>
                <a:buChar char="—"/>
              </a:pPr>
              <a:r>
                <a:rPr lang="en-GB" sz="900" dirty="0">
                  <a:solidFill>
                    <a:srgbClr val="595959"/>
                  </a:solidFill>
                  <a:latin typeface="Arial"/>
                  <a:cs typeface="Arial"/>
                </a:rPr>
                <a:t>Mostly used in residential scheme where solar gains are beneficial in winter</a:t>
              </a:r>
            </a:p>
            <a:p>
              <a:pPr marL="285750" indent="-285750">
                <a:spcBef>
                  <a:spcPct val="50000"/>
                </a:spcBef>
                <a:buFont typeface="Arial" panose="020B0604020202020204" pitchFamily="34" charset="0"/>
                <a:buChar char="—"/>
              </a:pPr>
              <a:r>
                <a:rPr lang="en-GB" sz="900" dirty="0">
                  <a:solidFill>
                    <a:srgbClr val="595959"/>
                  </a:solidFill>
                  <a:latin typeface="Arial"/>
                  <a:cs typeface="Arial"/>
                </a:rPr>
                <a:t>Blocks out a significant amount of infrared radiation while not blocking visible radiation.</a:t>
              </a:r>
            </a:p>
            <a:p>
              <a:pPr marL="285750" indent="-285750">
                <a:spcBef>
                  <a:spcPct val="50000"/>
                </a:spcBef>
                <a:buFont typeface="Arial" panose="020B0604020202020204" pitchFamily="34" charset="0"/>
                <a:buChar char="—"/>
              </a:pPr>
              <a:r>
                <a:rPr lang="en-GB" sz="900" dirty="0">
                  <a:solidFill>
                    <a:srgbClr val="595959"/>
                  </a:solidFill>
                  <a:latin typeface="Arial"/>
                  <a:cs typeface="Arial"/>
                </a:rPr>
                <a:t>Good colour rendering index (CRI) and can be used in areas where good daylight is required</a:t>
              </a:r>
            </a:p>
            <a:p>
              <a:pPr marL="285750" indent="-285750">
                <a:spcBef>
                  <a:spcPct val="50000"/>
                </a:spcBef>
                <a:buFont typeface="Arial" panose="020B0604020202020204" pitchFamily="34" charset="0"/>
                <a:buChar char="—"/>
              </a:pPr>
              <a:r>
                <a:rPr lang="en-GB" sz="900" dirty="0">
                  <a:solidFill>
                    <a:srgbClr val="595959"/>
                  </a:solidFill>
                  <a:latin typeface="Arial"/>
                  <a:cs typeface="Arial"/>
                </a:rPr>
                <a:t>Low selectivity (~1.5) but and low reflectivity. </a:t>
              </a:r>
            </a:p>
            <a:p>
              <a:pPr>
                <a:spcBef>
                  <a:spcPct val="50000"/>
                </a:spcBef>
              </a:pPr>
              <a:endParaRPr lang="en-GB" sz="900" b="1" dirty="0">
                <a:solidFill>
                  <a:schemeClr val="accent1"/>
                </a:solidFill>
                <a:latin typeface="Arial"/>
                <a:cs typeface="Arial"/>
              </a:endParaRPr>
            </a:p>
            <a:p>
              <a:pPr>
                <a:spcBef>
                  <a:spcPct val="50000"/>
                </a:spcBef>
              </a:pPr>
              <a:r>
                <a:rPr lang="en-GB" sz="900" b="1" dirty="0">
                  <a:solidFill>
                    <a:schemeClr val="accent1"/>
                  </a:solidFill>
                  <a:latin typeface="Arial"/>
                  <a:cs typeface="Arial"/>
                </a:rPr>
                <a:t>Performance range:</a:t>
              </a:r>
            </a:p>
            <a:p>
              <a:pPr marL="628650" lvl="1" indent="-171450">
                <a:spcBef>
                  <a:spcPct val="50000"/>
                </a:spcBef>
                <a:buFont typeface="Arial" panose="020B0604020202020204" pitchFamily="34" charset="0"/>
                <a:buChar char="—"/>
              </a:pPr>
              <a:r>
                <a:rPr lang="en-GB" sz="900" b="1" dirty="0">
                  <a:solidFill>
                    <a:srgbClr val="595959"/>
                  </a:solidFill>
                  <a:latin typeface="Arial"/>
                  <a:cs typeface="Arial"/>
                </a:rPr>
                <a:t>G-value: </a:t>
              </a:r>
              <a:r>
                <a:rPr lang="en-GB" sz="900" dirty="0">
                  <a:solidFill>
                    <a:srgbClr val="595959"/>
                  </a:solidFill>
                  <a:latin typeface="Arial"/>
                  <a:cs typeface="Arial"/>
                </a:rPr>
                <a:t>&gt;0.50</a:t>
              </a:r>
            </a:p>
            <a:p>
              <a:pPr marL="628650" lvl="1" indent="-171450">
                <a:spcBef>
                  <a:spcPct val="50000"/>
                </a:spcBef>
                <a:buFont typeface="Arial" panose="020B0604020202020204" pitchFamily="34" charset="0"/>
                <a:buChar char="—"/>
              </a:pPr>
              <a:r>
                <a:rPr lang="en-GB" sz="900" b="1" dirty="0">
                  <a:solidFill>
                    <a:srgbClr val="595959"/>
                  </a:solidFill>
                  <a:latin typeface="Arial"/>
                  <a:cs typeface="Arial"/>
                </a:rPr>
                <a:t>LT: </a:t>
              </a:r>
              <a:r>
                <a:rPr lang="en-GB" sz="900" dirty="0">
                  <a:solidFill>
                    <a:srgbClr val="595959"/>
                  </a:solidFill>
                  <a:latin typeface="Arial"/>
                  <a:cs typeface="Arial"/>
                </a:rPr>
                <a:t>&gt;75%</a:t>
              </a:r>
            </a:p>
            <a:p>
              <a:pPr marL="171450" indent="-171450" algn="just">
                <a:buFontTx/>
                <a:buChar char="-"/>
              </a:pPr>
              <a:endParaRPr lang="en-US" sz="900" dirty="0"/>
            </a:p>
            <a:p>
              <a:pPr marL="171450" indent="-171450" algn="just">
                <a:buFontTx/>
                <a:buChar char="-"/>
              </a:pPr>
              <a:endParaRPr lang="en-US" sz="900" dirty="0"/>
            </a:p>
            <a:p>
              <a:pPr algn="just"/>
              <a:endParaRPr lang="en-US" sz="900" kern="0" dirty="0"/>
            </a:p>
          </p:txBody>
        </p:sp>
      </p:grpSp>
      <p:grpSp>
        <p:nvGrpSpPr>
          <p:cNvPr id="34" name="Group 33">
            <a:extLst>
              <a:ext uri="{FF2B5EF4-FFF2-40B4-BE49-F238E27FC236}">
                <a16:creationId xmlns:a16="http://schemas.microsoft.com/office/drawing/2014/main" id="{0BB04137-4EFE-4388-D025-A01428E103E6}"/>
              </a:ext>
            </a:extLst>
          </p:cNvPr>
          <p:cNvGrpSpPr/>
          <p:nvPr/>
        </p:nvGrpSpPr>
        <p:grpSpPr>
          <a:xfrm>
            <a:off x="4607193" y="1522218"/>
            <a:ext cx="2977611" cy="4142460"/>
            <a:chOff x="4669265" y="2365282"/>
            <a:chExt cx="2977611" cy="4142460"/>
          </a:xfrm>
        </p:grpSpPr>
        <p:sp>
          <p:nvSpPr>
            <p:cNvPr id="13" name="Rectangle: Rounded Corners 12">
              <a:extLst>
                <a:ext uri="{FF2B5EF4-FFF2-40B4-BE49-F238E27FC236}">
                  <a16:creationId xmlns:a16="http://schemas.microsoft.com/office/drawing/2014/main" id="{03FE4515-9C04-A5AC-1E14-AEAD831F0F0C}"/>
                </a:ext>
              </a:extLst>
            </p:cNvPr>
            <p:cNvSpPr/>
            <p:nvPr/>
          </p:nvSpPr>
          <p:spPr>
            <a:xfrm>
              <a:off x="4669265" y="2365282"/>
              <a:ext cx="2977611" cy="4142460"/>
            </a:xfrm>
            <a:prstGeom prst="roundRect">
              <a:avLst>
                <a:gd name="adj" fmla="val 4759"/>
              </a:avLst>
            </a:prstGeom>
            <a:solidFill>
              <a:srgbClr val="EA560D">
                <a:alpha val="10000"/>
              </a:srgbClr>
            </a:solidFill>
            <a:ln w="19050">
              <a:solidFill>
                <a:srgbClr val="EA560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grpSp>
          <p:nvGrpSpPr>
            <p:cNvPr id="14" name="Group 13">
              <a:extLst>
                <a:ext uri="{FF2B5EF4-FFF2-40B4-BE49-F238E27FC236}">
                  <a16:creationId xmlns:a16="http://schemas.microsoft.com/office/drawing/2014/main" id="{A6158A33-8048-F8C9-3D4D-E92714BC065F}"/>
                </a:ext>
              </a:extLst>
            </p:cNvPr>
            <p:cNvGrpSpPr/>
            <p:nvPr/>
          </p:nvGrpSpPr>
          <p:grpSpPr>
            <a:xfrm>
              <a:off x="4779058" y="2454863"/>
              <a:ext cx="2699882" cy="419587"/>
              <a:chOff x="2166395" y="1528525"/>
              <a:chExt cx="1543622" cy="335482"/>
            </a:xfrm>
          </p:grpSpPr>
          <p:sp>
            <p:nvSpPr>
              <p:cNvPr id="15" name="Rectangle: Rounded Corners 14">
                <a:extLst>
                  <a:ext uri="{FF2B5EF4-FFF2-40B4-BE49-F238E27FC236}">
                    <a16:creationId xmlns:a16="http://schemas.microsoft.com/office/drawing/2014/main" id="{FEB29F56-5A8B-E04E-4FA4-9EB2CEE844CE}"/>
                  </a:ext>
                </a:extLst>
              </p:cNvPr>
              <p:cNvSpPr/>
              <p:nvPr/>
            </p:nvSpPr>
            <p:spPr>
              <a:xfrm>
                <a:off x="2166395" y="1528525"/>
                <a:ext cx="1543622" cy="330328"/>
              </a:xfrm>
              <a:prstGeom prst="roundRect">
                <a:avLst>
                  <a:gd name="adj" fmla="val 25887"/>
                </a:avLst>
              </a:prstGeom>
              <a:solidFill>
                <a:srgbClr val="EFF2F5"/>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76692F06-B638-6DD7-E1B6-347FBAAEE7A1}"/>
                  </a:ext>
                </a:extLst>
              </p:cNvPr>
              <p:cNvSpPr txBox="1"/>
              <p:nvPr/>
            </p:nvSpPr>
            <p:spPr bwMode="auto">
              <a:xfrm>
                <a:off x="2412285" y="1593988"/>
                <a:ext cx="1085083" cy="270019"/>
              </a:xfrm>
              <a:prstGeom prst="rect">
                <a:avLst/>
              </a:prstGeom>
              <a:noFill/>
              <a:ln w="9525">
                <a:noFill/>
                <a:miter lim="800000"/>
                <a:headEnd/>
                <a:tailEnd/>
              </a:ln>
              <a:effectLst/>
            </p:spPr>
            <p:txBody>
              <a:bodyPr wrap="square" lIns="0" rtlCol="0" anchor="t">
                <a:spAutoFit/>
              </a:bodyPr>
              <a:lstStyle/>
              <a:p>
                <a:pPr algn="ctr">
                  <a:spcBef>
                    <a:spcPct val="50000"/>
                  </a:spcBef>
                </a:pPr>
                <a:r>
                  <a:rPr lang="en-US" sz="1200" b="1" dirty="0">
                    <a:latin typeface="+mj-lt"/>
                    <a:cs typeface="Arial"/>
                  </a:rPr>
                  <a:t>Double silver coatings:</a:t>
                </a:r>
                <a:endParaRPr lang="en-GB" sz="1200" b="1" dirty="0">
                  <a:latin typeface="+mj-lt"/>
                  <a:cs typeface="Arial"/>
                </a:endParaRPr>
              </a:p>
            </p:txBody>
          </p:sp>
        </p:grpSp>
        <p:sp>
          <p:nvSpPr>
            <p:cNvPr id="20" name="Text Placeholder 3">
              <a:extLst>
                <a:ext uri="{FF2B5EF4-FFF2-40B4-BE49-F238E27FC236}">
                  <a16:creationId xmlns:a16="http://schemas.microsoft.com/office/drawing/2014/main" id="{6EEE87A6-E247-351A-77C3-154548946515}"/>
                </a:ext>
              </a:extLst>
            </p:cNvPr>
            <p:cNvSpPr txBox="1">
              <a:spLocks/>
            </p:cNvSpPr>
            <p:nvPr/>
          </p:nvSpPr>
          <p:spPr>
            <a:xfrm>
              <a:off x="4808129" y="2982592"/>
              <a:ext cx="2699877" cy="3499420"/>
            </a:xfrm>
            <a:prstGeom prst="rect">
              <a:avLst/>
            </a:prstGeom>
          </p:spPr>
          <p:txBody>
            <a:bodyPr wrap="square" lIns="0">
              <a:spAutoFit/>
            </a:bodyPr>
            <a:lstStyle>
              <a:lvl1pPr marL="0" indent="0" algn="l" rtl="0" eaLnBrk="1" fontAlgn="base" hangingPunct="1">
                <a:spcBef>
                  <a:spcPct val="20000"/>
                </a:spcBef>
                <a:spcAft>
                  <a:spcPct val="0"/>
                </a:spcAft>
                <a:buFont typeface="Arial" panose="020B0604020202020204" pitchFamily="34" charset="0"/>
                <a:buNone/>
                <a:defRPr sz="1400">
                  <a:solidFill>
                    <a:srgbClr val="56626F"/>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2pPr>
              <a:lvl3pPr marL="1200150" indent="-285750" algn="l" rtl="0" eaLnBrk="1" fontAlgn="base" hangingPunct="1">
                <a:spcBef>
                  <a:spcPct val="20000"/>
                </a:spcBef>
                <a:spcAft>
                  <a:spcPct val="0"/>
                </a:spcAft>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3pPr>
              <a:lvl4pPr marL="1657350" indent="-285750" algn="l" rtl="0" eaLnBrk="1" fontAlgn="base" hangingPunct="1">
                <a:spcBef>
                  <a:spcPct val="20000"/>
                </a:spcBef>
                <a:spcAft>
                  <a:spcPct val="0"/>
                </a:spcAft>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4pPr>
              <a:lvl5pPr marL="1828800" indent="0" algn="l" rtl="0" eaLnBrk="1" fontAlgn="base" hangingPunct="1">
                <a:spcBef>
                  <a:spcPct val="20000"/>
                </a:spcBef>
                <a:spcAft>
                  <a:spcPct val="0"/>
                </a:spcAft>
                <a:buNone/>
                <a:defRPr sz="1400">
                  <a:solidFill>
                    <a:srgbClr val="56626F"/>
                  </a:solidFill>
                  <a:latin typeface="Arial" panose="020B0604020202020204" pitchFamily="34" charset="0"/>
                  <a:ea typeface="ＭＳ Ｐゴシック" pitchFamily="-105" charset="-128"/>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9pPr>
            </a:lstStyle>
            <a:p>
              <a:pPr marL="171450" indent="-171450">
                <a:spcBef>
                  <a:spcPct val="50000"/>
                </a:spcBef>
                <a:buFont typeface="Arial" panose="020B0604020202020204" pitchFamily="34" charset="0"/>
                <a:buChar char="—"/>
              </a:pPr>
              <a:r>
                <a:rPr lang="en-GB" sz="900" dirty="0">
                  <a:solidFill>
                    <a:srgbClr val="595959"/>
                  </a:solidFill>
                  <a:latin typeface="Arial"/>
                  <a:cs typeface="Arial"/>
                </a:rPr>
                <a:t>Solar control, low emissivity coatings providing good thermal performance and reduction in solar gains</a:t>
              </a:r>
            </a:p>
            <a:p>
              <a:pPr marL="171450" indent="-171450">
                <a:spcBef>
                  <a:spcPct val="50000"/>
                </a:spcBef>
                <a:buFont typeface="Arial" panose="020B0604020202020204" pitchFamily="34" charset="0"/>
                <a:buChar char="—"/>
              </a:pPr>
              <a:r>
                <a:rPr lang="en-GB" sz="900" dirty="0">
                  <a:solidFill>
                    <a:srgbClr val="595959"/>
                  </a:solidFill>
                  <a:latin typeface="Arial"/>
                  <a:cs typeface="Arial"/>
                </a:rPr>
                <a:t>Made by layering up to 30 layers of microns thickness of metal oxides in a particular order using a sputtering machine, including 2 layers of silver.</a:t>
              </a:r>
            </a:p>
            <a:p>
              <a:pPr marL="171450" indent="-171450">
                <a:spcBef>
                  <a:spcPct val="50000"/>
                </a:spcBef>
                <a:buFont typeface="Arial" panose="020B0604020202020204" pitchFamily="34" charset="0"/>
                <a:buChar char="—"/>
              </a:pPr>
              <a:r>
                <a:rPr lang="en-GB" sz="900" dirty="0">
                  <a:solidFill>
                    <a:srgbClr val="595959"/>
                  </a:solidFill>
                  <a:latin typeface="Arial"/>
                  <a:cs typeface="Arial"/>
                </a:rPr>
                <a:t>Block out infrared radiation but the darker coatings also block a significant amount of visible radiation, leading to low CRI with blue, green or gold tinges</a:t>
              </a:r>
            </a:p>
            <a:p>
              <a:pPr marL="171450" indent="-171450">
                <a:spcBef>
                  <a:spcPct val="50000"/>
                </a:spcBef>
                <a:buFont typeface="Arial" panose="020B0604020202020204" pitchFamily="34" charset="0"/>
                <a:buChar char="—"/>
              </a:pPr>
              <a:r>
                <a:rPr lang="en-GB" sz="900" dirty="0">
                  <a:solidFill>
                    <a:srgbClr val="595959"/>
                  </a:solidFill>
                  <a:latin typeface="Arial"/>
                  <a:cs typeface="Arial"/>
                </a:rPr>
                <a:t>Good selectivity (~1.7)</a:t>
              </a:r>
            </a:p>
            <a:p>
              <a:pPr>
                <a:spcBef>
                  <a:spcPct val="50000"/>
                </a:spcBef>
              </a:pPr>
              <a:endParaRPr lang="en-GB" sz="900" b="1" dirty="0">
                <a:solidFill>
                  <a:schemeClr val="accent1"/>
                </a:solidFill>
                <a:latin typeface="Arial"/>
                <a:cs typeface="Arial"/>
              </a:endParaRPr>
            </a:p>
            <a:p>
              <a:pPr>
                <a:spcBef>
                  <a:spcPct val="50000"/>
                </a:spcBef>
              </a:pPr>
              <a:r>
                <a:rPr lang="en-GB" sz="900" b="1" dirty="0">
                  <a:solidFill>
                    <a:schemeClr val="accent1"/>
                  </a:solidFill>
                  <a:latin typeface="Arial"/>
                  <a:cs typeface="Arial"/>
                </a:rPr>
                <a:t>Performance range:</a:t>
              </a:r>
            </a:p>
            <a:p>
              <a:pPr marL="628650" lvl="1" indent="-171450">
                <a:spcBef>
                  <a:spcPct val="50000"/>
                </a:spcBef>
                <a:buFont typeface="Arial" panose="020B0604020202020204" pitchFamily="34" charset="0"/>
                <a:buChar char="—"/>
              </a:pPr>
              <a:r>
                <a:rPr lang="en-GB" sz="900" b="1" dirty="0">
                  <a:solidFill>
                    <a:srgbClr val="595959"/>
                  </a:solidFill>
                  <a:latin typeface="Arial"/>
                  <a:cs typeface="Arial"/>
                </a:rPr>
                <a:t>G-value: </a:t>
              </a:r>
              <a:r>
                <a:rPr lang="en-GB" sz="900" dirty="0">
                  <a:solidFill>
                    <a:srgbClr val="595959"/>
                  </a:solidFill>
                  <a:latin typeface="Arial"/>
                  <a:cs typeface="Arial"/>
                </a:rPr>
                <a:t>0.15 - 0.40</a:t>
              </a:r>
            </a:p>
            <a:p>
              <a:pPr marL="628650" lvl="1" indent="-171450">
                <a:spcBef>
                  <a:spcPct val="50000"/>
                </a:spcBef>
                <a:buFont typeface="Arial" panose="020B0604020202020204" pitchFamily="34" charset="0"/>
                <a:buChar char="—"/>
              </a:pPr>
              <a:r>
                <a:rPr lang="en-GB" sz="900" b="1" dirty="0">
                  <a:solidFill>
                    <a:srgbClr val="595959"/>
                  </a:solidFill>
                  <a:latin typeface="Arial"/>
                  <a:cs typeface="Arial"/>
                </a:rPr>
                <a:t>LT: </a:t>
              </a:r>
              <a:r>
                <a:rPr lang="en-GB" sz="900" dirty="0">
                  <a:solidFill>
                    <a:srgbClr val="595959"/>
                  </a:solidFill>
                  <a:latin typeface="Arial"/>
                  <a:cs typeface="Arial"/>
                </a:rPr>
                <a:t>20% - 75%</a:t>
              </a:r>
            </a:p>
            <a:p>
              <a:pPr marL="171450" indent="-171450">
                <a:spcBef>
                  <a:spcPct val="50000"/>
                </a:spcBef>
                <a:buFont typeface="Arial" panose="020B0604020202020204" pitchFamily="34" charset="0"/>
                <a:buChar char="—"/>
              </a:pPr>
              <a:endParaRPr lang="en-GB" sz="900" dirty="0">
                <a:solidFill>
                  <a:srgbClr val="595959"/>
                </a:solidFill>
                <a:latin typeface="Arial"/>
                <a:cs typeface="Arial"/>
              </a:endParaRPr>
            </a:p>
            <a:p>
              <a:pPr marL="171450" indent="-171450" algn="just">
                <a:buFontTx/>
                <a:buChar char="-"/>
              </a:pPr>
              <a:endParaRPr lang="en-US" sz="900" dirty="0"/>
            </a:p>
            <a:p>
              <a:pPr marL="171450" indent="-171450" algn="just">
                <a:buFontTx/>
                <a:buChar char="-"/>
              </a:pPr>
              <a:endParaRPr lang="en-US" sz="900" dirty="0"/>
            </a:p>
            <a:p>
              <a:pPr algn="just"/>
              <a:endParaRPr lang="en-US" sz="900" kern="0" dirty="0"/>
            </a:p>
          </p:txBody>
        </p:sp>
      </p:grpSp>
      <p:grpSp>
        <p:nvGrpSpPr>
          <p:cNvPr id="31" name="Group 30">
            <a:extLst>
              <a:ext uri="{FF2B5EF4-FFF2-40B4-BE49-F238E27FC236}">
                <a16:creationId xmlns:a16="http://schemas.microsoft.com/office/drawing/2014/main" id="{51F89155-BBFE-28A7-E9B4-12672946232E}"/>
              </a:ext>
            </a:extLst>
          </p:cNvPr>
          <p:cNvGrpSpPr/>
          <p:nvPr/>
        </p:nvGrpSpPr>
        <p:grpSpPr>
          <a:xfrm>
            <a:off x="7723668" y="1516281"/>
            <a:ext cx="2977615" cy="4142460"/>
            <a:chOff x="7817220" y="2365282"/>
            <a:chExt cx="2977615" cy="4142460"/>
          </a:xfrm>
        </p:grpSpPr>
        <p:sp>
          <p:nvSpPr>
            <p:cNvPr id="21" name="Rectangle: Rounded Corners 20">
              <a:extLst>
                <a:ext uri="{FF2B5EF4-FFF2-40B4-BE49-F238E27FC236}">
                  <a16:creationId xmlns:a16="http://schemas.microsoft.com/office/drawing/2014/main" id="{F5D381E4-63EB-A7BE-97D6-CE7A5B030965}"/>
                </a:ext>
              </a:extLst>
            </p:cNvPr>
            <p:cNvSpPr/>
            <p:nvPr/>
          </p:nvSpPr>
          <p:spPr>
            <a:xfrm>
              <a:off x="7817220" y="2365282"/>
              <a:ext cx="2977615" cy="4142460"/>
            </a:xfrm>
            <a:prstGeom prst="roundRect">
              <a:avLst>
                <a:gd name="adj" fmla="val 4759"/>
              </a:avLst>
            </a:prstGeom>
            <a:solidFill>
              <a:srgbClr val="FFFFFF">
                <a:alpha val="69804"/>
              </a:srgbClr>
            </a:solidFill>
            <a:ln>
              <a:solidFill>
                <a:schemeClr val="tx1">
                  <a:lumMod val="60000"/>
                  <a:lumOff val="40000"/>
                </a:scheme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nvGrpSpPr>
            <p:cNvPr id="22" name="Group 21">
              <a:extLst>
                <a:ext uri="{FF2B5EF4-FFF2-40B4-BE49-F238E27FC236}">
                  <a16:creationId xmlns:a16="http://schemas.microsoft.com/office/drawing/2014/main" id="{47B4EBE5-8783-39A2-C84B-B97B9B3D790B}"/>
                </a:ext>
              </a:extLst>
            </p:cNvPr>
            <p:cNvGrpSpPr/>
            <p:nvPr/>
          </p:nvGrpSpPr>
          <p:grpSpPr>
            <a:xfrm>
              <a:off x="7927013" y="2454862"/>
              <a:ext cx="2773111" cy="453264"/>
              <a:chOff x="2166395" y="1528525"/>
              <a:chExt cx="1543622" cy="357127"/>
            </a:xfrm>
          </p:grpSpPr>
          <p:sp>
            <p:nvSpPr>
              <p:cNvPr id="26" name="Rectangle: Rounded Corners 25">
                <a:extLst>
                  <a:ext uri="{FF2B5EF4-FFF2-40B4-BE49-F238E27FC236}">
                    <a16:creationId xmlns:a16="http://schemas.microsoft.com/office/drawing/2014/main" id="{41251984-016F-F5C2-2D8C-8A21ACC93B8E}"/>
                  </a:ext>
                </a:extLst>
              </p:cNvPr>
              <p:cNvSpPr/>
              <p:nvPr/>
            </p:nvSpPr>
            <p:spPr>
              <a:xfrm>
                <a:off x="2166395" y="1528525"/>
                <a:ext cx="1543622" cy="330328"/>
              </a:xfrm>
              <a:prstGeom prst="roundRect">
                <a:avLst>
                  <a:gd name="adj" fmla="val 25887"/>
                </a:avLst>
              </a:prstGeom>
              <a:solidFill>
                <a:srgbClr val="EFF2F5"/>
              </a:solidFill>
              <a:ln w="12700">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692DC3F7-D9FB-29C1-F13C-3F51F7A3473B}"/>
                  </a:ext>
                </a:extLst>
              </p:cNvPr>
              <p:cNvSpPr txBox="1"/>
              <p:nvPr/>
            </p:nvSpPr>
            <p:spPr bwMode="auto">
              <a:xfrm>
                <a:off x="2440329" y="1615633"/>
                <a:ext cx="1050302" cy="270019"/>
              </a:xfrm>
              <a:prstGeom prst="rect">
                <a:avLst/>
              </a:prstGeom>
              <a:noFill/>
              <a:ln w="9525">
                <a:noFill/>
                <a:miter lim="800000"/>
                <a:headEnd/>
                <a:tailEnd/>
              </a:ln>
              <a:effectLst/>
            </p:spPr>
            <p:txBody>
              <a:bodyPr wrap="square" lIns="0" rtlCol="0" anchor="t">
                <a:spAutoFit/>
              </a:bodyPr>
              <a:lstStyle/>
              <a:p>
                <a:pPr algn="ctr">
                  <a:spcBef>
                    <a:spcPct val="50000"/>
                  </a:spcBef>
                </a:pPr>
                <a:r>
                  <a:rPr lang="en-US" sz="1200" b="1" dirty="0">
                    <a:latin typeface="+mj-lt"/>
                    <a:cs typeface="Arial"/>
                  </a:rPr>
                  <a:t>Triple silver coatings:</a:t>
                </a:r>
                <a:endParaRPr lang="en-GB" sz="1200" b="1" dirty="0">
                  <a:latin typeface="+mj-lt"/>
                  <a:cs typeface="Arial"/>
                </a:endParaRPr>
              </a:p>
            </p:txBody>
          </p:sp>
        </p:grpSp>
        <p:sp>
          <p:nvSpPr>
            <p:cNvPr id="30" name="Text Placeholder 3">
              <a:extLst>
                <a:ext uri="{FF2B5EF4-FFF2-40B4-BE49-F238E27FC236}">
                  <a16:creationId xmlns:a16="http://schemas.microsoft.com/office/drawing/2014/main" id="{D6539DC1-FCB6-CDB4-3295-31EB2F794836}"/>
                </a:ext>
              </a:extLst>
            </p:cNvPr>
            <p:cNvSpPr txBox="1">
              <a:spLocks/>
            </p:cNvSpPr>
            <p:nvPr/>
          </p:nvSpPr>
          <p:spPr>
            <a:xfrm>
              <a:off x="7927013" y="2982055"/>
              <a:ext cx="2794594" cy="3416320"/>
            </a:xfrm>
            <a:prstGeom prst="rect">
              <a:avLst/>
            </a:prstGeom>
          </p:spPr>
          <p:txBody>
            <a:bodyPr wrap="square" lIns="0">
              <a:spAutoFit/>
            </a:bodyPr>
            <a:lstStyle>
              <a:lvl1pPr marL="0" indent="0" algn="l" rtl="0" eaLnBrk="1" fontAlgn="base" hangingPunct="1">
                <a:spcBef>
                  <a:spcPct val="20000"/>
                </a:spcBef>
                <a:spcAft>
                  <a:spcPct val="0"/>
                </a:spcAft>
                <a:buFont typeface="Arial" panose="020B0604020202020204" pitchFamily="34" charset="0"/>
                <a:buNone/>
                <a:defRPr sz="1400">
                  <a:solidFill>
                    <a:srgbClr val="56626F"/>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2pPr>
              <a:lvl3pPr marL="1200150" indent="-285750" algn="l" rtl="0" eaLnBrk="1" fontAlgn="base" hangingPunct="1">
                <a:spcBef>
                  <a:spcPct val="20000"/>
                </a:spcBef>
                <a:spcAft>
                  <a:spcPct val="0"/>
                </a:spcAft>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3pPr>
              <a:lvl4pPr marL="1657350" indent="-285750" algn="l" rtl="0" eaLnBrk="1" fontAlgn="base" hangingPunct="1">
                <a:spcBef>
                  <a:spcPct val="20000"/>
                </a:spcBef>
                <a:spcAft>
                  <a:spcPct val="0"/>
                </a:spcAft>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4pPr>
              <a:lvl5pPr marL="1828800" indent="0" algn="l" rtl="0" eaLnBrk="1" fontAlgn="base" hangingPunct="1">
                <a:spcBef>
                  <a:spcPct val="20000"/>
                </a:spcBef>
                <a:spcAft>
                  <a:spcPct val="0"/>
                </a:spcAft>
                <a:buNone/>
                <a:defRPr sz="1400">
                  <a:solidFill>
                    <a:srgbClr val="56626F"/>
                  </a:solidFill>
                  <a:latin typeface="Arial" panose="020B0604020202020204" pitchFamily="34" charset="0"/>
                  <a:ea typeface="ＭＳ Ｐゴシック" pitchFamily="-105" charset="-128"/>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9pPr>
            </a:lstStyle>
            <a:p>
              <a:pPr marL="171450" indent="-171450">
                <a:spcBef>
                  <a:spcPct val="50000"/>
                </a:spcBef>
                <a:buFont typeface="Arial" panose="020B0604020202020204" pitchFamily="34" charset="0"/>
                <a:buChar char="—"/>
              </a:pPr>
              <a:r>
                <a:rPr lang="en-GB" sz="900" dirty="0">
                  <a:solidFill>
                    <a:srgbClr val="595959"/>
                  </a:solidFill>
                  <a:latin typeface="Arial"/>
                  <a:cs typeface="Arial"/>
                </a:rPr>
                <a:t>Solar control, low emissivity coatings providing good thermal performance and excellent solar control</a:t>
              </a:r>
            </a:p>
            <a:p>
              <a:pPr marL="171450" indent="-171450">
                <a:spcBef>
                  <a:spcPct val="50000"/>
                </a:spcBef>
                <a:buFont typeface="Arial" panose="020B0604020202020204" pitchFamily="34" charset="0"/>
                <a:buChar char="—"/>
              </a:pPr>
              <a:r>
                <a:rPr lang="en-GB" sz="900" dirty="0">
                  <a:solidFill>
                    <a:srgbClr val="595959"/>
                  </a:solidFill>
                  <a:latin typeface="Arial"/>
                  <a:cs typeface="Arial"/>
                </a:rPr>
                <a:t>Made by layering up to 30 layers of microns thickness of metal oxides in a particular order using a sputtering machine, including 3 layers of silver, which reduces solar heat gain while maintaining good light transmittance.</a:t>
              </a:r>
            </a:p>
            <a:p>
              <a:pPr marL="171450" indent="-171450">
                <a:spcBef>
                  <a:spcPct val="50000"/>
                </a:spcBef>
                <a:buFont typeface="Arial" panose="020B0604020202020204" pitchFamily="34" charset="0"/>
                <a:buChar char="—"/>
              </a:pPr>
              <a:r>
                <a:rPr lang="en-GB" sz="900" dirty="0">
                  <a:solidFill>
                    <a:srgbClr val="595959"/>
                  </a:solidFill>
                  <a:latin typeface="Arial"/>
                  <a:cs typeface="Arial"/>
                </a:rPr>
                <a:t>Block out infrared radiation but the darker coatings also block some visible radiation, leading to low CRI with blue tinges.</a:t>
              </a:r>
            </a:p>
            <a:p>
              <a:pPr marL="171450" indent="-171450">
                <a:spcBef>
                  <a:spcPct val="50000"/>
                </a:spcBef>
                <a:buFont typeface="Arial" panose="020B0604020202020204" pitchFamily="34" charset="0"/>
                <a:buChar char="—"/>
              </a:pPr>
              <a:r>
                <a:rPr lang="en-GB" sz="900" dirty="0">
                  <a:solidFill>
                    <a:srgbClr val="595959"/>
                  </a:solidFill>
                  <a:latin typeface="Arial"/>
                  <a:cs typeface="Arial"/>
                </a:rPr>
                <a:t>Very good selectivity (&gt;2)</a:t>
              </a:r>
            </a:p>
            <a:p>
              <a:pPr>
                <a:spcBef>
                  <a:spcPct val="50000"/>
                </a:spcBef>
              </a:pPr>
              <a:endParaRPr lang="en-GB" sz="900" b="1" dirty="0">
                <a:solidFill>
                  <a:schemeClr val="accent1"/>
                </a:solidFill>
                <a:latin typeface="Arial"/>
                <a:cs typeface="Arial"/>
              </a:endParaRPr>
            </a:p>
            <a:p>
              <a:pPr>
                <a:spcBef>
                  <a:spcPct val="50000"/>
                </a:spcBef>
              </a:pPr>
              <a:r>
                <a:rPr lang="en-GB" sz="900" b="1" dirty="0">
                  <a:solidFill>
                    <a:schemeClr val="accent1"/>
                  </a:solidFill>
                  <a:latin typeface="Arial"/>
                  <a:cs typeface="Arial"/>
                </a:rPr>
                <a:t>Performance range:</a:t>
              </a:r>
              <a:endParaRPr lang="en-GB" sz="900" dirty="0">
                <a:solidFill>
                  <a:srgbClr val="595959"/>
                </a:solidFill>
                <a:latin typeface="Arial"/>
                <a:cs typeface="Arial"/>
              </a:endParaRPr>
            </a:p>
            <a:p>
              <a:pPr marL="540000" lvl="1">
                <a:spcBef>
                  <a:spcPct val="50000"/>
                </a:spcBef>
                <a:buFont typeface="Arial" panose="020B0604020202020204" pitchFamily="34" charset="0"/>
                <a:buChar char="—"/>
              </a:pPr>
              <a:r>
                <a:rPr lang="en-GB" sz="900" b="1" dirty="0">
                  <a:solidFill>
                    <a:srgbClr val="595959"/>
                  </a:solidFill>
                  <a:latin typeface="Arial"/>
                  <a:cs typeface="Arial"/>
                </a:rPr>
                <a:t>G-value: </a:t>
              </a:r>
              <a:r>
                <a:rPr lang="en-GB" sz="900" dirty="0">
                  <a:solidFill>
                    <a:srgbClr val="595959"/>
                  </a:solidFill>
                  <a:latin typeface="Arial"/>
                  <a:cs typeface="Arial"/>
                </a:rPr>
                <a:t>0.14, </a:t>
              </a:r>
              <a:r>
                <a:rPr lang="en-GB" sz="900" b="1" dirty="0">
                  <a:solidFill>
                    <a:srgbClr val="595959"/>
                  </a:solidFill>
                  <a:latin typeface="Arial"/>
                  <a:cs typeface="Arial"/>
                </a:rPr>
                <a:t>LT: </a:t>
              </a:r>
              <a:r>
                <a:rPr lang="en-GB" sz="900" dirty="0">
                  <a:solidFill>
                    <a:srgbClr val="595959"/>
                  </a:solidFill>
                  <a:latin typeface="Arial"/>
                  <a:cs typeface="Arial"/>
                </a:rPr>
                <a:t>35% (double silver equivalent is ~25%)</a:t>
              </a:r>
            </a:p>
            <a:p>
              <a:pPr marL="540000" lvl="1">
                <a:spcBef>
                  <a:spcPct val="50000"/>
                </a:spcBef>
                <a:buFont typeface="Arial" panose="020B0604020202020204" pitchFamily="34" charset="0"/>
                <a:buChar char="—"/>
              </a:pPr>
              <a:r>
                <a:rPr lang="en-GB" sz="900" b="1" dirty="0">
                  <a:solidFill>
                    <a:srgbClr val="595959"/>
                  </a:solidFill>
                  <a:latin typeface="Arial"/>
                  <a:cs typeface="Arial"/>
                </a:rPr>
                <a:t>G-value: </a:t>
              </a:r>
              <a:r>
                <a:rPr lang="en-GB" sz="900" dirty="0">
                  <a:solidFill>
                    <a:srgbClr val="595959"/>
                  </a:solidFill>
                  <a:latin typeface="Arial"/>
                  <a:cs typeface="Arial"/>
                </a:rPr>
                <a:t>0.20, </a:t>
              </a:r>
              <a:r>
                <a:rPr lang="en-GB" sz="900" b="1" dirty="0">
                  <a:solidFill>
                    <a:srgbClr val="595959"/>
                  </a:solidFill>
                  <a:latin typeface="Arial"/>
                  <a:cs typeface="Arial"/>
                </a:rPr>
                <a:t>LT: </a:t>
              </a:r>
              <a:r>
                <a:rPr lang="en-GB" sz="900" dirty="0">
                  <a:solidFill>
                    <a:srgbClr val="595959"/>
                  </a:solidFill>
                  <a:latin typeface="Arial"/>
                  <a:cs typeface="Arial"/>
                </a:rPr>
                <a:t>50% (double silver equivalent is ~40%)</a:t>
              </a:r>
            </a:p>
            <a:p>
              <a:pPr marL="540000" lvl="1">
                <a:spcBef>
                  <a:spcPct val="50000"/>
                </a:spcBef>
                <a:buFont typeface="Arial" panose="020B0604020202020204" pitchFamily="34" charset="0"/>
                <a:buChar char="—"/>
              </a:pPr>
              <a:r>
                <a:rPr lang="en-GB" sz="900" b="1" dirty="0">
                  <a:solidFill>
                    <a:srgbClr val="595959"/>
                  </a:solidFill>
                  <a:latin typeface="Arial"/>
                  <a:cs typeface="Arial"/>
                </a:rPr>
                <a:t>G-value: </a:t>
              </a:r>
              <a:r>
                <a:rPr lang="en-GB" sz="900" dirty="0">
                  <a:solidFill>
                    <a:srgbClr val="595959"/>
                  </a:solidFill>
                  <a:latin typeface="Arial"/>
                  <a:cs typeface="Arial"/>
                </a:rPr>
                <a:t>0.28, </a:t>
              </a:r>
              <a:r>
                <a:rPr lang="en-GB" sz="900" b="1" dirty="0">
                  <a:solidFill>
                    <a:srgbClr val="595959"/>
                  </a:solidFill>
                  <a:latin typeface="Arial"/>
                  <a:cs typeface="Arial"/>
                </a:rPr>
                <a:t>LT: </a:t>
              </a:r>
              <a:r>
                <a:rPr lang="en-GB" sz="900" dirty="0">
                  <a:solidFill>
                    <a:srgbClr val="595959"/>
                  </a:solidFill>
                  <a:latin typeface="Arial"/>
                  <a:cs typeface="Arial"/>
                </a:rPr>
                <a:t>60% (double silver equivalent is ~50%)</a:t>
              </a:r>
              <a:endParaRPr lang="en-US" sz="900" kern="0" dirty="0"/>
            </a:p>
          </p:txBody>
        </p:sp>
      </p:grpSp>
      <p:sp>
        <p:nvSpPr>
          <p:cNvPr id="2" name="Text Placeholder 2">
            <a:extLst>
              <a:ext uri="{FF2B5EF4-FFF2-40B4-BE49-F238E27FC236}">
                <a16:creationId xmlns:a16="http://schemas.microsoft.com/office/drawing/2014/main" id="{E9401529-01A2-D7A0-0318-73DDE4455B63}"/>
              </a:ext>
            </a:extLst>
          </p:cNvPr>
          <p:cNvSpPr txBox="1">
            <a:spLocks/>
          </p:cNvSpPr>
          <p:nvPr/>
        </p:nvSpPr>
        <p:spPr>
          <a:xfrm>
            <a:off x="5598973" y="5822634"/>
            <a:ext cx="1025902" cy="138499"/>
          </a:xfrm>
          <a:prstGeom prst="rect">
            <a:avLst/>
          </a:prstGeom>
        </p:spPr>
        <p:txBody>
          <a:bodyPr wrap="square" lIns="0" tIns="0" rIns="0" bIns="0">
            <a:spAutoFit/>
          </a:bodyPr>
          <a:lstStyle>
            <a:lvl1pPr marL="0" indent="0" algn="l" defTabSz="1007943" rtl="0" eaLnBrk="1" latinLnBrk="0" hangingPunct="1">
              <a:lnSpc>
                <a:spcPts val="1200"/>
              </a:lnSpc>
              <a:spcBef>
                <a:spcPts val="0"/>
              </a:spcBef>
              <a:spcAft>
                <a:spcPts val="1200"/>
              </a:spcAft>
              <a:buClr>
                <a:srgbClr val="696C71"/>
              </a:buClr>
              <a:buFont typeface="+mj-lt"/>
              <a:buNone/>
              <a:defRPr sz="900" b="0" i="0" kern="1200" spc="20" baseline="0">
                <a:solidFill>
                  <a:srgbClr val="696C71"/>
                </a:solidFill>
                <a:latin typeface="Arial" panose="020B0604020202020204" pitchFamily="34" charset="0"/>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algn="ctr" defTabSz="646495" fontAlgn="auto">
              <a:lnSpc>
                <a:spcPct val="100000"/>
              </a:lnSpc>
              <a:spcAft>
                <a:spcPts val="0"/>
              </a:spcAft>
              <a:defRPr/>
            </a:pPr>
            <a:r>
              <a:rPr lang="en-US" b="1" spc="13" dirty="0">
                <a:solidFill>
                  <a:schemeClr val="accent1"/>
                </a:solidFill>
                <a:latin typeface="+mn-lt"/>
                <a:ea typeface="Calibri" panose="020F0502020204030204" pitchFamily="34" charset="0"/>
                <a:cs typeface="Calibri" panose="020F0502020204030204" pitchFamily="34" charset="0"/>
              </a:rPr>
              <a:t>Proposed coating</a:t>
            </a:r>
          </a:p>
        </p:txBody>
      </p:sp>
    </p:spTree>
    <p:extLst>
      <p:ext uri="{BB962C8B-B14F-4D97-AF65-F5344CB8AC3E}">
        <p14:creationId xmlns:p14="http://schemas.microsoft.com/office/powerpoint/2010/main" val="6928953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C33B2F6-E54C-CE19-E3F4-E809FD662B6B}"/>
              </a:ext>
            </a:extLst>
          </p:cNvPr>
          <p:cNvSpPr>
            <a:spLocks noGrp="1"/>
          </p:cNvSpPr>
          <p:nvPr>
            <p:ph type="body" sz="quarter" idx="14"/>
          </p:nvPr>
        </p:nvSpPr>
        <p:spPr>
          <a:xfrm>
            <a:off x="6210300" y="812800"/>
            <a:ext cx="5651500" cy="400110"/>
          </a:xfrm>
        </p:spPr>
        <p:txBody>
          <a:bodyPr wrap="square">
            <a:noAutofit/>
          </a:bodyPr>
          <a:lstStyle/>
          <a:p>
            <a:pPr algn="r"/>
            <a:r>
              <a:rPr lang="en-US" sz="1000" i="1"/>
              <a:t>4 · From radiation to heat gain: solar heat gain = incident solar × 0.87 × SC, shown for three glass options at the façade's annual peak.</a:t>
            </a:r>
            <a:endParaRPr lang="en-GB" sz="1000" i="1"/>
          </a:p>
        </p:txBody>
      </p:sp>
      <p:sp>
        <p:nvSpPr>
          <p:cNvPr id="3" name="Text Placeholder 2">
            <a:extLst>
              <a:ext uri="{FF2B5EF4-FFF2-40B4-BE49-F238E27FC236}">
                <a16:creationId xmlns:a16="http://schemas.microsoft.com/office/drawing/2014/main" id="{237E150B-1035-A10E-456A-83B38C8786C2}"/>
              </a:ext>
            </a:extLst>
          </p:cNvPr>
          <p:cNvSpPr>
            <a:spLocks noGrp="1"/>
          </p:cNvSpPr>
          <p:nvPr>
            <p:ph type="body" sz="quarter" idx="10"/>
          </p:nvPr>
        </p:nvSpPr>
        <p:spPr>
          <a:xfrm>
            <a:off x="335360" y="260648"/>
            <a:ext cx="11521279" cy="553998"/>
          </a:xfrm>
        </p:spPr>
        <p:txBody>
          <a:bodyPr/>
          <a:lstStyle/>
          <a:p>
            <a:r>
              <a:rPr lang="en-GB" dirty="0"/>
              <a:t>Peak solar heat gain through glazing</a:t>
            </a:r>
          </a:p>
        </p:txBody>
      </p:sp>
      <p:sp>
        <p:nvSpPr>
          <p:cNvPr id="4" name="Text Placeholder 3">
            <a:extLst>
              <a:ext uri="{FF2B5EF4-FFF2-40B4-BE49-F238E27FC236}">
                <a16:creationId xmlns:a16="http://schemas.microsoft.com/office/drawing/2014/main" id="{326CCB08-D99B-293D-60AC-BEE52BED2621}"/>
              </a:ext>
            </a:extLst>
          </p:cNvPr>
          <p:cNvSpPr>
            <a:spLocks noGrp="1"/>
          </p:cNvSpPr>
          <p:nvPr>
            <p:ph type="body" sz="quarter" idx="15"/>
          </p:nvPr>
        </p:nvSpPr>
        <p:spPr>
          <a:xfrm>
            <a:off x="335360" y="897755"/>
            <a:ext cx="5645714" cy="307777"/>
          </a:xfrm>
        </p:spPr>
        <p:txBody>
          <a:bodyPr lIns="0">
            <a:spAutoFit/>
          </a:bodyPr>
          <a:lstStyle/>
          <a:p>
            <a:r>
              <a:rPr lang="en-US"/>
              <a:t>Canopy depth x glass shading coefficient (SC) at the annual peak</a:t>
            </a:r>
            <a:endParaRPr lang="en-GB" dirty="0"/>
          </a:p>
        </p:txBody>
      </p:sp>
      <p:graphicFrame>
        <p:nvGraphicFramePr>
          <p:cNvPr id="5" name="Table 4">
            <a:extLst>
              <a:ext uri="{FF2B5EF4-FFF2-40B4-BE49-F238E27FC236}">
                <a16:creationId xmlns:a16="http://schemas.microsoft.com/office/drawing/2014/main" id="{074BF296-6E64-9C6C-51F0-BE42472496A2}"/>
              </a:ext>
            </a:extLst>
          </p:cNvPr>
          <p:cNvGraphicFramePr>
            <a:graphicFrameLocks noGrp="1"/>
          </p:cNvGraphicFramePr>
          <p:nvPr>
            <p:extLst>
              <p:ext uri="{D42A27DB-BD31-4B8C-83A1-F6EECF244321}">
                <p14:modId xmlns:p14="http://schemas.microsoft.com/office/powerpoint/2010/main" val="2047022524"/>
              </p:ext>
            </p:extLst>
          </p:nvPr>
        </p:nvGraphicFramePr>
        <p:xfrm>
          <a:off x="622300" y="1397000"/>
          <a:ext cx="10947400" cy="15341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341798289"/>
                    </a:ext>
                  </a:extLst>
                </a:gridCol>
                <a:gridCol w="889000">
                  <a:extLst>
                    <a:ext uri="{9D8B030D-6E8A-4147-A177-3AD203B41FA5}">
                      <a16:colId xmlns:a16="http://schemas.microsoft.com/office/drawing/2014/main" val="400933598"/>
                    </a:ext>
                  </a:extLst>
                </a:gridCol>
                <a:gridCol w="1524000">
                  <a:extLst>
                    <a:ext uri="{9D8B030D-6E8A-4147-A177-3AD203B41FA5}">
                      <a16:colId xmlns:a16="http://schemas.microsoft.com/office/drawing/2014/main" val="1204390638"/>
                    </a:ext>
                  </a:extLst>
                </a:gridCol>
                <a:gridCol w="1397000">
                  <a:extLst>
                    <a:ext uri="{9D8B030D-6E8A-4147-A177-3AD203B41FA5}">
                      <a16:colId xmlns:a16="http://schemas.microsoft.com/office/drawing/2014/main" val="810609758"/>
                    </a:ext>
                  </a:extLst>
                </a:gridCol>
                <a:gridCol w="2413000">
                  <a:extLst>
                    <a:ext uri="{9D8B030D-6E8A-4147-A177-3AD203B41FA5}">
                      <a16:colId xmlns:a16="http://schemas.microsoft.com/office/drawing/2014/main" val="812471730"/>
                    </a:ext>
                  </a:extLst>
                </a:gridCol>
                <a:gridCol w="3200400">
                  <a:extLst>
                    <a:ext uri="{9D8B030D-6E8A-4147-A177-3AD203B41FA5}">
                      <a16:colId xmlns:a16="http://schemas.microsoft.com/office/drawing/2014/main" val="728062515"/>
                    </a:ext>
                  </a:extLst>
                </a:gridCol>
              </a:tblGrid>
              <a:tr h="254000">
                <a:tc>
                  <a:txBody>
                    <a:bodyPr/>
                    <a:lstStyle/>
                    <a:p>
                      <a:pPr algn="ctr"/>
                      <a:r>
                        <a:rPr lang="en-GB" sz="1100" b="1">
                          <a:solidFill>
                            <a:srgbClr val="56626F"/>
                          </a:solidFill>
                          <a:latin typeface="Arial" panose="020B0604020202020204" pitchFamily="34" charset="0"/>
                        </a:rPr>
                        <a:t>Glass option</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100" b="1">
                          <a:solidFill>
                            <a:srgbClr val="56626F"/>
                          </a:solidFill>
                          <a:latin typeface="Arial" panose="020B0604020202020204" pitchFamily="34" charset="0"/>
                        </a:rPr>
                        <a:t>SC</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100" b="1">
                          <a:solidFill>
                            <a:srgbClr val="56626F"/>
                          </a:solidFill>
                          <a:latin typeface="Arial" panose="020B0604020202020204" pitchFamily="34" charset="0"/>
                        </a:rPr>
                        <a:t>SHGC (= 0.87 × SC)</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100" b="1">
                          <a:solidFill>
                            <a:srgbClr val="56626F"/>
                          </a:solidFill>
                          <a:latin typeface="Arial" panose="020B0604020202020204" pitchFamily="34" charset="0"/>
                        </a:rPr>
                        <a:t>Typical VLT</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US" sz="1100" b="1">
                          <a:solidFill>
                            <a:srgbClr val="56626F"/>
                          </a:solidFill>
                          <a:latin typeface="Arial" panose="020B0604020202020204" pitchFamily="34" charset="0"/>
                        </a:rPr>
                        <a:t>Al Sa'fat 2023 – whole-building WWR &lt; 40 % *</a:t>
                      </a:r>
                      <a:endParaRPr lang="en-GB" sz="110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100" b="1">
                          <a:solidFill>
                            <a:srgbClr val="56626F"/>
                          </a:solidFill>
                          <a:latin typeface="Arial" panose="020B0604020202020204" pitchFamily="34" charset="0"/>
                        </a:rPr>
                        <a:t>Comment</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extLst>
                  <a:ext uri="{0D108BD9-81ED-4DB2-BD59-A6C34878D82A}">
                    <a16:rowId xmlns:a16="http://schemas.microsoft.com/office/drawing/2014/main" val="1219602407"/>
                  </a:ext>
                </a:extLst>
              </a:tr>
              <a:tr h="254000">
                <a:tc>
                  <a:txBody>
                    <a:bodyPr/>
                    <a:lstStyle/>
                    <a:p>
                      <a:pPr algn="ctr"/>
                      <a:r>
                        <a:rPr lang="en-GB" sz="1100" b="0" dirty="0">
                          <a:solidFill>
                            <a:srgbClr val="56626F"/>
                          </a:solidFill>
                          <a:latin typeface="Arial" panose="020B0604020202020204" pitchFamily="34" charset="0"/>
                        </a:rPr>
                        <a:t>Façade A</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dirty="0">
                          <a:solidFill>
                            <a:srgbClr val="56626F"/>
                          </a:solidFill>
                          <a:latin typeface="Arial" panose="020B0604020202020204" pitchFamily="34" charset="0"/>
                        </a:rPr>
                        <a:t>0.25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0.22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~45–50 %</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US" sz="1100" b="0">
                          <a:solidFill>
                            <a:srgbClr val="56626F"/>
                          </a:solidFill>
                          <a:latin typeface="Arial" panose="020B0604020202020204" pitchFamily="34" charset="0"/>
                        </a:rPr>
                        <a:t>Meets (SC ≤ 0.40, LT ≥ 0.40)</a:t>
                      </a:r>
                      <a:endParaRPr lang="en-GB" sz="1100" b="0">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US" sz="1100" b="0">
                          <a:solidFill>
                            <a:srgbClr val="56626F"/>
                          </a:solidFill>
                          <a:latin typeface="Arial" panose="020B0604020202020204" pitchFamily="34" charset="0"/>
                        </a:rPr>
                        <a:t>Stronger solar control; least daylight</a:t>
                      </a:r>
                      <a:endParaRPr lang="en-GB" sz="1100" b="0">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1667916502"/>
                  </a:ext>
                </a:extLst>
              </a:tr>
              <a:tr h="254000">
                <a:tc>
                  <a:txBody>
                    <a:bodyPr/>
                    <a:lstStyle/>
                    <a:p>
                      <a:pPr algn="ctr"/>
                      <a:r>
                        <a:rPr lang="en-GB" sz="1100" b="0">
                          <a:solidFill>
                            <a:srgbClr val="56626F"/>
                          </a:solidFill>
                          <a:latin typeface="Arial" panose="020B0604020202020204" pitchFamily="34" charset="0"/>
                        </a:rPr>
                        <a:t>Façade B</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dirty="0">
                          <a:solidFill>
                            <a:srgbClr val="56626F"/>
                          </a:solidFill>
                          <a:latin typeface="Arial" panose="020B0604020202020204" pitchFamily="34" charset="0"/>
                        </a:rPr>
                        <a:t>0.32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dirty="0">
                          <a:solidFill>
                            <a:srgbClr val="56626F"/>
                          </a:solidFill>
                          <a:latin typeface="Arial" panose="020B0604020202020204" pitchFamily="34" charset="0"/>
                        </a:rPr>
                        <a:t>0.28</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~65–70 %</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US" sz="1100" b="0">
                          <a:solidFill>
                            <a:srgbClr val="56626F"/>
                          </a:solidFill>
                          <a:latin typeface="Arial" panose="020B0604020202020204" pitchFamily="34" charset="0"/>
                        </a:rPr>
                        <a:t>Meets (SC ≤ 0.40, LT ≥ 0.40)</a:t>
                      </a:r>
                      <a:endParaRPr lang="en-GB" sz="1100" b="0">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US" sz="1100" b="0">
                          <a:solidFill>
                            <a:srgbClr val="56626F"/>
                          </a:solidFill>
                          <a:latin typeface="Arial" panose="020B0604020202020204" pitchFamily="34" charset="0"/>
                        </a:rPr>
                        <a:t>Best available at ~70 % VLT (top-end coating)</a:t>
                      </a:r>
                      <a:endParaRPr lang="en-GB" sz="1100" b="0">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3078061264"/>
                  </a:ext>
                </a:extLst>
              </a:tr>
              <a:tr h="254000">
                <a:tc>
                  <a:txBody>
                    <a:bodyPr/>
                    <a:lstStyle/>
                    <a:p>
                      <a:pPr algn="ctr"/>
                      <a:r>
                        <a:rPr lang="en-GB" sz="1100" b="0">
                          <a:solidFill>
                            <a:srgbClr val="56626F"/>
                          </a:solidFill>
                          <a:latin typeface="Arial" panose="020B0604020202020204" pitchFamily="34" charset="0"/>
                        </a:rPr>
                        <a:t>Façade C</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0.40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dirty="0">
                          <a:solidFill>
                            <a:srgbClr val="56626F"/>
                          </a:solidFill>
                          <a:latin typeface="Arial" panose="020B0604020202020204" pitchFamily="34" charset="0"/>
                        </a:rPr>
                        <a:t>0.35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dirty="0">
                          <a:solidFill>
                            <a:srgbClr val="56626F"/>
                          </a:solidFill>
                          <a:latin typeface="Arial" panose="020B0604020202020204" pitchFamily="34" charset="0"/>
                        </a:rPr>
                        <a:t>~70–72 %</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US" sz="1100" b="0" dirty="0">
                          <a:solidFill>
                            <a:srgbClr val="56626F"/>
                          </a:solidFill>
                          <a:latin typeface="Arial" panose="020B0604020202020204" pitchFamily="34" charset="0"/>
                        </a:rPr>
                        <a:t>Meets – at the SC limit</a:t>
                      </a:r>
                      <a:endParaRPr lang="en-GB" sz="1100" b="0" dirty="0">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US" sz="1100" b="0" dirty="0">
                          <a:solidFill>
                            <a:srgbClr val="56626F"/>
                          </a:solidFill>
                          <a:latin typeface="Arial" panose="020B0604020202020204" pitchFamily="34" charset="0"/>
                        </a:rPr>
                        <a:t>Code limit (whole-building reading); MEP's HAP assumption</a:t>
                      </a:r>
                      <a:endParaRPr lang="en-GB" sz="1100" b="0" dirty="0">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3290103497"/>
                  </a:ext>
                </a:extLst>
              </a:tr>
              <a:tr h="254000">
                <a:tc>
                  <a:txBody>
                    <a:bodyPr/>
                    <a:lstStyle/>
                    <a:p>
                      <a:pPr algn="ctr"/>
                      <a:r>
                        <a:rPr lang="en-GB" sz="1100" b="0" dirty="0">
                          <a:solidFill>
                            <a:srgbClr val="56626F"/>
                          </a:solidFill>
                          <a:latin typeface="Arial" panose="020B0604020202020204" pitchFamily="34" charset="0"/>
                        </a:rPr>
                        <a:t>Skylight</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chemeClr val="bg2">
                        <a:lumMod val="20000"/>
                        <a:lumOff val="80000"/>
                      </a:schemeClr>
                    </a:solidFill>
                  </a:tcPr>
                </a:tc>
                <a:tc>
                  <a:txBody>
                    <a:bodyPr/>
                    <a:lstStyle/>
                    <a:p>
                      <a:pPr algn="ctr"/>
                      <a:r>
                        <a:rPr lang="en-GB" sz="1100" b="0" dirty="0">
                          <a:solidFill>
                            <a:srgbClr val="56626F"/>
                          </a:solidFill>
                          <a:latin typeface="Arial" panose="020B0604020202020204" pitchFamily="34" charset="0"/>
                        </a:rPr>
                        <a:t>0.25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chemeClr val="bg2">
                        <a:lumMod val="20000"/>
                        <a:lumOff val="80000"/>
                      </a:schemeClr>
                    </a:solidFill>
                  </a:tcPr>
                </a:tc>
                <a:tc>
                  <a:txBody>
                    <a:bodyPr/>
                    <a:lstStyle/>
                    <a:p>
                      <a:pPr algn="ctr"/>
                      <a:r>
                        <a:rPr lang="en-GB" sz="1100" b="0" dirty="0">
                          <a:solidFill>
                            <a:srgbClr val="56626F"/>
                          </a:solidFill>
                          <a:latin typeface="Arial" panose="020B0604020202020204" pitchFamily="34" charset="0"/>
                        </a:rPr>
                        <a:t>0.22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chemeClr val="bg2">
                        <a:lumMod val="20000"/>
                        <a:lumOff val="80000"/>
                      </a:schemeClr>
                    </a:solidFill>
                  </a:tcPr>
                </a:tc>
                <a:tc>
                  <a:txBody>
                    <a:bodyPr/>
                    <a:lstStyle/>
                    <a:p>
                      <a:pPr algn="ctr"/>
                      <a:r>
                        <a:rPr lang="en-GB" sz="1100" b="0" dirty="0">
                          <a:solidFill>
                            <a:srgbClr val="56626F"/>
                          </a:solidFill>
                          <a:latin typeface="Arial" panose="020B0604020202020204" pitchFamily="34" charset="0"/>
                        </a:rPr>
                        <a:t>~40 %</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chemeClr val="bg2">
                        <a:lumMod val="20000"/>
                        <a:lumOff val="80000"/>
                      </a:schemeClr>
                    </a:solidFill>
                  </a:tcPr>
                </a:tc>
                <a:tc>
                  <a:txBody>
                    <a:bodyPr/>
                    <a:lstStyle/>
                    <a:p>
                      <a:pPr algn="ctr"/>
                      <a:r>
                        <a:rPr lang="en-US" sz="1100" b="0" dirty="0">
                          <a:solidFill>
                            <a:srgbClr val="56626F"/>
                          </a:solidFill>
                          <a:latin typeface="Arial" panose="020B0604020202020204" pitchFamily="34" charset="0"/>
                        </a:rPr>
                        <a:t>Meets (roof glazing ≤ 10 %)</a:t>
                      </a:r>
                      <a:endParaRPr lang="en-GB" sz="1100" b="0" dirty="0">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chemeClr val="bg2">
                        <a:lumMod val="20000"/>
                        <a:lumOff val="80000"/>
                      </a:schemeClr>
                    </a:solidFill>
                  </a:tcPr>
                </a:tc>
                <a:tc>
                  <a:txBody>
                    <a:bodyPr/>
                    <a:lstStyle/>
                    <a:p>
                      <a:pPr algn="ctr"/>
                      <a:r>
                        <a:rPr lang="en-GB" sz="1100" b="0" dirty="0">
                          <a:solidFill>
                            <a:srgbClr val="56626F"/>
                          </a:solidFill>
                          <a:latin typeface="Arial" panose="020B0604020202020204" pitchFamily="34" charset="0"/>
                        </a:rPr>
                        <a:t>All options; fritting optional</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chemeClr val="bg2">
                        <a:lumMod val="20000"/>
                        <a:lumOff val="80000"/>
                      </a:schemeClr>
                    </a:solidFill>
                  </a:tcPr>
                </a:tc>
                <a:extLst>
                  <a:ext uri="{0D108BD9-81ED-4DB2-BD59-A6C34878D82A}">
                    <a16:rowId xmlns:a16="http://schemas.microsoft.com/office/drawing/2014/main" val="446865848"/>
                  </a:ext>
                </a:extLst>
              </a:tr>
            </a:tbl>
          </a:graphicData>
        </a:graphic>
      </p:graphicFrame>
      <p:sp>
        <p:nvSpPr>
          <p:cNvPr id="9" name="TextBox 8">
            <a:extLst>
              <a:ext uri="{FF2B5EF4-FFF2-40B4-BE49-F238E27FC236}">
                <a16:creationId xmlns:a16="http://schemas.microsoft.com/office/drawing/2014/main" id="{5AD6E705-D4EF-DC17-4E2C-0A3202ED31DD}"/>
              </a:ext>
            </a:extLst>
          </p:cNvPr>
          <p:cNvSpPr txBox="1"/>
          <p:nvPr/>
        </p:nvSpPr>
        <p:spPr bwMode="auto">
          <a:xfrm>
            <a:off x="622300" y="2997200"/>
            <a:ext cx="10947400" cy="230832"/>
          </a:xfrm>
          <a:prstGeom prst="rect">
            <a:avLst/>
          </a:prstGeom>
          <a:noFill/>
          <a:ln w="9525">
            <a:noFill/>
            <a:miter lim="800000"/>
            <a:headEnd/>
            <a:tailEnd/>
          </a:ln>
          <a:effectLst/>
        </p:spPr>
        <p:txBody>
          <a:bodyPr vert="horz" wrap="square" lIns="0" rtlCol="0">
            <a:spAutoFit/>
          </a:bodyPr>
          <a:lstStyle/>
          <a:p>
            <a:pPr algn="ctr">
              <a:spcBef>
                <a:spcPct val="50000"/>
              </a:spcBef>
            </a:pPr>
            <a:r>
              <a:rPr lang="en-US" sz="900" i="1" dirty="0">
                <a:solidFill>
                  <a:srgbClr val="56626F"/>
                </a:solidFill>
                <a:latin typeface="Arial" panose="020B0604020202020204" pitchFamily="34" charset="0"/>
                <a:cs typeface="Arial"/>
              </a:rPr>
              <a:t>* Assumes the lab is assessed with the existing tower (combined WWR &lt; 40 %: SC ≤ 0.40, LT ≥ 0.40, summer U ≤ 2.1 W/m²K) – to be confirmed. VLT values are typical estimates.</a:t>
            </a:r>
            <a:endParaRPr lang="en-GB" sz="900" i="1" dirty="0">
              <a:solidFill>
                <a:srgbClr val="56626F"/>
              </a:solidFill>
              <a:latin typeface="Arial" panose="020B0604020202020204" pitchFamily="34" charset="0"/>
              <a:cs typeface="Arial"/>
            </a:endParaRPr>
          </a:p>
        </p:txBody>
      </p:sp>
      <p:graphicFrame>
        <p:nvGraphicFramePr>
          <p:cNvPr id="12" name="Table 11">
            <a:extLst>
              <a:ext uri="{FF2B5EF4-FFF2-40B4-BE49-F238E27FC236}">
                <a16:creationId xmlns:a16="http://schemas.microsoft.com/office/drawing/2014/main" id="{C47AEF8E-A0B5-69A2-37A5-DBBEC8FCD7BB}"/>
              </a:ext>
            </a:extLst>
          </p:cNvPr>
          <p:cNvGraphicFramePr>
            <a:graphicFrameLocks noGrp="1"/>
          </p:cNvGraphicFramePr>
          <p:nvPr>
            <p:extLst>
              <p:ext uri="{D42A27DB-BD31-4B8C-83A1-F6EECF244321}">
                <p14:modId xmlns:p14="http://schemas.microsoft.com/office/powerpoint/2010/main" val="4168181469"/>
              </p:ext>
            </p:extLst>
          </p:nvPr>
        </p:nvGraphicFramePr>
        <p:xfrm>
          <a:off x="622300" y="3403600"/>
          <a:ext cx="10947400" cy="2171700"/>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2010240556"/>
                    </a:ext>
                  </a:extLst>
                </a:gridCol>
                <a:gridCol w="1778000">
                  <a:extLst>
                    <a:ext uri="{9D8B030D-6E8A-4147-A177-3AD203B41FA5}">
                      <a16:colId xmlns:a16="http://schemas.microsoft.com/office/drawing/2014/main" val="1828838313"/>
                    </a:ext>
                  </a:extLst>
                </a:gridCol>
                <a:gridCol w="1778000">
                  <a:extLst>
                    <a:ext uri="{9D8B030D-6E8A-4147-A177-3AD203B41FA5}">
                      <a16:colId xmlns:a16="http://schemas.microsoft.com/office/drawing/2014/main" val="1563080408"/>
                    </a:ext>
                  </a:extLst>
                </a:gridCol>
                <a:gridCol w="1778000">
                  <a:extLst>
                    <a:ext uri="{9D8B030D-6E8A-4147-A177-3AD203B41FA5}">
                      <a16:colId xmlns:a16="http://schemas.microsoft.com/office/drawing/2014/main" val="902444875"/>
                    </a:ext>
                  </a:extLst>
                </a:gridCol>
                <a:gridCol w="1930400">
                  <a:extLst>
                    <a:ext uri="{9D8B030D-6E8A-4147-A177-3AD203B41FA5}">
                      <a16:colId xmlns:a16="http://schemas.microsoft.com/office/drawing/2014/main" val="1594906833"/>
                    </a:ext>
                  </a:extLst>
                </a:gridCol>
                <a:gridCol w="2032000">
                  <a:extLst>
                    <a:ext uri="{9D8B030D-6E8A-4147-A177-3AD203B41FA5}">
                      <a16:colId xmlns:a16="http://schemas.microsoft.com/office/drawing/2014/main" val="3667661234"/>
                    </a:ext>
                  </a:extLst>
                </a:gridCol>
              </a:tblGrid>
              <a:tr h="241300">
                <a:tc rowSpan="2">
                  <a:txBody>
                    <a:bodyPr/>
                    <a:lstStyle/>
                    <a:p>
                      <a:pPr algn="ctr"/>
                      <a:r>
                        <a:rPr lang="en-GB" sz="1100" b="1">
                          <a:solidFill>
                            <a:srgbClr val="56626F"/>
                          </a:solidFill>
                          <a:latin typeface="Arial" panose="020B0604020202020204" pitchFamily="34" charset="0"/>
                        </a:rPr>
                        <a:t>Overhang depth</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gridSpan="3">
                  <a:txBody>
                    <a:bodyPr/>
                    <a:lstStyle/>
                    <a:p>
                      <a:pPr algn="ctr"/>
                      <a:r>
                        <a:rPr lang="en-US" sz="1100" b="1" dirty="0">
                          <a:solidFill>
                            <a:srgbClr val="56626F"/>
                          </a:solidFill>
                          <a:latin typeface="Arial" panose="020B0604020202020204" pitchFamily="34" charset="0"/>
                        </a:rPr>
                        <a:t>Peak solar heat gain, window + skylight (typical year </a:t>
                      </a:r>
                      <a:r>
                        <a:rPr lang="en-US" sz="1100" i="1" dirty="0" err="1">
                          <a:solidFill>
                            <a:srgbClr val="56626F"/>
                          </a:solidFill>
                          <a:latin typeface="Arial" panose="020B0604020202020204" pitchFamily="34" charset="0"/>
                          <a:cs typeface="Arial"/>
                        </a:rPr>
                        <a:t>TMYx</a:t>
                      </a:r>
                      <a:r>
                        <a:rPr lang="en-US" sz="1100" b="1" dirty="0">
                          <a:solidFill>
                            <a:srgbClr val="56626F"/>
                          </a:solidFill>
                          <a:latin typeface="Arial" panose="020B0604020202020204" pitchFamily="34" charset="0"/>
                        </a:rPr>
                        <a:t>)</a:t>
                      </a:r>
                      <a:endParaRPr lang="en-GB" sz="1100" b="1" dirty="0">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hMerge="1">
                  <a:txBody>
                    <a:bodyPr/>
                    <a:lstStyle/>
                    <a:p>
                      <a:pPr algn="ctr"/>
                      <a:endParaRPr lang="en-GB" sz="110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hMerge="1">
                  <a:txBody>
                    <a:bodyPr/>
                    <a:lstStyle/>
                    <a:p>
                      <a:pPr algn="ctr"/>
                      <a:endParaRPr lang="en-GB" sz="110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rowSpan="2">
                  <a:txBody>
                    <a:bodyPr/>
                    <a:lstStyle/>
                    <a:p>
                      <a:pPr algn="ctr"/>
                      <a:r>
                        <a:rPr lang="en-GB" sz="1100" b="1" kern="1200" dirty="0">
                          <a:solidFill>
                            <a:srgbClr val="56626F"/>
                          </a:solidFill>
                          <a:latin typeface="Arial" panose="020B0604020202020204" pitchFamily="34" charset="0"/>
                          <a:ea typeface="+mn-ea"/>
                          <a:cs typeface="+mn-cs"/>
                        </a:rPr>
                        <a:t>Combined heat-gain peak hour</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rowSpan="2">
                  <a:txBody>
                    <a:bodyPr/>
                    <a:lstStyle/>
                    <a:p>
                      <a:pPr algn="ctr"/>
                      <a:r>
                        <a:rPr lang="en-US" sz="1100" b="1">
                          <a:solidFill>
                            <a:srgbClr val="56626F"/>
                          </a:solidFill>
                          <a:latin typeface="Arial" panose="020B0604020202020204" pitchFamily="34" charset="0"/>
                        </a:rPr>
                        <a:t>Peak incident solar on façade</a:t>
                      </a:r>
                      <a:endParaRPr lang="en-GB" sz="110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extLst>
                  <a:ext uri="{0D108BD9-81ED-4DB2-BD59-A6C34878D82A}">
                    <a16:rowId xmlns:a16="http://schemas.microsoft.com/office/drawing/2014/main" val="1038836547"/>
                  </a:ext>
                </a:extLst>
              </a:tr>
              <a:tr h="241300">
                <a:tc vMerge="1">
                  <a:txBody>
                    <a:bodyPr/>
                    <a:lstStyle/>
                    <a:p>
                      <a:pPr algn="ctr"/>
                      <a:endParaRPr lang="en-GB" sz="110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100" b="1">
                          <a:solidFill>
                            <a:srgbClr val="56626F"/>
                          </a:solidFill>
                          <a:latin typeface="Arial" panose="020B0604020202020204" pitchFamily="34" charset="0"/>
                        </a:rPr>
                        <a:t>SC 0.25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100" b="1">
                          <a:solidFill>
                            <a:srgbClr val="56626F"/>
                          </a:solidFill>
                          <a:latin typeface="Arial" panose="020B0604020202020204" pitchFamily="34" charset="0"/>
                        </a:rPr>
                        <a:t>SC 0.32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100" b="1">
                          <a:solidFill>
                            <a:srgbClr val="56626F"/>
                          </a:solidFill>
                          <a:latin typeface="Arial" panose="020B0604020202020204" pitchFamily="34" charset="0"/>
                        </a:rPr>
                        <a:t>SC 0.40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vMerge="1">
                  <a:txBody>
                    <a:bodyPr/>
                    <a:lstStyle/>
                    <a:p>
                      <a:pPr algn="ctr"/>
                      <a:endParaRPr lang="en-GB" sz="110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vMerge="1">
                  <a:txBody>
                    <a:bodyPr/>
                    <a:lstStyle/>
                    <a:p>
                      <a:pPr algn="ctr"/>
                      <a:endParaRPr lang="en-GB" sz="110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extLst>
                  <a:ext uri="{0D108BD9-81ED-4DB2-BD59-A6C34878D82A}">
                    <a16:rowId xmlns:a16="http://schemas.microsoft.com/office/drawing/2014/main" val="2663554768"/>
                  </a:ext>
                </a:extLst>
              </a:tr>
              <a:tr h="241300">
                <a:tc>
                  <a:txBody>
                    <a:bodyPr/>
                    <a:lstStyle/>
                    <a:p>
                      <a:pPr algn="ctr"/>
                      <a:r>
                        <a:rPr lang="en-GB" sz="1100" b="1">
                          <a:solidFill>
                            <a:srgbClr val="56626F"/>
                          </a:solidFill>
                          <a:latin typeface="Arial" panose="020B0604020202020204" pitchFamily="34" charset="0"/>
                        </a:rPr>
                        <a:t>[mm]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100" b="1">
                          <a:solidFill>
                            <a:srgbClr val="56626F"/>
                          </a:solidFill>
                          <a:latin typeface="Arial" panose="020B0604020202020204" pitchFamily="34" charset="0"/>
                        </a:rPr>
                        <a:t>[kW]</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100" b="1">
                          <a:solidFill>
                            <a:srgbClr val="56626F"/>
                          </a:solidFill>
                          <a:latin typeface="Arial" panose="020B0604020202020204" pitchFamily="34" charset="0"/>
                        </a:rPr>
                        <a:t>[kW]</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100" b="1">
                          <a:solidFill>
                            <a:srgbClr val="56626F"/>
                          </a:solidFill>
                          <a:latin typeface="Arial" panose="020B0604020202020204" pitchFamily="34" charset="0"/>
                        </a:rPr>
                        <a:t>[kW]</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100" b="1">
                          <a:solidFill>
                            <a:srgbClr val="56626F"/>
                          </a:solidFill>
                          <a:latin typeface="Arial" panose="020B0604020202020204" pitchFamily="34" charset="0"/>
                        </a:rPr>
                        <a:t>[hour start]</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100" b="1">
                          <a:solidFill>
                            <a:srgbClr val="56626F"/>
                          </a:solidFill>
                          <a:latin typeface="Arial" panose="020B0604020202020204" pitchFamily="34" charset="0"/>
                        </a:rPr>
                        <a:t>[kW]</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extLst>
                  <a:ext uri="{0D108BD9-81ED-4DB2-BD59-A6C34878D82A}">
                    <a16:rowId xmlns:a16="http://schemas.microsoft.com/office/drawing/2014/main" val="3292392721"/>
                  </a:ext>
                </a:extLst>
              </a:tr>
              <a:tr h="241300">
                <a:tc>
                  <a:txBody>
                    <a:bodyPr/>
                    <a:lstStyle/>
                    <a:p>
                      <a:pPr algn="ctr"/>
                      <a:r>
                        <a:rPr lang="en-GB" sz="1100" b="0">
                          <a:solidFill>
                            <a:srgbClr val="56626F"/>
                          </a:solidFill>
                          <a:latin typeface="Arial" panose="020B0604020202020204" pitchFamily="34" charset="0"/>
                        </a:rPr>
                        <a:t>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12.56</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15.79</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19.49</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12-Jun 09:00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53.1</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255291566"/>
                  </a:ext>
                </a:extLst>
              </a:tr>
              <a:tr h="241300">
                <a:tc>
                  <a:txBody>
                    <a:bodyPr/>
                    <a:lstStyle/>
                    <a:p>
                      <a:pPr algn="ctr"/>
                      <a:r>
                        <a:rPr lang="en-GB" sz="1100" b="0">
                          <a:solidFill>
                            <a:srgbClr val="56626F"/>
                          </a:solidFill>
                          <a:latin typeface="Arial" panose="020B0604020202020204" pitchFamily="34" charset="0"/>
                        </a:rPr>
                        <a:t>500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10.49</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13.14</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16.17</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12-Jun 09:00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44.0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2215127813"/>
                  </a:ext>
                </a:extLst>
              </a:tr>
              <a:tr h="241300">
                <a:tc>
                  <a:txBody>
                    <a:bodyPr/>
                    <a:lstStyle/>
                    <a:p>
                      <a:pPr algn="ctr"/>
                      <a:r>
                        <a:rPr lang="en-GB" sz="1100" b="0">
                          <a:solidFill>
                            <a:srgbClr val="56626F"/>
                          </a:solidFill>
                          <a:latin typeface="Arial" panose="020B0604020202020204" pitchFamily="34" charset="0"/>
                        </a:rPr>
                        <a:t>750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9.96</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12.53</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15.47</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24-Jun 08:00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42.2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3773680336"/>
                  </a:ext>
                </a:extLst>
              </a:tr>
              <a:tr h="241300">
                <a:tc>
                  <a:txBody>
                    <a:bodyPr/>
                    <a:lstStyle/>
                    <a:p>
                      <a:pPr algn="ctr"/>
                      <a:r>
                        <a:rPr lang="en-GB" sz="1100" b="0">
                          <a:solidFill>
                            <a:srgbClr val="56626F"/>
                          </a:solidFill>
                          <a:latin typeface="Arial" panose="020B0604020202020204" pitchFamily="34" charset="0"/>
                        </a:rPr>
                        <a:t>1000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9.40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11.80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14.55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12-Jun 08:00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39.5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811035043"/>
                  </a:ext>
                </a:extLst>
              </a:tr>
              <a:tr h="241300">
                <a:tc>
                  <a:txBody>
                    <a:bodyPr/>
                    <a:lstStyle/>
                    <a:p>
                      <a:pPr algn="ctr"/>
                      <a:r>
                        <a:rPr lang="en-GB" sz="1100" b="0">
                          <a:solidFill>
                            <a:srgbClr val="56626F"/>
                          </a:solidFill>
                          <a:latin typeface="Arial" panose="020B0604020202020204" pitchFamily="34" charset="0"/>
                        </a:rPr>
                        <a:t>1250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8.76</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10.99</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13.53</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11-Jun 08:00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36.5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2832787292"/>
                  </a:ext>
                </a:extLst>
              </a:tr>
              <a:tr h="241300">
                <a:tc>
                  <a:txBody>
                    <a:bodyPr/>
                    <a:lstStyle/>
                    <a:p>
                      <a:pPr algn="ctr"/>
                      <a:r>
                        <a:rPr lang="en-GB" sz="1100" b="0">
                          <a:solidFill>
                            <a:srgbClr val="56626F"/>
                          </a:solidFill>
                          <a:latin typeface="Arial" panose="020B0604020202020204" pitchFamily="34" charset="0"/>
                        </a:rPr>
                        <a:t>1500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8.02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10.04</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12.35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a:solidFill>
                            <a:srgbClr val="56626F"/>
                          </a:solidFill>
                          <a:latin typeface="Arial" panose="020B0604020202020204" pitchFamily="34" charset="0"/>
                        </a:rPr>
                        <a:t>11-Jun 08:00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100" b="0" dirty="0">
                          <a:solidFill>
                            <a:srgbClr val="56626F"/>
                          </a:solidFill>
                          <a:latin typeface="Arial" panose="020B0604020202020204" pitchFamily="34" charset="0"/>
                        </a:rPr>
                        <a:t>33.2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1062670705"/>
                  </a:ext>
                </a:extLst>
              </a:tr>
            </a:tbl>
          </a:graphicData>
        </a:graphic>
      </p:graphicFrame>
      <p:sp>
        <p:nvSpPr>
          <p:cNvPr id="13" name="TextBox 12">
            <a:extLst>
              <a:ext uri="{FF2B5EF4-FFF2-40B4-BE49-F238E27FC236}">
                <a16:creationId xmlns:a16="http://schemas.microsoft.com/office/drawing/2014/main" id="{ED4A0133-6C88-E709-9C5D-3BBB131B761B}"/>
              </a:ext>
            </a:extLst>
          </p:cNvPr>
          <p:cNvSpPr txBox="1"/>
          <p:nvPr/>
        </p:nvSpPr>
        <p:spPr bwMode="auto">
          <a:xfrm>
            <a:off x="622300" y="5600700"/>
            <a:ext cx="10947400" cy="230832"/>
          </a:xfrm>
          <a:prstGeom prst="rect">
            <a:avLst/>
          </a:prstGeom>
          <a:noFill/>
          <a:ln w="9525">
            <a:noFill/>
            <a:miter lim="800000"/>
            <a:headEnd/>
            <a:tailEnd/>
          </a:ln>
          <a:effectLst/>
        </p:spPr>
        <p:txBody>
          <a:bodyPr vert="horz" wrap="square" lIns="0" rtlCol="0">
            <a:spAutoFit/>
          </a:bodyPr>
          <a:lstStyle/>
          <a:p>
            <a:pPr algn="ctr">
              <a:spcBef>
                <a:spcPct val="50000"/>
              </a:spcBef>
            </a:pPr>
            <a:r>
              <a:rPr lang="en-US" sz="900" i="1" dirty="0">
                <a:solidFill>
                  <a:srgbClr val="56626F"/>
                </a:solidFill>
                <a:latin typeface="Arial" panose="020B0604020202020204" pitchFamily="34" charset="0"/>
                <a:cs typeface="Arial"/>
              </a:rPr>
              <a:t>Solar heat gain = 0.87 × SC × incident solar (façade) + 0.87 × 0.25 × incident solar (skylight), at the hour of the annual maximum (typical year, </a:t>
            </a:r>
            <a:r>
              <a:rPr lang="en-US" sz="900" i="1" dirty="0" err="1">
                <a:solidFill>
                  <a:srgbClr val="56626F"/>
                </a:solidFill>
                <a:latin typeface="Arial" panose="020B0604020202020204" pitchFamily="34" charset="0"/>
                <a:cs typeface="Arial"/>
              </a:rPr>
              <a:t>TMYx</a:t>
            </a:r>
            <a:r>
              <a:rPr lang="en-US" sz="900" i="1" dirty="0">
                <a:solidFill>
                  <a:srgbClr val="56626F"/>
                </a:solidFill>
                <a:latin typeface="Arial" panose="020B0604020202020204" pitchFamily="34" charset="0"/>
                <a:cs typeface="Arial"/>
              </a:rPr>
              <a:t> 1973–2025).</a:t>
            </a:r>
            <a:endParaRPr lang="en-GB" sz="900" i="1" dirty="0">
              <a:solidFill>
                <a:srgbClr val="56626F"/>
              </a:solidFill>
              <a:latin typeface="Arial" panose="020B0604020202020204" pitchFamily="34" charset="0"/>
              <a:cs typeface="Arial"/>
            </a:endParaRPr>
          </a:p>
        </p:txBody>
      </p:sp>
      <p:sp>
        <p:nvSpPr>
          <p:cNvPr id="7" name="TextBox 6">
            <a:extLst>
              <a:ext uri="{FF2B5EF4-FFF2-40B4-BE49-F238E27FC236}">
                <a16:creationId xmlns:a16="http://schemas.microsoft.com/office/drawing/2014/main" id="{A6A82C43-E625-BE20-87D2-BDD2AA0C5ECF}"/>
              </a:ext>
            </a:extLst>
          </p:cNvPr>
          <p:cNvSpPr txBox="1"/>
          <p:nvPr/>
        </p:nvSpPr>
        <p:spPr bwMode="auto">
          <a:xfrm>
            <a:off x="1559495" y="6135807"/>
            <a:ext cx="10297143" cy="530915"/>
          </a:xfrm>
          <a:prstGeom prst="rect">
            <a:avLst/>
          </a:prstGeom>
          <a:noFill/>
          <a:ln w="9525">
            <a:noFill/>
            <a:miter lim="800000"/>
            <a:headEnd/>
            <a:tailEnd/>
          </a:ln>
          <a:effectLst/>
        </p:spPr>
        <p:txBody>
          <a:bodyPr vert="horz" wrap="square" lIns="0" rtlCol="0">
            <a:spAutoFit/>
          </a:bodyPr>
          <a:lstStyle>
            <a:defPPr>
              <a:defRPr lang="en-US"/>
            </a:defPPr>
            <a:lvl1pPr>
              <a:spcBef>
                <a:spcPct val="50000"/>
              </a:spcBef>
              <a:defRPr sz="950">
                <a:solidFill>
                  <a:srgbClr val="56626F"/>
                </a:solidFill>
                <a:latin typeface="Arial" panose="020B0604020202020204" pitchFamily="34" charset="0"/>
                <a:cs typeface="Arial"/>
              </a:defRPr>
            </a:lvl1pPr>
          </a:lstStyle>
          <a:p>
            <a:r>
              <a:rPr lang="en-GB" dirty="0"/>
              <a:t>The three columns showing peak (kW) are the highest hourly solar heat gain through façade + skylight over the whole typical year, for each façade glass (the skylight is SC 0.25 throughout). </a:t>
            </a:r>
            <a:r>
              <a:rPr lang="en-GB" b="1" i="1" dirty="0"/>
              <a:t>Peak hour </a:t>
            </a:r>
            <a:r>
              <a:rPr lang="en-GB" dirty="0"/>
              <a:t>is when that worst hour occurs which is always a June morning, 08:00–10:00. The last column is the sun reaching the façade before the glazing filters it. It's the raw input that the canopy controls.</a:t>
            </a:r>
          </a:p>
        </p:txBody>
      </p:sp>
      <p:sp>
        <p:nvSpPr>
          <p:cNvPr id="6" name="Rectangle: Rounded Corners 5">
            <a:extLst>
              <a:ext uri="{FF2B5EF4-FFF2-40B4-BE49-F238E27FC236}">
                <a16:creationId xmlns:a16="http://schemas.microsoft.com/office/drawing/2014/main" id="{B75C7F91-8ADA-4046-A717-495DED94C462}"/>
              </a:ext>
            </a:extLst>
          </p:cNvPr>
          <p:cNvSpPr/>
          <p:nvPr/>
        </p:nvSpPr>
        <p:spPr>
          <a:xfrm>
            <a:off x="622300" y="2276872"/>
            <a:ext cx="10947400" cy="654288"/>
          </a:xfrm>
          <a:prstGeom prst="roundRect">
            <a:avLst/>
          </a:prstGeom>
          <a:solidFill>
            <a:srgbClr val="EA560D">
              <a:alpha val="17000"/>
            </a:srgbClr>
          </a:solidFill>
          <a:ln w="38100">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solidFill>
                <a:schemeClr val="dk1"/>
              </a:solidFill>
            </a:endParaRPr>
          </a:p>
        </p:txBody>
      </p:sp>
      <p:sp>
        <p:nvSpPr>
          <p:cNvPr id="8" name="Rectangle: Rounded Corners 7">
            <a:extLst>
              <a:ext uri="{FF2B5EF4-FFF2-40B4-BE49-F238E27FC236}">
                <a16:creationId xmlns:a16="http://schemas.microsoft.com/office/drawing/2014/main" id="{1EF2441C-7E8E-6AEF-94DB-AC32EC22985E}"/>
              </a:ext>
            </a:extLst>
          </p:cNvPr>
          <p:cNvSpPr/>
          <p:nvPr/>
        </p:nvSpPr>
        <p:spPr>
          <a:xfrm>
            <a:off x="5807969" y="3645024"/>
            <a:ext cx="1800199" cy="1930275"/>
          </a:xfrm>
          <a:prstGeom prst="roundRect">
            <a:avLst/>
          </a:prstGeom>
          <a:solidFill>
            <a:srgbClr val="EA560D">
              <a:alpha val="17000"/>
            </a:srgbClr>
          </a:solidFill>
          <a:ln w="38100">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solidFill>
                <a:schemeClr val="dk1"/>
              </a:solidFill>
            </a:endParaRPr>
          </a:p>
        </p:txBody>
      </p:sp>
    </p:spTree>
    <p:extLst>
      <p:ext uri="{BB962C8B-B14F-4D97-AF65-F5344CB8AC3E}">
        <p14:creationId xmlns:p14="http://schemas.microsoft.com/office/powerpoint/2010/main" val="23017560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C33B2F6-E54C-CE19-E3F4-E809FD662B6B}"/>
              </a:ext>
            </a:extLst>
          </p:cNvPr>
          <p:cNvSpPr>
            <a:spLocks noGrp="1"/>
          </p:cNvSpPr>
          <p:nvPr>
            <p:ph type="body" sz="quarter" idx="14"/>
          </p:nvPr>
        </p:nvSpPr>
        <p:spPr>
          <a:xfrm>
            <a:off x="6210300" y="812800"/>
            <a:ext cx="5651500" cy="400110"/>
          </a:xfrm>
        </p:spPr>
        <p:txBody>
          <a:bodyPr wrap="square">
            <a:noAutofit/>
          </a:bodyPr>
          <a:lstStyle/>
          <a:p>
            <a:pPr algn="r"/>
            <a:r>
              <a:rPr lang="en-US" sz="1000" i="1" dirty="0"/>
              <a:t>5 · Check against the MEP engineer’s HAP model dated </a:t>
            </a:r>
            <a:r>
              <a:rPr lang="en-GB" sz="1000" dirty="0"/>
              <a:t>21/08/2026 </a:t>
            </a:r>
            <a:r>
              <a:rPr lang="en-US" sz="1000" i="1" dirty="0"/>
              <a:t>: with SC 0.40 (~70 % VLT) every depth exceeds its 4.7 kW solar component; SC 0.25 glass with ≥ 750 mm stays at or below it.</a:t>
            </a:r>
            <a:endParaRPr lang="en-GB" sz="1000" i="1" dirty="0"/>
          </a:p>
        </p:txBody>
      </p:sp>
      <p:sp>
        <p:nvSpPr>
          <p:cNvPr id="3" name="Text Placeholder 2">
            <a:extLst>
              <a:ext uri="{FF2B5EF4-FFF2-40B4-BE49-F238E27FC236}">
                <a16:creationId xmlns:a16="http://schemas.microsoft.com/office/drawing/2014/main" id="{237E150B-1035-A10E-456A-83B38C8786C2}"/>
              </a:ext>
            </a:extLst>
          </p:cNvPr>
          <p:cNvSpPr>
            <a:spLocks noGrp="1"/>
          </p:cNvSpPr>
          <p:nvPr>
            <p:ph type="body" sz="quarter" idx="10"/>
          </p:nvPr>
        </p:nvSpPr>
        <p:spPr>
          <a:xfrm>
            <a:off x="335360" y="260648"/>
            <a:ext cx="11521279" cy="553998"/>
          </a:xfrm>
        </p:spPr>
        <p:txBody>
          <a:bodyPr/>
          <a:lstStyle/>
          <a:p>
            <a:r>
              <a:rPr lang="en-US" dirty="0"/>
              <a:t>Window + Skylight Solar Heat Gain</a:t>
            </a:r>
            <a:endParaRPr lang="en-GB" dirty="0"/>
          </a:p>
        </p:txBody>
      </p:sp>
      <p:sp>
        <p:nvSpPr>
          <p:cNvPr id="4" name="Text Placeholder 3">
            <a:extLst>
              <a:ext uri="{FF2B5EF4-FFF2-40B4-BE49-F238E27FC236}">
                <a16:creationId xmlns:a16="http://schemas.microsoft.com/office/drawing/2014/main" id="{326CCB08-D99B-293D-60AC-BEE52BED2621}"/>
              </a:ext>
            </a:extLst>
          </p:cNvPr>
          <p:cNvSpPr>
            <a:spLocks noGrp="1"/>
          </p:cNvSpPr>
          <p:nvPr>
            <p:ph type="body" sz="quarter" idx="15"/>
          </p:nvPr>
        </p:nvSpPr>
        <p:spPr>
          <a:xfrm>
            <a:off x="335360" y="897755"/>
            <a:ext cx="5778500" cy="307777"/>
          </a:xfrm>
        </p:spPr>
        <p:txBody>
          <a:bodyPr lIns="0">
            <a:spAutoFit/>
          </a:bodyPr>
          <a:lstStyle/>
          <a:p>
            <a:r>
              <a:rPr lang="en-US"/>
              <a:t>Canopy depth x glass SC vs the previous HAP solar-load reference</a:t>
            </a:r>
            <a:endParaRPr lang="en-GB" dirty="0"/>
          </a:p>
        </p:txBody>
      </p:sp>
      <p:graphicFrame>
        <p:nvGraphicFramePr>
          <p:cNvPr id="6" name="Table 5">
            <a:extLst>
              <a:ext uri="{FF2B5EF4-FFF2-40B4-BE49-F238E27FC236}">
                <a16:creationId xmlns:a16="http://schemas.microsoft.com/office/drawing/2014/main" id="{EBF0848E-2E62-239C-317A-11C2B463A8E4}"/>
              </a:ext>
            </a:extLst>
          </p:cNvPr>
          <p:cNvGraphicFramePr>
            <a:graphicFrameLocks noGrp="1"/>
          </p:cNvGraphicFramePr>
          <p:nvPr>
            <p:extLst>
              <p:ext uri="{D42A27DB-BD31-4B8C-83A1-F6EECF244321}">
                <p14:modId xmlns:p14="http://schemas.microsoft.com/office/powerpoint/2010/main" val="2805173843"/>
              </p:ext>
            </p:extLst>
          </p:nvPr>
        </p:nvGraphicFramePr>
        <p:xfrm>
          <a:off x="381000" y="1422400"/>
          <a:ext cx="11430000" cy="221996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3604202479"/>
                    </a:ext>
                  </a:extLst>
                </a:gridCol>
                <a:gridCol w="1320800">
                  <a:extLst>
                    <a:ext uri="{9D8B030D-6E8A-4147-A177-3AD203B41FA5}">
                      <a16:colId xmlns:a16="http://schemas.microsoft.com/office/drawing/2014/main" val="305432773"/>
                    </a:ext>
                  </a:extLst>
                </a:gridCol>
                <a:gridCol w="1016000">
                  <a:extLst>
                    <a:ext uri="{9D8B030D-6E8A-4147-A177-3AD203B41FA5}">
                      <a16:colId xmlns:a16="http://schemas.microsoft.com/office/drawing/2014/main" val="876533082"/>
                    </a:ext>
                  </a:extLst>
                </a:gridCol>
                <a:gridCol w="1016000">
                  <a:extLst>
                    <a:ext uri="{9D8B030D-6E8A-4147-A177-3AD203B41FA5}">
                      <a16:colId xmlns:a16="http://schemas.microsoft.com/office/drawing/2014/main" val="900299720"/>
                    </a:ext>
                  </a:extLst>
                </a:gridCol>
                <a:gridCol w="1016000">
                  <a:extLst>
                    <a:ext uri="{9D8B030D-6E8A-4147-A177-3AD203B41FA5}">
                      <a16:colId xmlns:a16="http://schemas.microsoft.com/office/drawing/2014/main" val="1176932530"/>
                    </a:ext>
                  </a:extLst>
                </a:gridCol>
                <a:gridCol w="1320800">
                  <a:extLst>
                    <a:ext uri="{9D8B030D-6E8A-4147-A177-3AD203B41FA5}">
                      <a16:colId xmlns:a16="http://schemas.microsoft.com/office/drawing/2014/main" val="635330492"/>
                    </a:ext>
                  </a:extLst>
                </a:gridCol>
                <a:gridCol w="1320800">
                  <a:extLst>
                    <a:ext uri="{9D8B030D-6E8A-4147-A177-3AD203B41FA5}">
                      <a16:colId xmlns:a16="http://schemas.microsoft.com/office/drawing/2014/main" val="3848135240"/>
                    </a:ext>
                  </a:extLst>
                </a:gridCol>
                <a:gridCol w="1422400">
                  <a:extLst>
                    <a:ext uri="{9D8B030D-6E8A-4147-A177-3AD203B41FA5}">
                      <a16:colId xmlns:a16="http://schemas.microsoft.com/office/drawing/2014/main" val="1742940865"/>
                    </a:ext>
                  </a:extLst>
                </a:gridCol>
                <a:gridCol w="2006600">
                  <a:extLst>
                    <a:ext uri="{9D8B030D-6E8A-4147-A177-3AD203B41FA5}">
                      <a16:colId xmlns:a16="http://schemas.microsoft.com/office/drawing/2014/main" val="962607556"/>
                    </a:ext>
                  </a:extLst>
                </a:gridCol>
              </a:tblGrid>
              <a:tr h="241300">
                <a:tc rowSpan="2">
                  <a:txBody>
                    <a:bodyPr/>
                    <a:lstStyle/>
                    <a:p>
                      <a:pPr algn="ctr"/>
                      <a:r>
                        <a:rPr lang="en-GB" sz="1050" b="1">
                          <a:solidFill>
                            <a:srgbClr val="56626F"/>
                          </a:solidFill>
                          <a:latin typeface="Arial" panose="020B0604020202020204" pitchFamily="34" charset="0"/>
                        </a:rPr>
                        <a:t>Canopy depth</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rowSpan="2">
                  <a:txBody>
                    <a:bodyPr/>
                    <a:lstStyle/>
                    <a:p>
                      <a:pPr algn="ctr"/>
                      <a:r>
                        <a:rPr lang="en-US" sz="1050" b="1" dirty="0">
                          <a:solidFill>
                            <a:srgbClr val="56626F"/>
                          </a:solidFill>
                          <a:latin typeface="Arial" panose="020B0604020202020204" pitchFamily="34" charset="0"/>
                        </a:rPr>
                        <a:t>Façade incident solar, MEP July hour</a:t>
                      </a:r>
                      <a:endParaRPr lang="en-GB" sz="1050" b="1" dirty="0">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gridSpan="3">
                  <a:txBody>
                    <a:bodyPr/>
                    <a:lstStyle/>
                    <a:p>
                      <a:pPr algn="ctr"/>
                      <a:r>
                        <a:rPr lang="en-US" sz="1050" b="1" dirty="0">
                          <a:solidFill>
                            <a:srgbClr val="56626F"/>
                          </a:solidFill>
                          <a:latin typeface="Arial" panose="020B0604020202020204" pitchFamily="34" charset="0"/>
                        </a:rPr>
                        <a:t>Heat gain at MEP July hour (21 Jul, ~14:00)</a:t>
                      </a:r>
                      <a:endParaRPr lang="en-GB" sz="1050" b="1" dirty="0">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hMerge="1">
                  <a:txBody>
                    <a:bodyPr/>
                    <a:lstStyle/>
                    <a:p>
                      <a:pPr algn="ct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hMerge="1">
                  <a:txBody>
                    <a:bodyPr/>
                    <a:lstStyle/>
                    <a:p>
                      <a:pPr algn="ct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rowSpan="2">
                  <a:txBody>
                    <a:bodyPr/>
                    <a:lstStyle/>
                    <a:p>
                      <a:pPr algn="ctr"/>
                      <a:r>
                        <a:rPr lang="en-US" sz="1050" b="1" dirty="0">
                          <a:solidFill>
                            <a:srgbClr val="56626F"/>
                          </a:solidFill>
                          <a:latin typeface="Arial" panose="020B0604020202020204" pitchFamily="34" charset="0"/>
                        </a:rPr>
                        <a:t>Heat gain at MEP June hour (21 Jun, ~13:00), SC 0.40</a:t>
                      </a:r>
                      <a:endParaRPr lang="en-GB" sz="1050" b="1" dirty="0">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rowSpan="2">
                  <a:txBody>
                    <a:bodyPr/>
                    <a:lstStyle/>
                    <a:p>
                      <a:pPr algn="ctr"/>
                      <a:r>
                        <a:rPr lang="en-US" sz="1050" b="1">
                          <a:solidFill>
                            <a:srgbClr val="56626F"/>
                          </a:solidFill>
                          <a:latin typeface="Arial" panose="020B0604020202020204" pitchFamily="34" charset="0"/>
                        </a:rPr>
                        <a:t>Annual maximum heat gain, SC 0.40</a:t>
                      </a: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rowSpan="2">
                  <a:txBody>
                    <a:bodyPr/>
                    <a:lstStyle/>
                    <a:p>
                      <a:pPr algn="ctr"/>
                      <a:r>
                        <a:rPr lang="en-GB" sz="1050" b="1">
                          <a:solidFill>
                            <a:srgbClr val="56626F"/>
                          </a:solidFill>
                          <a:latin typeface="Arial" panose="020B0604020202020204" pitchFamily="34" charset="0"/>
                        </a:rPr>
                        <a:t>Annual maximum: hour start</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rowSpan="2">
                  <a:txBody>
                    <a:bodyPr/>
                    <a:lstStyle/>
                    <a:p>
                      <a:pPr algn="ctr"/>
                      <a:r>
                        <a:rPr lang="en-US" sz="1050" b="1">
                          <a:solidFill>
                            <a:srgbClr val="56626F"/>
                          </a:solidFill>
                          <a:latin typeface="Arial" panose="020B0604020202020204" pitchFamily="34" charset="0"/>
                        </a:rPr>
                        <a:t>Highest façade SC that stays ≤ 4.7 kW at the July hour</a:t>
                      </a: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extLst>
                  <a:ext uri="{0D108BD9-81ED-4DB2-BD59-A6C34878D82A}">
                    <a16:rowId xmlns:a16="http://schemas.microsoft.com/office/drawing/2014/main" val="3569032302"/>
                  </a:ext>
                </a:extLst>
              </a:tr>
              <a:tr h="241300">
                <a:tc vMerge="1">
                  <a:txBody>
                    <a:bodyPr/>
                    <a:lstStyle/>
                    <a:p>
                      <a:pPr algn="ct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vMerge="1">
                  <a:txBody>
                    <a:bodyPr/>
                    <a:lstStyle/>
                    <a:p>
                      <a:pPr algn="ct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SC 0.25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SC 0.32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SC 0.40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vMerge="1">
                  <a:txBody>
                    <a:bodyPr/>
                    <a:lstStyle/>
                    <a:p>
                      <a:pPr algn="ct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vMerge="1">
                  <a:txBody>
                    <a:bodyPr/>
                    <a:lstStyle/>
                    <a:p>
                      <a:pPr algn="ct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vMerge="1">
                  <a:txBody>
                    <a:bodyPr/>
                    <a:lstStyle/>
                    <a:p>
                      <a:pPr algn="ct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vMerge="1">
                  <a:txBody>
                    <a:bodyPr/>
                    <a:lstStyle/>
                    <a:p>
                      <a:pPr algn="ct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extLst>
                  <a:ext uri="{0D108BD9-81ED-4DB2-BD59-A6C34878D82A}">
                    <a16:rowId xmlns:a16="http://schemas.microsoft.com/office/drawing/2014/main" val="1743797944"/>
                  </a:ext>
                </a:extLst>
              </a:tr>
              <a:tr h="241300">
                <a:tc>
                  <a:txBody>
                    <a:bodyPr/>
                    <a:lstStyle/>
                    <a:p>
                      <a:pPr algn="ctr"/>
                      <a:r>
                        <a:rPr lang="en-GB" sz="1050" b="1">
                          <a:solidFill>
                            <a:srgbClr val="56626F"/>
                          </a:solidFill>
                          <a:latin typeface="Arial" panose="020B0604020202020204" pitchFamily="34" charset="0"/>
                        </a:rPr>
                        <a:t>[mm]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dirty="0">
                          <a:solidFill>
                            <a:srgbClr val="56626F"/>
                          </a:solidFill>
                          <a:latin typeface="Arial" panose="020B0604020202020204" pitchFamily="34" charset="0"/>
                        </a:rPr>
                        <a:t>[kW]</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[kW]</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[kW]</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[kW]</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[kW]</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dirty="0">
                          <a:solidFill>
                            <a:srgbClr val="56626F"/>
                          </a:solidFill>
                          <a:latin typeface="Arial" panose="020B0604020202020204" pitchFamily="34" charset="0"/>
                        </a:rPr>
                        <a:t>[kW]</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[date hh:mm]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extLst>
                  <a:ext uri="{0D108BD9-81ED-4DB2-BD59-A6C34878D82A}">
                    <a16:rowId xmlns:a16="http://schemas.microsoft.com/office/drawing/2014/main" val="3314787865"/>
                  </a:ext>
                </a:extLst>
              </a:tr>
              <a:tr h="241300">
                <a:tc>
                  <a:txBody>
                    <a:bodyPr/>
                    <a:lstStyle/>
                    <a:p>
                      <a:pPr algn="ctr"/>
                      <a:r>
                        <a:rPr lang="en-GB" sz="1050" b="0">
                          <a:solidFill>
                            <a:srgbClr val="56626F"/>
                          </a:solidFill>
                          <a:latin typeface="Arial" panose="020B0604020202020204" pitchFamily="34" charset="0"/>
                        </a:rPr>
                        <a:t>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25.12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5.72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7.25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9.00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11.52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19.62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20-Jun 09:00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0.20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2810036465"/>
                  </a:ext>
                </a:extLst>
              </a:tr>
              <a:tr h="241300">
                <a:tc>
                  <a:txBody>
                    <a:bodyPr/>
                    <a:lstStyle/>
                    <a:p>
                      <a:pPr algn="ctr"/>
                      <a:r>
                        <a:rPr lang="en-GB" sz="1050" b="0">
                          <a:solidFill>
                            <a:srgbClr val="56626F"/>
                          </a:solidFill>
                          <a:latin typeface="Arial" panose="020B0604020202020204" pitchFamily="34" charset="0"/>
                        </a:rPr>
                        <a:t>500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21.29</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4.90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6.20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7.68</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10.17</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16.43</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20-Jun 09:00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0.24</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3524648229"/>
                  </a:ext>
                </a:extLst>
              </a:tr>
              <a:tr h="241300">
                <a:tc>
                  <a:txBody>
                    <a:bodyPr/>
                    <a:lstStyle/>
                    <a:p>
                      <a:pPr algn="ctr"/>
                      <a:r>
                        <a:rPr lang="en-GB" sz="1050" b="0">
                          <a:solidFill>
                            <a:srgbClr val="56626F"/>
                          </a:solidFill>
                          <a:latin typeface="Arial" panose="020B0604020202020204" pitchFamily="34" charset="0"/>
                        </a:rPr>
                        <a:t>750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19.96</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006100"/>
                          </a:solidFill>
                          <a:latin typeface="Arial" panose="020B0604020202020204" pitchFamily="34" charset="0"/>
                        </a:rPr>
                        <a:t>4.61</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1050" b="0" dirty="0">
                          <a:solidFill>
                            <a:srgbClr val="56626F"/>
                          </a:solidFill>
                          <a:latin typeface="Arial" panose="020B0604020202020204" pitchFamily="34" charset="0"/>
                        </a:rPr>
                        <a:t>5.83</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7.22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9.74</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14.47</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20-Jun 09:00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0.25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1409939995"/>
                  </a:ext>
                </a:extLst>
              </a:tr>
              <a:tr h="241300">
                <a:tc>
                  <a:txBody>
                    <a:bodyPr/>
                    <a:lstStyle/>
                    <a:p>
                      <a:pPr algn="ctr"/>
                      <a:r>
                        <a:rPr lang="en-GB" sz="1050" b="0">
                          <a:solidFill>
                            <a:srgbClr val="56626F"/>
                          </a:solidFill>
                          <a:latin typeface="Arial" panose="020B0604020202020204" pitchFamily="34" charset="0"/>
                        </a:rPr>
                        <a:t>1000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18.83</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006100"/>
                          </a:solidFill>
                          <a:latin typeface="Arial" panose="020B0604020202020204" pitchFamily="34" charset="0"/>
                        </a:rPr>
                        <a:t>4.36</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1050" b="0" dirty="0">
                          <a:solidFill>
                            <a:srgbClr val="56626F"/>
                          </a:solidFill>
                          <a:latin typeface="Arial" panose="020B0604020202020204" pitchFamily="34" charset="0"/>
                        </a:rPr>
                        <a:t>5.51</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6.82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9.08</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13.51</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16-Jun 08:00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0.27</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1510564874"/>
                  </a:ext>
                </a:extLst>
              </a:tr>
              <a:tr h="241300">
                <a:tc>
                  <a:txBody>
                    <a:bodyPr/>
                    <a:lstStyle/>
                    <a:p>
                      <a:pPr algn="ctr"/>
                      <a:r>
                        <a:rPr lang="en-GB" sz="1050" b="0">
                          <a:solidFill>
                            <a:srgbClr val="56626F"/>
                          </a:solidFill>
                          <a:latin typeface="Arial" panose="020B0604020202020204" pitchFamily="34" charset="0"/>
                        </a:rPr>
                        <a:t>1250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17.97</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006100"/>
                          </a:solidFill>
                          <a:latin typeface="Arial" panose="020B0604020202020204" pitchFamily="34" charset="0"/>
                        </a:rPr>
                        <a:t>4.15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1050" b="0" dirty="0">
                          <a:solidFill>
                            <a:srgbClr val="56626F"/>
                          </a:solidFill>
                          <a:latin typeface="Arial" panose="020B0604020202020204" pitchFamily="34" charset="0"/>
                        </a:rPr>
                        <a:t>5.25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6.50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8.65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12.37</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16-Jun 08:00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0.29</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1033407056"/>
                  </a:ext>
                </a:extLst>
              </a:tr>
              <a:tr h="241300">
                <a:tc>
                  <a:txBody>
                    <a:bodyPr/>
                    <a:lstStyle/>
                    <a:p>
                      <a:pPr algn="ctr"/>
                      <a:r>
                        <a:rPr lang="en-GB" sz="1050" b="0">
                          <a:solidFill>
                            <a:srgbClr val="56626F"/>
                          </a:solidFill>
                          <a:latin typeface="Arial" panose="020B0604020202020204" pitchFamily="34" charset="0"/>
                        </a:rPr>
                        <a:t>1500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16.89</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006100"/>
                          </a:solidFill>
                          <a:latin typeface="Arial" panose="020B0604020202020204" pitchFamily="34" charset="0"/>
                        </a:rPr>
                        <a:t>3.95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1050" b="0" dirty="0">
                          <a:solidFill>
                            <a:srgbClr val="56626F"/>
                          </a:solidFill>
                          <a:latin typeface="Arial" panose="020B0604020202020204" pitchFamily="34" charset="0"/>
                        </a:rPr>
                        <a:t>4.98</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6.15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8.12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11.31</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18-Jun 08:00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dirty="0">
                          <a:solidFill>
                            <a:srgbClr val="56626F"/>
                          </a:solidFill>
                          <a:latin typeface="Arial" panose="020B0604020202020204" pitchFamily="34" charset="0"/>
                        </a:rPr>
                        <a:t>0.30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1884897465"/>
                  </a:ext>
                </a:extLst>
              </a:tr>
            </a:tbl>
          </a:graphicData>
        </a:graphic>
      </p:graphicFrame>
      <p:sp>
        <p:nvSpPr>
          <p:cNvPr id="7" name="TextBox 6">
            <a:extLst>
              <a:ext uri="{FF2B5EF4-FFF2-40B4-BE49-F238E27FC236}">
                <a16:creationId xmlns:a16="http://schemas.microsoft.com/office/drawing/2014/main" id="{69EA4EF1-8F8F-9787-CF21-163982316CBC}"/>
              </a:ext>
            </a:extLst>
          </p:cNvPr>
          <p:cNvSpPr txBox="1"/>
          <p:nvPr/>
        </p:nvSpPr>
        <p:spPr bwMode="auto">
          <a:xfrm>
            <a:off x="381000" y="3680460"/>
            <a:ext cx="11430000" cy="353943"/>
          </a:xfrm>
          <a:prstGeom prst="rect">
            <a:avLst/>
          </a:prstGeom>
          <a:noFill/>
          <a:ln w="9525">
            <a:noFill/>
            <a:miter lim="800000"/>
            <a:headEnd/>
            <a:tailEnd/>
          </a:ln>
          <a:effectLst/>
        </p:spPr>
        <p:txBody>
          <a:bodyPr vert="horz" wrap="square" lIns="0" rtlCol="0">
            <a:spAutoFit/>
          </a:bodyPr>
          <a:lstStyle/>
          <a:p>
            <a:pPr algn="ctr">
              <a:spcBef>
                <a:spcPct val="50000"/>
              </a:spcBef>
            </a:pPr>
            <a:r>
              <a:rPr lang="en-US" sz="850" i="1" dirty="0">
                <a:solidFill>
                  <a:srgbClr val="56626F"/>
                </a:solidFill>
                <a:latin typeface="Arial" panose="020B0604020202020204" pitchFamily="34" charset="0"/>
                <a:cs typeface="Arial"/>
              </a:rPr>
              <a:t>Clear-sky design day (ASHRAE tau model, Dubai Intl. AP) on 21 Jul / 21 Jun, taking the higher of the two hours either side of the previous HAP times (sun at 13:30/14:30 and 12:30/13:30). Using the highest of all July days instead of the 21st raises July values by ~15–20 % (1500 mm, SC 0.40: 6.15 → 7.28 kW). Solar heat gain = 0.87 × (SC × façade incident + 0.25 × skylight incident).</a:t>
            </a:r>
            <a:endParaRPr lang="en-GB" sz="850" i="1" dirty="0">
              <a:solidFill>
                <a:srgbClr val="56626F"/>
              </a:solidFill>
              <a:latin typeface="Arial" panose="020B0604020202020204" pitchFamily="34" charset="0"/>
              <a:cs typeface="Arial"/>
            </a:endParaRPr>
          </a:p>
        </p:txBody>
      </p:sp>
      <p:sp>
        <p:nvSpPr>
          <p:cNvPr id="8" name="Rectangle 7">
            <a:extLst>
              <a:ext uri="{FF2B5EF4-FFF2-40B4-BE49-F238E27FC236}">
                <a16:creationId xmlns:a16="http://schemas.microsoft.com/office/drawing/2014/main" id="{EF56850B-F24F-922F-1306-EF37BEE8F506}"/>
              </a:ext>
            </a:extLst>
          </p:cNvPr>
          <p:cNvSpPr/>
          <p:nvPr/>
        </p:nvSpPr>
        <p:spPr>
          <a:xfrm>
            <a:off x="381000" y="4239260"/>
            <a:ext cx="177800" cy="127000"/>
          </a:xfrm>
          <a:prstGeom prst="rect">
            <a:avLst/>
          </a:prstGeom>
          <a:solidFill>
            <a:srgbClr val="C6EFCE"/>
          </a:solidFill>
          <a:ln w="9525">
            <a:solidFill>
              <a:srgbClr val="00610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FEA62550-B873-AEE7-8AE9-63BC48334F15}"/>
              </a:ext>
            </a:extLst>
          </p:cNvPr>
          <p:cNvSpPr txBox="1"/>
          <p:nvPr/>
        </p:nvSpPr>
        <p:spPr bwMode="auto">
          <a:xfrm>
            <a:off x="584200" y="4188460"/>
            <a:ext cx="6604000" cy="246221"/>
          </a:xfrm>
          <a:prstGeom prst="rect">
            <a:avLst/>
          </a:prstGeom>
          <a:noFill/>
          <a:ln w="9525">
            <a:noFill/>
            <a:miter lim="800000"/>
            <a:headEnd/>
            <a:tailEnd/>
          </a:ln>
          <a:effectLst/>
        </p:spPr>
        <p:txBody>
          <a:bodyPr vert="horz" wrap="square" lIns="0" rtlCol="0">
            <a:spAutoFit/>
          </a:bodyPr>
          <a:lstStyle/>
          <a:p>
            <a:pPr>
              <a:spcBef>
                <a:spcPct val="50000"/>
              </a:spcBef>
            </a:pPr>
            <a:r>
              <a:rPr lang="en-US" sz="1000" dirty="0">
                <a:solidFill>
                  <a:srgbClr val="56626F"/>
                </a:solidFill>
                <a:latin typeface="Arial" panose="020B0604020202020204" pitchFamily="34" charset="0"/>
                <a:cs typeface="Arial"/>
              </a:rPr>
              <a:t>≤ 4.7 kW – at or below the </a:t>
            </a:r>
            <a:r>
              <a:rPr lang="en-US" sz="1000" i="1" dirty="0"/>
              <a:t>MEP engineer’s</a:t>
            </a:r>
            <a:r>
              <a:rPr lang="en-US" sz="1000" dirty="0">
                <a:solidFill>
                  <a:srgbClr val="56626F"/>
                </a:solidFill>
                <a:latin typeface="Arial" panose="020B0604020202020204" pitchFamily="34" charset="0"/>
                <a:cs typeface="Arial"/>
              </a:rPr>
              <a:t> HAP solar-load reference (not an agreed limit)</a:t>
            </a:r>
            <a:endParaRPr lang="en-GB" sz="1000" dirty="0">
              <a:solidFill>
                <a:srgbClr val="56626F"/>
              </a:solidFill>
              <a:latin typeface="Arial" panose="020B0604020202020204" pitchFamily="34" charset="0"/>
              <a:cs typeface="Arial"/>
            </a:endParaRPr>
          </a:p>
        </p:txBody>
      </p:sp>
      <p:sp>
        <p:nvSpPr>
          <p:cNvPr id="11" name="TextBox 10">
            <a:extLst>
              <a:ext uri="{FF2B5EF4-FFF2-40B4-BE49-F238E27FC236}">
                <a16:creationId xmlns:a16="http://schemas.microsoft.com/office/drawing/2014/main" id="{FA680A13-98DF-B2C0-85B9-B66029542F77}"/>
              </a:ext>
            </a:extLst>
          </p:cNvPr>
          <p:cNvSpPr txBox="1"/>
          <p:nvPr/>
        </p:nvSpPr>
        <p:spPr bwMode="auto">
          <a:xfrm>
            <a:off x="381000" y="4467860"/>
            <a:ext cx="11430000" cy="1627369"/>
          </a:xfrm>
          <a:prstGeom prst="rect">
            <a:avLst/>
          </a:prstGeom>
          <a:noFill/>
          <a:ln w="9525">
            <a:noFill/>
            <a:miter lim="800000"/>
            <a:headEnd/>
            <a:tailEnd/>
          </a:ln>
          <a:effectLst/>
        </p:spPr>
        <p:txBody>
          <a:bodyPr vert="horz" wrap="square" lIns="0" rtlCol="0">
            <a:spAutoFit/>
          </a:bodyPr>
          <a:lstStyle/>
          <a:p>
            <a:pPr>
              <a:spcBef>
                <a:spcPct val="50000"/>
              </a:spcBef>
            </a:pPr>
            <a:r>
              <a:rPr lang="en-US" sz="1050" b="1" dirty="0">
                <a:solidFill>
                  <a:srgbClr val="56626F"/>
                </a:solidFill>
                <a:latin typeface="Arial" panose="020B0604020202020204" pitchFamily="34" charset="0"/>
                <a:cs typeface="Arial"/>
              </a:rPr>
              <a:t>Key points</a:t>
            </a:r>
          </a:p>
          <a:p>
            <a:pPr marL="228600" indent="-228600">
              <a:spcBef>
                <a:spcPct val="50000"/>
              </a:spcBef>
              <a:buFont typeface="+mj-lt"/>
              <a:buChar char="•"/>
            </a:pPr>
            <a:r>
              <a:rPr lang="en-US" sz="1050" dirty="0">
                <a:solidFill>
                  <a:srgbClr val="56626F"/>
                </a:solidFill>
                <a:latin typeface="Arial" panose="020B0604020202020204" pitchFamily="34" charset="0"/>
                <a:cs typeface="Arial"/>
              </a:rPr>
              <a:t>With SC 0.40 (~70 % VLT) the July heat gain is 6.15–9.00 kW: above the MEP engineer’s HAP reference (4.75 kW) at every depth; 1500 mm comes closest.</a:t>
            </a:r>
          </a:p>
          <a:p>
            <a:pPr marL="228600" indent="-228600">
              <a:spcBef>
                <a:spcPct val="50000"/>
              </a:spcBef>
              <a:buFont typeface="+mj-lt"/>
              <a:buChar char="•"/>
            </a:pPr>
            <a:r>
              <a:rPr lang="en-US" sz="1050" dirty="0">
                <a:solidFill>
                  <a:srgbClr val="56626F"/>
                </a:solidFill>
                <a:latin typeface="Arial" panose="020B0604020202020204" pitchFamily="34" charset="0"/>
                <a:cs typeface="Arial"/>
              </a:rPr>
              <a:t>SC 0.25 glass stays at or below the reference from 750 mm (4.61 kW) to 1500 mm (3.95 kW); SC 0.32 does not (4.98 kW at 1500 mm).</a:t>
            </a:r>
          </a:p>
          <a:p>
            <a:pPr marL="228600" indent="-228600">
              <a:spcBef>
                <a:spcPct val="50000"/>
              </a:spcBef>
              <a:buFont typeface="+mj-lt"/>
              <a:buChar char="•"/>
            </a:pPr>
            <a:r>
              <a:rPr lang="en-US" sz="1050" dirty="0">
                <a:solidFill>
                  <a:srgbClr val="56626F"/>
                </a:solidFill>
                <a:latin typeface="Arial" panose="020B0604020202020204" pitchFamily="34" charset="0"/>
                <a:cs typeface="Arial"/>
              </a:rPr>
              <a:t>The annual maximum falls on June mornings (11.3–19.6 kW at SC 0.40), above the July value considered by the MEP.</a:t>
            </a:r>
          </a:p>
          <a:p>
            <a:pPr marL="228600" indent="-228600">
              <a:spcBef>
                <a:spcPct val="50000"/>
              </a:spcBef>
              <a:buFont typeface="+mj-lt"/>
              <a:buChar char="•"/>
            </a:pPr>
            <a:r>
              <a:rPr lang="en-US" sz="1050" dirty="0">
                <a:solidFill>
                  <a:srgbClr val="56626F"/>
                </a:solidFill>
                <a:latin typeface="Arial" panose="020B0604020202020204" pitchFamily="34" charset="0"/>
                <a:cs typeface="Arial"/>
              </a:rPr>
              <a:t>Per m² of glass the July heat gain at SC 0.40 is 29–42 W/m², against 74 W/m² in the previous HAP model; the glazed area is 3.3× larger (213.7 vs 64 m²). MEP engineer to confirm the glazing areas.</a:t>
            </a:r>
          </a:p>
          <a:p>
            <a:pPr marL="228600" indent="-228600">
              <a:spcBef>
                <a:spcPct val="50000"/>
              </a:spcBef>
              <a:buFont typeface="+mj-lt"/>
              <a:buChar char="•"/>
            </a:pPr>
            <a:r>
              <a:rPr lang="en-GB" sz="1050" dirty="0">
                <a:solidFill>
                  <a:srgbClr val="56626F"/>
                </a:solidFill>
                <a:latin typeface="Arial" panose="020B0604020202020204" pitchFamily="34" charset="0"/>
                <a:cs typeface="Arial"/>
              </a:rPr>
              <a:t>The last column is the highest façade SC that keeps the window + skylight heat gain at or below 4.7 kW at the July design hour (21 July, ~14:00).</a:t>
            </a:r>
            <a:endParaRPr lang="en-US" sz="1050" dirty="0">
              <a:solidFill>
                <a:srgbClr val="56626F"/>
              </a:solidFill>
              <a:latin typeface="Arial" panose="020B0604020202020204" pitchFamily="34" charset="0"/>
              <a:cs typeface="Arial"/>
            </a:endParaRPr>
          </a:p>
        </p:txBody>
      </p:sp>
      <p:sp>
        <p:nvSpPr>
          <p:cNvPr id="9" name="Rectangle: Rounded Corners 8">
            <a:extLst>
              <a:ext uri="{FF2B5EF4-FFF2-40B4-BE49-F238E27FC236}">
                <a16:creationId xmlns:a16="http://schemas.microsoft.com/office/drawing/2014/main" id="{6DD85A5B-64BF-ECC8-3BDB-3CB684BC1668}"/>
              </a:ext>
            </a:extLst>
          </p:cNvPr>
          <p:cNvSpPr/>
          <p:nvPr/>
        </p:nvSpPr>
        <p:spPr>
          <a:xfrm>
            <a:off x="4727849" y="1638989"/>
            <a:ext cx="1008111" cy="2003372"/>
          </a:xfrm>
          <a:prstGeom prst="roundRect">
            <a:avLst/>
          </a:prstGeom>
          <a:solidFill>
            <a:srgbClr val="EA560D">
              <a:alpha val="17000"/>
            </a:srgbClr>
          </a:solidFill>
          <a:ln w="38100">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solidFill>
                <a:schemeClr val="dk1"/>
              </a:solidFill>
            </a:endParaRPr>
          </a:p>
        </p:txBody>
      </p:sp>
    </p:spTree>
    <p:extLst>
      <p:ext uri="{BB962C8B-B14F-4D97-AF65-F5344CB8AC3E}">
        <p14:creationId xmlns:p14="http://schemas.microsoft.com/office/powerpoint/2010/main" val="36980313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C33B2F6-E54C-CE19-E3F4-E809FD662B6B}"/>
              </a:ext>
            </a:extLst>
          </p:cNvPr>
          <p:cNvSpPr>
            <a:spLocks noGrp="1"/>
          </p:cNvSpPr>
          <p:nvPr>
            <p:ph type="body" sz="quarter" idx="14"/>
          </p:nvPr>
        </p:nvSpPr>
        <p:spPr>
          <a:xfrm>
            <a:off x="6210300" y="812800"/>
            <a:ext cx="5651500" cy="400110"/>
          </a:xfrm>
        </p:spPr>
        <p:txBody>
          <a:bodyPr wrap="square">
            <a:noAutofit/>
          </a:bodyPr>
          <a:lstStyle/>
          <a:p>
            <a:pPr algn="r"/>
            <a:r>
              <a:rPr lang="en-US" sz="1000" i="1" dirty="0"/>
              <a:t>6 · Timing: this façade's heat gain peaks on June mornings, 5.2–6.5 kW above its July-afternoon value at 1500 mm.</a:t>
            </a:r>
            <a:endParaRPr lang="en-GB" sz="1000" i="1" dirty="0"/>
          </a:p>
        </p:txBody>
      </p:sp>
      <p:sp>
        <p:nvSpPr>
          <p:cNvPr id="3" name="Text Placeholder 2">
            <a:extLst>
              <a:ext uri="{FF2B5EF4-FFF2-40B4-BE49-F238E27FC236}">
                <a16:creationId xmlns:a16="http://schemas.microsoft.com/office/drawing/2014/main" id="{237E150B-1035-A10E-456A-83B38C8786C2}"/>
              </a:ext>
            </a:extLst>
          </p:cNvPr>
          <p:cNvSpPr>
            <a:spLocks noGrp="1"/>
          </p:cNvSpPr>
          <p:nvPr>
            <p:ph type="body" sz="quarter" idx="10"/>
          </p:nvPr>
        </p:nvSpPr>
        <p:spPr>
          <a:xfrm>
            <a:off x="335360" y="260648"/>
            <a:ext cx="11521279" cy="553998"/>
          </a:xfrm>
        </p:spPr>
        <p:txBody>
          <a:bodyPr/>
          <a:lstStyle/>
          <a:p>
            <a:r>
              <a:rPr lang="en-US" dirty="0"/>
              <a:t>Clear-Sky Design Day vs Typical Year</a:t>
            </a:r>
            <a:endParaRPr lang="en-GB" dirty="0"/>
          </a:p>
        </p:txBody>
      </p:sp>
      <p:sp>
        <p:nvSpPr>
          <p:cNvPr id="4" name="Text Placeholder 3">
            <a:extLst>
              <a:ext uri="{FF2B5EF4-FFF2-40B4-BE49-F238E27FC236}">
                <a16:creationId xmlns:a16="http://schemas.microsoft.com/office/drawing/2014/main" id="{326CCB08-D99B-293D-60AC-BEE52BED2621}"/>
              </a:ext>
            </a:extLst>
          </p:cNvPr>
          <p:cNvSpPr>
            <a:spLocks noGrp="1"/>
          </p:cNvSpPr>
          <p:nvPr>
            <p:ph type="body" sz="quarter" idx="15"/>
          </p:nvPr>
        </p:nvSpPr>
        <p:spPr>
          <a:xfrm>
            <a:off x="335360" y="897755"/>
            <a:ext cx="5778500" cy="307777"/>
          </a:xfrm>
        </p:spPr>
        <p:txBody>
          <a:bodyPr lIns="0">
            <a:spAutoFit/>
          </a:bodyPr>
          <a:lstStyle/>
          <a:p>
            <a:r>
              <a:rPr lang="en-US" dirty="0"/>
              <a:t>Heat gain at </a:t>
            </a:r>
            <a:r>
              <a:rPr lang="en-US" b="1" dirty="0">
                <a:solidFill>
                  <a:srgbClr val="EA560D"/>
                </a:solidFill>
              </a:rPr>
              <a:t>SC 0.40</a:t>
            </a:r>
            <a:r>
              <a:rPr lang="en-US" dirty="0"/>
              <a:t>: MEP July hour vs annual maximum</a:t>
            </a:r>
            <a:endParaRPr lang="en-GB" dirty="0"/>
          </a:p>
        </p:txBody>
      </p:sp>
      <p:graphicFrame>
        <p:nvGraphicFramePr>
          <p:cNvPr id="6" name="Table 5">
            <a:extLst>
              <a:ext uri="{FF2B5EF4-FFF2-40B4-BE49-F238E27FC236}">
                <a16:creationId xmlns:a16="http://schemas.microsoft.com/office/drawing/2014/main" id="{982C2DC5-720E-D20D-7941-7A0FB3C7CEA9}"/>
              </a:ext>
            </a:extLst>
          </p:cNvPr>
          <p:cNvGraphicFramePr>
            <a:graphicFrameLocks noGrp="1"/>
          </p:cNvGraphicFramePr>
          <p:nvPr>
            <p:extLst>
              <p:ext uri="{D42A27DB-BD31-4B8C-83A1-F6EECF244321}">
                <p14:modId xmlns:p14="http://schemas.microsoft.com/office/powerpoint/2010/main" val="2777199504"/>
              </p:ext>
            </p:extLst>
          </p:nvPr>
        </p:nvGraphicFramePr>
        <p:xfrm>
          <a:off x="622300" y="1422400"/>
          <a:ext cx="10947400" cy="2301240"/>
        </p:xfrm>
        <a:graphic>
          <a:graphicData uri="http://schemas.openxmlformats.org/drawingml/2006/table">
            <a:tbl>
              <a:tblPr firstRow="1" bandRow="1">
                <a:tableStyleId>{5C22544A-7EE6-4342-B048-85BDC9FD1C3A}</a:tableStyleId>
              </a:tblPr>
              <a:tblGrid>
                <a:gridCol w="1333500">
                  <a:extLst>
                    <a:ext uri="{9D8B030D-6E8A-4147-A177-3AD203B41FA5}">
                      <a16:colId xmlns:a16="http://schemas.microsoft.com/office/drawing/2014/main" val="3411537443"/>
                    </a:ext>
                  </a:extLst>
                </a:gridCol>
                <a:gridCol w="1651000">
                  <a:extLst>
                    <a:ext uri="{9D8B030D-6E8A-4147-A177-3AD203B41FA5}">
                      <a16:colId xmlns:a16="http://schemas.microsoft.com/office/drawing/2014/main" val="2924955406"/>
                    </a:ext>
                  </a:extLst>
                </a:gridCol>
                <a:gridCol w="1714500">
                  <a:extLst>
                    <a:ext uri="{9D8B030D-6E8A-4147-A177-3AD203B41FA5}">
                      <a16:colId xmlns:a16="http://schemas.microsoft.com/office/drawing/2014/main" val="2231179390"/>
                    </a:ext>
                  </a:extLst>
                </a:gridCol>
                <a:gridCol w="1524000">
                  <a:extLst>
                    <a:ext uri="{9D8B030D-6E8A-4147-A177-3AD203B41FA5}">
                      <a16:colId xmlns:a16="http://schemas.microsoft.com/office/drawing/2014/main" val="1969306914"/>
                    </a:ext>
                  </a:extLst>
                </a:gridCol>
                <a:gridCol w="1587500">
                  <a:extLst>
                    <a:ext uri="{9D8B030D-6E8A-4147-A177-3AD203B41FA5}">
                      <a16:colId xmlns:a16="http://schemas.microsoft.com/office/drawing/2014/main" val="620412491"/>
                    </a:ext>
                  </a:extLst>
                </a:gridCol>
                <a:gridCol w="1524000">
                  <a:extLst>
                    <a:ext uri="{9D8B030D-6E8A-4147-A177-3AD203B41FA5}">
                      <a16:colId xmlns:a16="http://schemas.microsoft.com/office/drawing/2014/main" val="1969272881"/>
                    </a:ext>
                  </a:extLst>
                </a:gridCol>
                <a:gridCol w="1612900">
                  <a:extLst>
                    <a:ext uri="{9D8B030D-6E8A-4147-A177-3AD203B41FA5}">
                      <a16:colId xmlns:a16="http://schemas.microsoft.com/office/drawing/2014/main" val="2234685660"/>
                    </a:ext>
                  </a:extLst>
                </a:gridCol>
              </a:tblGrid>
              <a:tr h="241300">
                <a:tc rowSpan="2">
                  <a:txBody>
                    <a:bodyPr/>
                    <a:lstStyle/>
                    <a:p>
                      <a:pPr algn="ctr"/>
                      <a:r>
                        <a:rPr lang="en-GB" sz="1050" b="1">
                          <a:solidFill>
                            <a:srgbClr val="56626F"/>
                          </a:solidFill>
                          <a:latin typeface="Arial" panose="020B0604020202020204" pitchFamily="34" charset="0"/>
                        </a:rPr>
                        <a:t>Canopy depth</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gridSpan="2">
                  <a:txBody>
                    <a:bodyPr/>
                    <a:lstStyle/>
                    <a:p>
                      <a:pPr algn="ctr"/>
                      <a:r>
                        <a:rPr lang="en-US" sz="1050" b="1">
                          <a:solidFill>
                            <a:srgbClr val="56626F"/>
                          </a:solidFill>
                          <a:latin typeface="Arial" panose="020B0604020202020204" pitchFamily="34" charset="0"/>
                        </a:rPr>
                        <a:t>Heat gain at MEP July hour (~14:00)</a:t>
                      </a: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hMerge="1">
                  <a:txBody>
                    <a:bodyPr/>
                    <a:lstStyle/>
                    <a:p>
                      <a:pPr algn="ct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gridSpan="4">
                  <a:txBody>
                    <a:bodyPr/>
                    <a:lstStyle/>
                    <a:p>
                      <a:pPr algn="ctr"/>
                      <a:r>
                        <a:rPr lang="en-GB" sz="1050" b="1">
                          <a:solidFill>
                            <a:srgbClr val="56626F"/>
                          </a:solidFill>
                          <a:latin typeface="Arial" panose="020B0604020202020204" pitchFamily="34" charset="0"/>
                        </a:rPr>
                        <a:t>Annual maximum heat gain</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hMerge="1">
                  <a:txBody>
                    <a:bodyPr/>
                    <a:lstStyle/>
                    <a:p>
                      <a:pPr algn="ct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hMerge="1">
                  <a:txBody>
                    <a:bodyPr/>
                    <a:lstStyle/>
                    <a:p>
                      <a:pPr algn="ct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hMerge="1">
                  <a:txBody>
                    <a:bodyPr/>
                    <a:lstStyle/>
                    <a:p>
                      <a:pPr algn="ct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extLst>
                  <a:ext uri="{0D108BD9-81ED-4DB2-BD59-A6C34878D82A}">
                    <a16:rowId xmlns:a16="http://schemas.microsoft.com/office/drawing/2014/main" val="1986946507"/>
                  </a:ext>
                </a:extLst>
              </a:tr>
              <a:tr h="241300">
                <a:tc vMerge="1">
                  <a:txBody>
                    <a:bodyPr/>
                    <a:lstStyle/>
                    <a:p>
                      <a:pPr algn="ct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Design day (21 Jul)</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US" sz="1050" b="1">
                          <a:solidFill>
                            <a:srgbClr val="56626F"/>
                          </a:solidFill>
                          <a:latin typeface="Arial" panose="020B0604020202020204" pitchFamily="34" charset="0"/>
                        </a:rPr>
                        <a:t>Typical year (highest July day)</a:t>
                      </a:r>
                      <a:endParaRPr lang="en-GB" sz="1050" b="1">
                        <a:solidFill>
                          <a:srgbClr val="56626F"/>
                        </a:solidFill>
                        <a:latin typeface="Arial" panose="020B0604020202020204" pitchFamily="34" charset="0"/>
                      </a:endParaRP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Design day</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Hour start</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Typical year</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Hour start</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extLst>
                  <a:ext uri="{0D108BD9-81ED-4DB2-BD59-A6C34878D82A}">
                    <a16:rowId xmlns:a16="http://schemas.microsoft.com/office/drawing/2014/main" val="1018072627"/>
                  </a:ext>
                </a:extLst>
              </a:tr>
              <a:tr h="241300">
                <a:tc>
                  <a:txBody>
                    <a:bodyPr/>
                    <a:lstStyle/>
                    <a:p>
                      <a:pPr algn="ctr"/>
                      <a:r>
                        <a:rPr lang="en-GB" sz="1050" b="1">
                          <a:solidFill>
                            <a:srgbClr val="56626F"/>
                          </a:solidFill>
                          <a:latin typeface="Arial" panose="020B0604020202020204" pitchFamily="34" charset="0"/>
                        </a:rPr>
                        <a:t>[mm]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[kW]</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[kW]</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[kW]</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[date hh:mm]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[kW]</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1050" b="1">
                          <a:solidFill>
                            <a:srgbClr val="56626F"/>
                          </a:solidFill>
                          <a:latin typeface="Arial" panose="020B0604020202020204" pitchFamily="34" charset="0"/>
                        </a:rPr>
                        <a:t>[date hh:mm]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extLst>
                  <a:ext uri="{0D108BD9-81ED-4DB2-BD59-A6C34878D82A}">
                    <a16:rowId xmlns:a16="http://schemas.microsoft.com/office/drawing/2014/main" val="1632720329"/>
                  </a:ext>
                </a:extLst>
              </a:tr>
              <a:tr h="241300">
                <a:tc>
                  <a:txBody>
                    <a:bodyPr/>
                    <a:lstStyle/>
                    <a:p>
                      <a:pPr algn="ctr"/>
                      <a:r>
                        <a:rPr lang="en-GB" sz="1050" b="0">
                          <a:solidFill>
                            <a:srgbClr val="56626F"/>
                          </a:solidFill>
                          <a:latin typeface="Arial" panose="020B0604020202020204" pitchFamily="34" charset="0"/>
                        </a:rPr>
                        <a:t>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9.00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8.60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19.62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20-Jun 09:00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19.49</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12-Jun 09:00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1155618037"/>
                  </a:ext>
                </a:extLst>
              </a:tr>
              <a:tr h="241300">
                <a:tc>
                  <a:txBody>
                    <a:bodyPr/>
                    <a:lstStyle/>
                    <a:p>
                      <a:pPr algn="ctr"/>
                      <a:r>
                        <a:rPr lang="en-GB" sz="1050" b="0">
                          <a:solidFill>
                            <a:srgbClr val="56626F"/>
                          </a:solidFill>
                          <a:latin typeface="Arial" panose="020B0604020202020204" pitchFamily="34" charset="0"/>
                        </a:rPr>
                        <a:t>500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7.68</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6.94</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16.43</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20-Jun 09:00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16.17</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12-Jun 09:00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120692216"/>
                  </a:ext>
                </a:extLst>
              </a:tr>
              <a:tr h="241300">
                <a:tc>
                  <a:txBody>
                    <a:bodyPr/>
                    <a:lstStyle/>
                    <a:p>
                      <a:pPr algn="ctr"/>
                      <a:r>
                        <a:rPr lang="en-GB" sz="1050" b="0">
                          <a:solidFill>
                            <a:srgbClr val="56626F"/>
                          </a:solidFill>
                          <a:latin typeface="Arial" panose="020B0604020202020204" pitchFamily="34" charset="0"/>
                        </a:rPr>
                        <a:t>750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7.22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6.71</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14.47</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20-Jun 09:00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15.47</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24-Jun 08:00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3951491756"/>
                  </a:ext>
                </a:extLst>
              </a:tr>
              <a:tr h="241300">
                <a:tc>
                  <a:txBody>
                    <a:bodyPr/>
                    <a:lstStyle/>
                    <a:p>
                      <a:pPr algn="ctr"/>
                      <a:r>
                        <a:rPr lang="en-GB" sz="1050" b="0">
                          <a:solidFill>
                            <a:srgbClr val="56626F"/>
                          </a:solidFill>
                          <a:latin typeface="Arial" panose="020B0604020202020204" pitchFamily="34" charset="0"/>
                        </a:rPr>
                        <a:t>1000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6.82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6.42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13.51</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16-Jun 08:00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14.55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12-Jun 08:00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2819816863"/>
                  </a:ext>
                </a:extLst>
              </a:tr>
              <a:tr h="241300">
                <a:tc>
                  <a:txBody>
                    <a:bodyPr/>
                    <a:lstStyle/>
                    <a:p>
                      <a:pPr algn="ctr"/>
                      <a:r>
                        <a:rPr lang="en-GB" sz="1050" b="0">
                          <a:solidFill>
                            <a:srgbClr val="56626F"/>
                          </a:solidFill>
                          <a:latin typeface="Arial" panose="020B0604020202020204" pitchFamily="34" charset="0"/>
                        </a:rPr>
                        <a:t>1250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6.50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6.12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12.37</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16-Jun 08:00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13.53</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11-Jun 08:00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3821578804"/>
                  </a:ext>
                </a:extLst>
              </a:tr>
              <a:tr h="241300">
                <a:tc>
                  <a:txBody>
                    <a:bodyPr/>
                    <a:lstStyle/>
                    <a:p>
                      <a:pPr algn="ctr"/>
                      <a:r>
                        <a:rPr lang="en-GB" sz="1050" b="0">
                          <a:solidFill>
                            <a:srgbClr val="56626F"/>
                          </a:solidFill>
                          <a:latin typeface="Arial" panose="020B0604020202020204" pitchFamily="34" charset="0"/>
                        </a:rPr>
                        <a:t>1500 mm</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6.15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5.82</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11.31</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18-Jun 08:00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12.35</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1050" b="0">
                          <a:solidFill>
                            <a:srgbClr val="56626F"/>
                          </a:solidFill>
                          <a:latin typeface="Arial" panose="020B0604020202020204" pitchFamily="34" charset="0"/>
                        </a:rPr>
                        <a:t>11-Jun 08:00</a:t>
                      </a:r>
                    </a:p>
                  </a:txBody>
                  <a:tcPr marL="38100" marR="38100" marT="25400" marB="25400" anchor="ctr">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2127689628"/>
                  </a:ext>
                </a:extLst>
              </a:tr>
            </a:tbl>
          </a:graphicData>
        </a:graphic>
      </p:graphicFrame>
      <p:sp>
        <p:nvSpPr>
          <p:cNvPr id="7" name="TextBox 6">
            <a:extLst>
              <a:ext uri="{FF2B5EF4-FFF2-40B4-BE49-F238E27FC236}">
                <a16:creationId xmlns:a16="http://schemas.microsoft.com/office/drawing/2014/main" id="{F2AE93C5-A649-57B7-5507-A63DB984986B}"/>
              </a:ext>
            </a:extLst>
          </p:cNvPr>
          <p:cNvSpPr txBox="1"/>
          <p:nvPr/>
        </p:nvSpPr>
        <p:spPr bwMode="auto">
          <a:xfrm>
            <a:off x="622300" y="3761740"/>
            <a:ext cx="10947400" cy="353943"/>
          </a:xfrm>
          <a:prstGeom prst="rect">
            <a:avLst/>
          </a:prstGeom>
          <a:noFill/>
          <a:ln w="9525">
            <a:noFill/>
            <a:miter lim="800000"/>
            <a:headEnd/>
            <a:tailEnd/>
          </a:ln>
          <a:effectLst/>
        </p:spPr>
        <p:txBody>
          <a:bodyPr vert="horz" wrap="square" lIns="0" rtlCol="0">
            <a:spAutoFit/>
          </a:bodyPr>
          <a:lstStyle/>
          <a:p>
            <a:pPr>
              <a:spcBef>
                <a:spcPct val="50000"/>
              </a:spcBef>
            </a:pPr>
            <a:r>
              <a:rPr lang="en-GB" sz="850" i="1" dirty="0">
                <a:solidFill>
                  <a:srgbClr val="56626F"/>
                </a:solidFill>
                <a:latin typeface="Arial" panose="020B0604020202020204" pitchFamily="34" charset="0"/>
                <a:cs typeface="Arial"/>
              </a:rPr>
              <a:t>Façade SC 0.40, skylight SC 0.25. Design day = ASHRAE clear sky (tau model, 2009 coefficients; Dubai Intl. AP), 21st of the month. Typical year = </a:t>
            </a:r>
            <a:r>
              <a:rPr lang="en-GB" sz="850" i="1" dirty="0" err="1">
                <a:solidFill>
                  <a:srgbClr val="56626F"/>
                </a:solidFill>
                <a:latin typeface="Arial" panose="020B0604020202020204" pitchFamily="34" charset="0"/>
                <a:cs typeface="Arial"/>
              </a:rPr>
              <a:t>TMYx</a:t>
            </a:r>
            <a:r>
              <a:rPr lang="en-GB" sz="850" i="1" dirty="0">
                <a:solidFill>
                  <a:srgbClr val="56626F"/>
                </a:solidFill>
                <a:latin typeface="Arial" panose="020B0604020202020204" pitchFamily="34" charset="0"/>
                <a:cs typeface="Arial"/>
              </a:rPr>
              <a:t> Dubai Intl. AP (source period 1973–2025), highest July day. Hour start, e.g. 08:00 = 08:00–09:00, local standard time. Solar heat gain, not a HAP cooling load; no safety factor.</a:t>
            </a:r>
          </a:p>
        </p:txBody>
      </p:sp>
      <p:sp>
        <p:nvSpPr>
          <p:cNvPr id="8" name="Rectangle 7">
            <a:extLst>
              <a:ext uri="{FF2B5EF4-FFF2-40B4-BE49-F238E27FC236}">
                <a16:creationId xmlns:a16="http://schemas.microsoft.com/office/drawing/2014/main" id="{E9C797D4-7DED-7D2C-EA0D-E655436A92BB}"/>
              </a:ext>
            </a:extLst>
          </p:cNvPr>
          <p:cNvSpPr/>
          <p:nvPr/>
        </p:nvSpPr>
        <p:spPr>
          <a:xfrm>
            <a:off x="622300" y="4193540"/>
            <a:ext cx="177800" cy="127000"/>
          </a:xfrm>
          <a:prstGeom prst="rect">
            <a:avLst/>
          </a:prstGeom>
          <a:solidFill>
            <a:srgbClr val="C6EFCE"/>
          </a:solidFill>
          <a:ln w="9525">
            <a:solidFill>
              <a:srgbClr val="00610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4534541A-FF69-9B15-157F-49AA3B0AEAA1}"/>
              </a:ext>
            </a:extLst>
          </p:cNvPr>
          <p:cNvSpPr txBox="1"/>
          <p:nvPr/>
        </p:nvSpPr>
        <p:spPr bwMode="auto">
          <a:xfrm>
            <a:off x="825500" y="4142740"/>
            <a:ext cx="6604000" cy="253916"/>
          </a:xfrm>
          <a:prstGeom prst="rect">
            <a:avLst/>
          </a:prstGeom>
          <a:noFill/>
          <a:ln w="9525">
            <a:noFill/>
            <a:miter lim="800000"/>
            <a:headEnd/>
            <a:tailEnd/>
          </a:ln>
          <a:effectLst/>
        </p:spPr>
        <p:txBody>
          <a:bodyPr vert="horz" wrap="square" lIns="0" rtlCol="0">
            <a:spAutoFit/>
          </a:bodyPr>
          <a:lstStyle/>
          <a:p>
            <a:pPr>
              <a:spcBef>
                <a:spcPct val="50000"/>
              </a:spcBef>
            </a:pPr>
            <a:r>
              <a:rPr lang="en-US" sz="1000" dirty="0">
                <a:solidFill>
                  <a:srgbClr val="56626F"/>
                </a:solidFill>
                <a:latin typeface="Arial" panose="020B0604020202020204" pitchFamily="34" charset="0"/>
                <a:cs typeface="Arial"/>
              </a:rPr>
              <a:t>≤ 4.7 kW – at or below the MEP’s HAP solar-load reference </a:t>
            </a:r>
            <a:endParaRPr lang="en-GB" sz="1000" dirty="0">
              <a:solidFill>
                <a:srgbClr val="56626F"/>
              </a:solidFill>
              <a:latin typeface="Arial" panose="020B0604020202020204" pitchFamily="34" charset="0"/>
              <a:cs typeface="Arial"/>
            </a:endParaRPr>
          </a:p>
        </p:txBody>
      </p:sp>
      <p:sp>
        <p:nvSpPr>
          <p:cNvPr id="11" name="TextBox 10">
            <a:extLst>
              <a:ext uri="{FF2B5EF4-FFF2-40B4-BE49-F238E27FC236}">
                <a16:creationId xmlns:a16="http://schemas.microsoft.com/office/drawing/2014/main" id="{4ADC5D8E-784A-80DB-3756-CEEF93D24E04}"/>
              </a:ext>
            </a:extLst>
          </p:cNvPr>
          <p:cNvSpPr txBox="1"/>
          <p:nvPr/>
        </p:nvSpPr>
        <p:spPr bwMode="auto">
          <a:xfrm>
            <a:off x="622300" y="4422140"/>
            <a:ext cx="10947400" cy="1223412"/>
          </a:xfrm>
          <a:prstGeom prst="rect">
            <a:avLst/>
          </a:prstGeom>
          <a:noFill/>
          <a:ln w="9525">
            <a:noFill/>
            <a:miter lim="800000"/>
            <a:headEnd/>
            <a:tailEnd/>
          </a:ln>
          <a:effectLst/>
        </p:spPr>
        <p:txBody>
          <a:bodyPr vert="horz" wrap="square" lIns="0" rtlCol="0">
            <a:spAutoFit/>
          </a:bodyPr>
          <a:lstStyle/>
          <a:p>
            <a:pPr>
              <a:spcBef>
                <a:spcPct val="50000"/>
              </a:spcBef>
            </a:pPr>
            <a:r>
              <a:rPr lang="en-US" sz="1050" b="1" dirty="0">
                <a:solidFill>
                  <a:srgbClr val="56626F"/>
                </a:solidFill>
                <a:latin typeface="Arial" panose="020B0604020202020204" pitchFamily="34" charset="0"/>
                <a:cs typeface="Arial"/>
              </a:rPr>
              <a:t>Key points</a:t>
            </a:r>
          </a:p>
          <a:p>
            <a:pPr marL="228600" indent="-228600">
              <a:spcBef>
                <a:spcPct val="50000"/>
              </a:spcBef>
              <a:buFont typeface="+mj-lt"/>
              <a:buChar char="•"/>
            </a:pPr>
            <a:r>
              <a:rPr lang="en-US" sz="1050" dirty="0">
                <a:solidFill>
                  <a:srgbClr val="56626F"/>
                </a:solidFill>
                <a:latin typeface="Arial" panose="020B0604020202020204" pitchFamily="34" charset="0"/>
                <a:cs typeface="Arial"/>
              </a:rPr>
              <a:t>Both skies put the annual maximum on June mornings (08:00–10:00), not at the previously considered MEP’s HAP design hour (July 14:00).</a:t>
            </a:r>
          </a:p>
          <a:p>
            <a:pPr marL="228600" indent="-228600">
              <a:spcBef>
                <a:spcPct val="50000"/>
              </a:spcBef>
              <a:buFont typeface="+mj-lt"/>
              <a:buChar char="•"/>
            </a:pPr>
            <a:r>
              <a:rPr lang="en-US" sz="1050" dirty="0">
                <a:solidFill>
                  <a:srgbClr val="56626F"/>
                </a:solidFill>
                <a:latin typeface="Arial" panose="020B0604020202020204" pitchFamily="34" charset="0"/>
                <a:cs typeface="Arial"/>
              </a:rPr>
              <a:t>At 1500 mm the annual maximum exceeds the July value by 5.2 kW on the design day (11.31 vs 6.15) and 6.5 kW in the typical year (12.35 vs 5.82).</a:t>
            </a:r>
          </a:p>
          <a:p>
            <a:pPr marL="228600" indent="-228600">
              <a:spcBef>
                <a:spcPct val="50000"/>
              </a:spcBef>
              <a:buFont typeface="+mj-lt"/>
              <a:buChar char="•"/>
            </a:pPr>
            <a:r>
              <a:rPr lang="en-US" sz="1050" dirty="0">
                <a:solidFill>
                  <a:srgbClr val="56626F"/>
                </a:solidFill>
                <a:latin typeface="Arial" panose="020B0604020202020204" pitchFamily="34" charset="0"/>
                <a:cs typeface="Arial"/>
              </a:rPr>
              <a:t>The two skies agree on the timing of the peak but not exactly on the peak value itself, so both are reported.</a:t>
            </a:r>
          </a:p>
          <a:p>
            <a:pPr marL="228600" indent="-228600">
              <a:spcBef>
                <a:spcPct val="50000"/>
              </a:spcBef>
              <a:buFont typeface="+mj-lt"/>
              <a:buChar char="•"/>
            </a:pPr>
            <a:r>
              <a:rPr lang="en-US" sz="1050" dirty="0">
                <a:solidFill>
                  <a:srgbClr val="56626F"/>
                </a:solidFill>
                <a:latin typeface="Arial" panose="020B0604020202020204" pitchFamily="34" charset="0"/>
                <a:cs typeface="Arial"/>
              </a:rPr>
              <a:t>Deeper canopies lower both values, but at SC 0.40 even 1500 mm stays above 4.7 kW.</a:t>
            </a:r>
            <a:endParaRPr lang="en-GB" sz="1050" dirty="0">
              <a:solidFill>
                <a:srgbClr val="56626F"/>
              </a:solidFill>
              <a:latin typeface="Arial" panose="020B0604020202020204" pitchFamily="34" charset="0"/>
              <a:cs typeface="Arial"/>
            </a:endParaRPr>
          </a:p>
        </p:txBody>
      </p:sp>
    </p:spTree>
    <p:extLst>
      <p:ext uri="{BB962C8B-B14F-4D97-AF65-F5344CB8AC3E}">
        <p14:creationId xmlns:p14="http://schemas.microsoft.com/office/powerpoint/2010/main" val="3618484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970A1A-FD99-F1EF-AB28-362EA77D5642}"/>
              </a:ext>
            </a:extLst>
          </p:cNvPr>
          <p:cNvSpPr>
            <a:spLocks noGrp="1"/>
          </p:cNvSpPr>
          <p:nvPr>
            <p:ph type="body" sz="quarter" idx="14"/>
          </p:nvPr>
        </p:nvSpPr>
        <p:spPr>
          <a:xfrm>
            <a:off x="6210300" y="812799"/>
            <a:ext cx="5651500" cy="246221"/>
          </a:xfrm>
        </p:spPr>
        <p:txBody>
          <a:bodyPr wrap="square">
            <a:noAutofit/>
          </a:bodyPr>
          <a:lstStyle/>
          <a:p>
            <a:pPr algn="r"/>
            <a:r>
              <a:rPr lang="en-US" sz="1000" i="1"/>
              <a:t>Inputs for the current six-depth solar screening (slides 5–9).</a:t>
            </a:r>
            <a:endParaRPr lang="en-GB" sz="1000" i="1"/>
          </a:p>
        </p:txBody>
      </p:sp>
      <p:sp>
        <p:nvSpPr>
          <p:cNvPr id="3" name="Text Placeholder 2">
            <a:extLst>
              <a:ext uri="{FF2B5EF4-FFF2-40B4-BE49-F238E27FC236}">
                <a16:creationId xmlns:a16="http://schemas.microsoft.com/office/drawing/2014/main" id="{AEFDED4E-6CAD-9E70-1F01-06BBA0E144ED}"/>
              </a:ext>
            </a:extLst>
          </p:cNvPr>
          <p:cNvSpPr>
            <a:spLocks noGrp="1"/>
          </p:cNvSpPr>
          <p:nvPr>
            <p:ph type="body" sz="quarter" idx="10"/>
          </p:nvPr>
        </p:nvSpPr>
        <p:spPr>
          <a:xfrm>
            <a:off x="335360" y="260648"/>
            <a:ext cx="11521279" cy="553998"/>
          </a:xfrm>
        </p:spPr>
        <p:txBody>
          <a:bodyPr/>
          <a:lstStyle/>
          <a:p>
            <a:r>
              <a:rPr lang="en-US" dirty="0"/>
              <a:t>Radiation Study Assumptions</a:t>
            </a:r>
            <a:endParaRPr lang="en-GB" dirty="0"/>
          </a:p>
        </p:txBody>
      </p:sp>
      <p:sp>
        <p:nvSpPr>
          <p:cNvPr id="4" name="Text Placeholder 3">
            <a:extLst>
              <a:ext uri="{FF2B5EF4-FFF2-40B4-BE49-F238E27FC236}">
                <a16:creationId xmlns:a16="http://schemas.microsoft.com/office/drawing/2014/main" id="{C12C17F3-9711-37CA-579E-3E4377B2DF61}"/>
              </a:ext>
            </a:extLst>
          </p:cNvPr>
          <p:cNvSpPr>
            <a:spLocks noGrp="1"/>
          </p:cNvSpPr>
          <p:nvPr>
            <p:ph type="body" sz="quarter" idx="15"/>
          </p:nvPr>
        </p:nvSpPr>
        <p:spPr/>
        <p:txBody>
          <a:bodyPr/>
          <a:lstStyle/>
          <a:p>
            <a:endParaRPr lang="en-GB"/>
          </a:p>
        </p:txBody>
      </p:sp>
      <p:sp>
        <p:nvSpPr>
          <p:cNvPr id="6" name="TextBox 5">
            <a:extLst>
              <a:ext uri="{FF2B5EF4-FFF2-40B4-BE49-F238E27FC236}">
                <a16:creationId xmlns:a16="http://schemas.microsoft.com/office/drawing/2014/main" id="{E42A5A8A-2CC0-5A78-8183-5300327BD2BC}"/>
              </a:ext>
            </a:extLst>
          </p:cNvPr>
          <p:cNvSpPr txBox="1"/>
          <p:nvPr/>
        </p:nvSpPr>
        <p:spPr bwMode="auto">
          <a:xfrm>
            <a:off x="328187" y="1484784"/>
            <a:ext cx="10664357" cy="2862322"/>
          </a:xfrm>
          <a:prstGeom prst="rect">
            <a:avLst/>
          </a:prstGeom>
          <a:noFill/>
          <a:ln w="9525">
            <a:noFill/>
            <a:miter lim="800000"/>
            <a:headEnd/>
            <a:tailEnd/>
          </a:ln>
          <a:effectLst/>
        </p:spPr>
        <p:txBody>
          <a:bodyPr wrap="square" lIns="0" rtlCol="0">
            <a:spAutoFit/>
          </a:bodyPr>
          <a:lstStyle/>
          <a:p>
            <a:pPr marL="285750" indent="-285750">
              <a:buFont typeface="Arial" panose="020B0604020202020204" pitchFamily="34" charset="0"/>
              <a:buChar char="•"/>
            </a:pPr>
            <a:r>
              <a:rPr lang="en-US" sz="1200" dirty="0"/>
              <a:t>Method: Honeybee/Radiance annual incident irradiance on the glazing (0.4 m sensor grid, -ab 3). North canopy 0 / 0.5 / 0.75 / 1.0 / 1.25 / 1.5 m; side canopies 1.0 m; skylight included.</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Weather: Dubai Intl. AP </a:t>
            </a:r>
            <a:r>
              <a:rPr lang="en-US" sz="1200" dirty="0" err="1"/>
              <a:t>TMYx</a:t>
            </a:r>
            <a:r>
              <a:rPr lang="en-US" sz="1200" dirty="0"/>
              <a:t> (source period 1973–2025) and an ASHRAE clear-sky design day (tau model, Ladybug default 2009 coefficients with the STAT optical depths; the 2017 coefficients give ~1–4 % higher loads). Design-day values use the 21st of the month.</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Solar heat gain = 0.87 × SC × incident solar (constant SHGC): instantaneous gain, not a HAP cooling load.</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Reference: previous HAP solar-load components 4.752 kW (zone peak, Jul 14:00) and 4.644 kW (air-system design-report condition, Jun 13:00), before the 10 % safety factor.</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Compliance (to confirm with the permit consultant): pavilion assessed with the existing tower, combined WWR &lt; 40 % → SC ≤ 0.40, LT ≥ 0.40, summer U ≤ 2.1 W/m²K (Al </a:t>
            </a:r>
            <a:r>
              <a:rPr lang="en-US" sz="1200" dirty="0" err="1"/>
              <a:t>Sa'fat</a:t>
            </a:r>
            <a:r>
              <a:rPr lang="en-US" sz="1200" dirty="0"/>
              <a:t> 2023).</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Sun-path dome: occupied hours 08:00–18:00, Mon–Fri. Surface reflectance:</a:t>
            </a:r>
            <a:endParaRPr lang="en-GB" sz="1200" b="1" dirty="0">
              <a:solidFill>
                <a:srgbClr val="333333"/>
              </a:solidFill>
              <a:latin typeface="Arial" panose="020B0604020202020204" pitchFamily="34" charset="0"/>
            </a:endParaRPr>
          </a:p>
        </p:txBody>
      </p:sp>
      <p:graphicFrame>
        <p:nvGraphicFramePr>
          <p:cNvPr id="8" name="Table 7">
            <a:extLst>
              <a:ext uri="{FF2B5EF4-FFF2-40B4-BE49-F238E27FC236}">
                <a16:creationId xmlns:a16="http://schemas.microsoft.com/office/drawing/2014/main" id="{3905CA25-90A4-7CBC-79CE-1EFBB5BB305C}"/>
              </a:ext>
            </a:extLst>
          </p:cNvPr>
          <p:cNvGraphicFramePr>
            <a:graphicFrameLocks noGrp="1"/>
          </p:cNvGraphicFramePr>
          <p:nvPr>
            <p:extLst>
              <p:ext uri="{D42A27DB-BD31-4B8C-83A1-F6EECF244321}">
                <p14:modId xmlns:p14="http://schemas.microsoft.com/office/powerpoint/2010/main" val="743334160"/>
              </p:ext>
            </p:extLst>
          </p:nvPr>
        </p:nvGraphicFramePr>
        <p:xfrm>
          <a:off x="623392" y="4711495"/>
          <a:ext cx="3673624" cy="1323441"/>
        </p:xfrm>
        <a:graphic>
          <a:graphicData uri="http://schemas.openxmlformats.org/drawingml/2006/table">
            <a:tbl>
              <a:tblPr>
                <a:tableStyleId>{2D5ABB26-0587-4C30-8999-92F81FD0307C}</a:tableStyleId>
              </a:tblPr>
              <a:tblGrid>
                <a:gridCol w="2017440">
                  <a:extLst>
                    <a:ext uri="{9D8B030D-6E8A-4147-A177-3AD203B41FA5}">
                      <a16:colId xmlns:a16="http://schemas.microsoft.com/office/drawing/2014/main" val="4114882830"/>
                    </a:ext>
                  </a:extLst>
                </a:gridCol>
                <a:gridCol w="1656184">
                  <a:extLst>
                    <a:ext uri="{9D8B030D-6E8A-4147-A177-3AD203B41FA5}">
                      <a16:colId xmlns:a16="http://schemas.microsoft.com/office/drawing/2014/main" val="2854790410"/>
                    </a:ext>
                  </a:extLst>
                </a:gridCol>
              </a:tblGrid>
              <a:tr h="189063">
                <a:tc>
                  <a:txBody>
                    <a:bodyPr/>
                    <a:lstStyle/>
                    <a:p>
                      <a:pPr algn="ctr">
                        <a:buNone/>
                      </a:pPr>
                      <a:r>
                        <a:rPr lang="en-GB" sz="975" b="1" dirty="0">
                          <a:effectLst/>
                        </a:rPr>
                        <a:t>Surface</a:t>
                      </a:r>
                      <a:endParaRPr lang="en-GB" sz="975" b="1" i="0" dirty="0">
                        <a:solidFill>
                          <a:srgbClr val="BFBFBF"/>
                        </a:solidFill>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tc>
                  <a:txBody>
                    <a:bodyPr/>
                    <a:lstStyle/>
                    <a:p>
                      <a:pPr algn="ctr">
                        <a:buNone/>
                      </a:pPr>
                      <a:r>
                        <a:rPr lang="en-GB" sz="975" b="1" dirty="0">
                          <a:effectLst/>
                        </a:rPr>
                        <a:t>Reflectance</a:t>
                      </a:r>
                      <a:endParaRPr lang="en-GB" sz="975" b="1" i="0" dirty="0">
                        <a:solidFill>
                          <a:srgbClr val="BFBFBF"/>
                        </a:solidFill>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40000"/>
                        <a:lumOff val="60000"/>
                      </a:schemeClr>
                    </a:solidFill>
                  </a:tcPr>
                </a:tc>
                <a:extLst>
                  <a:ext uri="{0D108BD9-81ED-4DB2-BD59-A6C34878D82A}">
                    <a16:rowId xmlns:a16="http://schemas.microsoft.com/office/drawing/2014/main" val="3268139175"/>
                  </a:ext>
                </a:extLst>
              </a:tr>
              <a:tr h="189063">
                <a:tc>
                  <a:txBody>
                    <a:bodyPr/>
                    <a:lstStyle/>
                    <a:p>
                      <a:pPr algn="l">
                        <a:buNone/>
                      </a:pPr>
                      <a:r>
                        <a:rPr lang="en-GB" sz="975" dirty="0">
                          <a:effectLst/>
                        </a:rPr>
                        <a:t>Glazing</a:t>
                      </a:r>
                      <a:endParaRPr lang="en-GB" sz="975" b="0" i="0" dirty="0">
                        <a:solidFill>
                          <a:srgbClr val="BFBFBF"/>
                        </a:solidFill>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GB" sz="975" dirty="0">
                          <a:effectLst/>
                        </a:rPr>
                        <a:t>0.20</a:t>
                      </a:r>
                      <a:endParaRPr lang="en-GB" sz="975" b="0" i="0" dirty="0">
                        <a:solidFill>
                          <a:srgbClr val="BFBFBF"/>
                        </a:solidFill>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6921119"/>
                  </a:ext>
                </a:extLst>
              </a:tr>
              <a:tr h="189063">
                <a:tc>
                  <a:txBody>
                    <a:bodyPr/>
                    <a:lstStyle/>
                    <a:p>
                      <a:pPr algn="l">
                        <a:buNone/>
                      </a:pPr>
                      <a:r>
                        <a:rPr lang="en-GB" sz="975" dirty="0">
                          <a:effectLst/>
                        </a:rPr>
                        <a:t>Opaque façade</a:t>
                      </a:r>
                      <a:endParaRPr lang="en-GB" sz="975" b="0" i="0" dirty="0">
                        <a:solidFill>
                          <a:srgbClr val="BFBFBF"/>
                        </a:solidFill>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GB" sz="975" dirty="0">
                          <a:effectLst/>
                        </a:rPr>
                        <a:t>0.40</a:t>
                      </a:r>
                      <a:endParaRPr lang="en-GB" sz="975" b="0" i="0" dirty="0">
                        <a:solidFill>
                          <a:srgbClr val="BFBFBF"/>
                        </a:solidFill>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158772"/>
                  </a:ext>
                </a:extLst>
              </a:tr>
              <a:tr h="189063">
                <a:tc>
                  <a:txBody>
                    <a:bodyPr/>
                    <a:lstStyle/>
                    <a:p>
                      <a:pPr algn="l">
                        <a:buNone/>
                      </a:pPr>
                      <a:r>
                        <a:rPr lang="en-GB" sz="975" dirty="0">
                          <a:effectLst/>
                        </a:rPr>
                        <a:t>Roof / overhang</a:t>
                      </a:r>
                      <a:endParaRPr lang="en-GB" sz="975" b="0" i="0" dirty="0">
                        <a:solidFill>
                          <a:srgbClr val="BFBFBF"/>
                        </a:solidFill>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GB" sz="975" dirty="0">
                          <a:effectLst/>
                        </a:rPr>
                        <a:t>0.50</a:t>
                      </a:r>
                      <a:endParaRPr lang="en-GB" sz="975" b="0" i="0" dirty="0">
                        <a:solidFill>
                          <a:srgbClr val="BFBFBF"/>
                        </a:solidFill>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2599357"/>
                  </a:ext>
                </a:extLst>
              </a:tr>
              <a:tr h="189063">
                <a:tc>
                  <a:txBody>
                    <a:bodyPr/>
                    <a:lstStyle/>
                    <a:p>
                      <a:pPr algn="l">
                        <a:buNone/>
                      </a:pPr>
                      <a:r>
                        <a:rPr lang="en-GB" sz="975" dirty="0">
                          <a:effectLst/>
                        </a:rPr>
                        <a:t>Ground (light paver, weathered)</a:t>
                      </a:r>
                      <a:endParaRPr lang="en-GB" sz="975" b="0" i="0" dirty="0">
                        <a:solidFill>
                          <a:srgbClr val="BFBFBF"/>
                        </a:solidFill>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GB" sz="975" dirty="0">
                          <a:effectLst/>
                        </a:rPr>
                        <a:t>0.35</a:t>
                      </a:r>
                      <a:endParaRPr lang="en-GB" sz="975" b="0" i="0" dirty="0">
                        <a:solidFill>
                          <a:srgbClr val="BFBFBF"/>
                        </a:solidFill>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3262122"/>
                  </a:ext>
                </a:extLst>
              </a:tr>
              <a:tr h="189063">
                <a:tc>
                  <a:txBody>
                    <a:bodyPr/>
                    <a:lstStyle/>
                    <a:p>
                      <a:pPr algn="l">
                        <a:buNone/>
                      </a:pPr>
                      <a:r>
                        <a:rPr lang="en-GB" sz="975" dirty="0">
                          <a:effectLst/>
                        </a:rPr>
                        <a:t>Context</a:t>
                      </a:r>
                      <a:endParaRPr lang="en-GB" sz="975" b="0" i="0" dirty="0">
                        <a:solidFill>
                          <a:srgbClr val="BFBFBF"/>
                        </a:solidFill>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GB" sz="975" dirty="0">
                          <a:effectLst/>
                        </a:rPr>
                        <a:t>0.30</a:t>
                      </a:r>
                      <a:endParaRPr lang="en-GB" sz="975" b="0" i="0" dirty="0">
                        <a:solidFill>
                          <a:srgbClr val="BFBFBF"/>
                        </a:solidFill>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909831"/>
                  </a:ext>
                </a:extLst>
              </a:tr>
              <a:tr h="189063">
                <a:tc>
                  <a:txBody>
                    <a:bodyPr/>
                    <a:lstStyle/>
                    <a:p>
                      <a:pPr algn="l">
                        <a:buNone/>
                      </a:pPr>
                      <a:r>
                        <a:rPr lang="en-GB" sz="975" dirty="0">
                          <a:effectLst/>
                        </a:rPr>
                        <a:t>Far-field ground (sky model)</a:t>
                      </a:r>
                      <a:endParaRPr lang="en-GB" sz="975" b="0" i="0" dirty="0">
                        <a:solidFill>
                          <a:srgbClr val="BFBFBF"/>
                        </a:solidFill>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GB" sz="975" dirty="0">
                          <a:effectLst/>
                        </a:rPr>
                        <a:t>0.20</a:t>
                      </a:r>
                      <a:endParaRPr lang="en-GB" sz="975" b="0" i="0" dirty="0">
                        <a:solidFill>
                          <a:srgbClr val="BFBFBF"/>
                        </a:solidFill>
                        <a:effectLst/>
                        <a:latin typeface="Arial" panose="020B0604020202020204" pitchFamily="34" charset="0"/>
                      </a:endParaRPr>
                    </a:p>
                  </a:txBody>
                  <a:tcPr marL="12700" marR="12700" marT="12700" marB="127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48764"/>
                  </a:ext>
                </a:extLst>
              </a:tr>
            </a:tbl>
          </a:graphicData>
        </a:graphic>
      </p:graphicFrame>
    </p:spTree>
    <p:extLst>
      <p:ext uri="{BB962C8B-B14F-4D97-AF65-F5344CB8AC3E}">
        <p14:creationId xmlns:p14="http://schemas.microsoft.com/office/powerpoint/2010/main" val="18143772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E2D12-1D8D-D831-DF91-CC1C5831F87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CB321C2A-859E-251B-A15C-7D7E73129088}"/>
              </a:ext>
            </a:extLst>
          </p:cNvPr>
          <p:cNvSpPr>
            <a:spLocks noGrp="1"/>
          </p:cNvSpPr>
          <p:nvPr>
            <p:ph type="body" sz="quarter" idx="10"/>
          </p:nvPr>
        </p:nvSpPr>
        <p:spPr/>
        <p:txBody>
          <a:bodyPr/>
          <a:lstStyle/>
          <a:p>
            <a:r>
              <a:rPr lang="en-US" sz="3600" dirty="0"/>
              <a:t>Daylight Analysis</a:t>
            </a:r>
            <a:endParaRPr lang="en-GB" sz="3600" dirty="0"/>
          </a:p>
        </p:txBody>
      </p:sp>
    </p:spTree>
    <p:extLst>
      <p:ext uri="{BB962C8B-B14F-4D97-AF65-F5344CB8AC3E}">
        <p14:creationId xmlns:p14="http://schemas.microsoft.com/office/powerpoint/2010/main" val="10163687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E31FD-F44C-1E49-E3C6-96A237B35BF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3E3C11E-BC61-19AA-5AB4-2E4F03AED011}"/>
              </a:ext>
            </a:extLst>
          </p:cNvPr>
          <p:cNvPicPr>
            <a:picLocks noChangeAspect="1"/>
          </p:cNvPicPr>
          <p:nvPr/>
        </p:nvPicPr>
        <p:blipFill>
          <a:blip r:embed="rId2"/>
          <a:srcRect/>
          <a:stretch/>
        </p:blipFill>
        <p:spPr>
          <a:xfrm>
            <a:off x="7564808" y="2562483"/>
            <a:ext cx="4202058" cy="2170500"/>
          </a:xfrm>
          <a:prstGeom prst="rect">
            <a:avLst/>
          </a:prstGeom>
        </p:spPr>
      </p:pic>
      <p:pic>
        <p:nvPicPr>
          <p:cNvPr id="6" name="Picture 5">
            <a:extLst>
              <a:ext uri="{FF2B5EF4-FFF2-40B4-BE49-F238E27FC236}">
                <a16:creationId xmlns:a16="http://schemas.microsoft.com/office/drawing/2014/main" id="{781311F4-3C2E-0A5E-D838-1F291498C89F}"/>
              </a:ext>
            </a:extLst>
          </p:cNvPr>
          <p:cNvPicPr>
            <a:picLocks noChangeAspect="1"/>
          </p:cNvPicPr>
          <p:nvPr/>
        </p:nvPicPr>
        <p:blipFill>
          <a:blip r:embed="rId3"/>
          <a:srcRect l="17339" r="6112"/>
          <a:stretch>
            <a:fillRect/>
          </a:stretch>
        </p:blipFill>
        <p:spPr>
          <a:xfrm>
            <a:off x="232742" y="1300289"/>
            <a:ext cx="6600180" cy="4453531"/>
          </a:xfrm>
          <a:prstGeom prst="rect">
            <a:avLst/>
          </a:prstGeom>
        </p:spPr>
      </p:pic>
      <p:sp>
        <p:nvSpPr>
          <p:cNvPr id="3" name="Text Placeholder 2">
            <a:extLst>
              <a:ext uri="{FF2B5EF4-FFF2-40B4-BE49-F238E27FC236}">
                <a16:creationId xmlns:a16="http://schemas.microsoft.com/office/drawing/2014/main" id="{218A99A9-41EA-BF7B-4223-79F1F39AC00E}"/>
              </a:ext>
            </a:extLst>
          </p:cNvPr>
          <p:cNvSpPr>
            <a:spLocks noGrp="1"/>
          </p:cNvSpPr>
          <p:nvPr>
            <p:ph type="body" sz="quarter" idx="10"/>
          </p:nvPr>
        </p:nvSpPr>
        <p:spPr>
          <a:xfrm>
            <a:off x="335360" y="260648"/>
            <a:ext cx="11521279" cy="553998"/>
          </a:xfrm>
        </p:spPr>
        <p:txBody>
          <a:bodyPr/>
          <a:lstStyle/>
          <a:p>
            <a:r>
              <a:rPr lang="en-US" dirty="0"/>
              <a:t>Façade Zones</a:t>
            </a:r>
            <a:endParaRPr lang="en-GB" dirty="0"/>
          </a:p>
        </p:txBody>
      </p:sp>
      <p:sp>
        <p:nvSpPr>
          <p:cNvPr id="4" name="Text Placeholder 3">
            <a:extLst>
              <a:ext uri="{FF2B5EF4-FFF2-40B4-BE49-F238E27FC236}">
                <a16:creationId xmlns:a16="http://schemas.microsoft.com/office/drawing/2014/main" id="{9C1A906A-61B1-8629-42EA-6C7B0976A541}"/>
              </a:ext>
            </a:extLst>
          </p:cNvPr>
          <p:cNvSpPr>
            <a:spLocks noGrp="1"/>
          </p:cNvSpPr>
          <p:nvPr>
            <p:ph type="body" sz="quarter" idx="15"/>
          </p:nvPr>
        </p:nvSpPr>
        <p:spPr>
          <a:xfrm>
            <a:off x="335360" y="897755"/>
            <a:ext cx="5645714" cy="307777"/>
          </a:xfrm>
        </p:spPr>
        <p:txBody>
          <a:bodyPr/>
          <a:lstStyle/>
          <a:p>
            <a:r>
              <a:rPr lang="en-US" dirty="0"/>
              <a:t>Façade zones based on floor plan</a:t>
            </a:r>
            <a:endParaRPr lang="en-GB" dirty="0"/>
          </a:p>
        </p:txBody>
      </p:sp>
      <p:pic>
        <p:nvPicPr>
          <p:cNvPr id="8" name="Picture 7">
            <a:extLst>
              <a:ext uri="{FF2B5EF4-FFF2-40B4-BE49-F238E27FC236}">
                <a16:creationId xmlns:a16="http://schemas.microsoft.com/office/drawing/2014/main" id="{7AE63C9B-2E52-5944-66D7-5A9E9E3C603B}"/>
              </a:ext>
            </a:extLst>
          </p:cNvPr>
          <p:cNvPicPr>
            <a:picLocks noChangeAspect="1"/>
          </p:cNvPicPr>
          <p:nvPr/>
        </p:nvPicPr>
        <p:blipFill>
          <a:blip r:embed="rId4"/>
          <a:stretch>
            <a:fillRect/>
          </a:stretch>
        </p:blipFill>
        <p:spPr>
          <a:xfrm>
            <a:off x="182350" y="5370592"/>
            <a:ext cx="1479690" cy="764308"/>
          </a:xfrm>
          <a:prstGeom prst="rect">
            <a:avLst/>
          </a:prstGeom>
        </p:spPr>
      </p:pic>
      <p:pic>
        <p:nvPicPr>
          <p:cNvPr id="10" name="Picture 9">
            <a:extLst>
              <a:ext uri="{FF2B5EF4-FFF2-40B4-BE49-F238E27FC236}">
                <a16:creationId xmlns:a16="http://schemas.microsoft.com/office/drawing/2014/main" id="{FC06C8BA-2F54-6310-6279-9212CDE47F5D}"/>
              </a:ext>
            </a:extLst>
          </p:cNvPr>
          <p:cNvPicPr>
            <a:picLocks noChangeAspect="1"/>
          </p:cNvPicPr>
          <p:nvPr/>
        </p:nvPicPr>
        <p:blipFill>
          <a:blip r:embed="rId5"/>
          <a:stretch>
            <a:fillRect/>
          </a:stretch>
        </p:blipFill>
        <p:spPr>
          <a:xfrm>
            <a:off x="11169283" y="4802055"/>
            <a:ext cx="509792" cy="733869"/>
          </a:xfrm>
          <a:prstGeom prst="rect">
            <a:avLst/>
          </a:prstGeom>
        </p:spPr>
      </p:pic>
      <p:sp>
        <p:nvSpPr>
          <p:cNvPr id="13" name="TextBox 12">
            <a:extLst>
              <a:ext uri="{FF2B5EF4-FFF2-40B4-BE49-F238E27FC236}">
                <a16:creationId xmlns:a16="http://schemas.microsoft.com/office/drawing/2014/main" id="{960B423D-6C1D-4407-E965-E2DD87F103BB}"/>
              </a:ext>
            </a:extLst>
          </p:cNvPr>
          <p:cNvSpPr txBox="1"/>
          <p:nvPr/>
        </p:nvSpPr>
        <p:spPr bwMode="auto">
          <a:xfrm>
            <a:off x="976147" y="5960245"/>
            <a:ext cx="4608512" cy="261610"/>
          </a:xfrm>
          <a:prstGeom prst="rect">
            <a:avLst/>
          </a:prstGeom>
          <a:noFill/>
          <a:ln w="9525">
            <a:noFill/>
            <a:miter lim="800000"/>
            <a:headEnd/>
            <a:tailEnd/>
          </a:ln>
          <a:effectLst/>
        </p:spPr>
        <p:txBody>
          <a:bodyPr wrap="square" lIns="0" rtlCol="0">
            <a:spAutoFit/>
          </a:bodyPr>
          <a:lstStyle/>
          <a:p>
            <a:pPr algn="ctr">
              <a:spcBef>
                <a:spcPct val="50000"/>
              </a:spcBef>
            </a:pPr>
            <a:r>
              <a:rPr lang="en-US" sz="1100" i="1" dirty="0">
                <a:solidFill>
                  <a:srgbClr val="595959"/>
                </a:solidFill>
                <a:latin typeface="Arial"/>
                <a:cs typeface="Arial"/>
              </a:rPr>
              <a:t>Floor area divided into zones for daylight analysis</a:t>
            </a:r>
            <a:endParaRPr lang="en-GB" sz="1100" i="1" dirty="0">
              <a:solidFill>
                <a:srgbClr val="595959"/>
              </a:solidFill>
              <a:latin typeface="Arial"/>
              <a:cs typeface="Arial"/>
            </a:endParaRPr>
          </a:p>
        </p:txBody>
      </p:sp>
      <p:sp>
        <p:nvSpPr>
          <p:cNvPr id="14" name="TextBox 13">
            <a:extLst>
              <a:ext uri="{FF2B5EF4-FFF2-40B4-BE49-F238E27FC236}">
                <a16:creationId xmlns:a16="http://schemas.microsoft.com/office/drawing/2014/main" id="{B6052807-F4E4-D4E6-92C0-2109182054E7}"/>
              </a:ext>
            </a:extLst>
          </p:cNvPr>
          <p:cNvSpPr txBox="1"/>
          <p:nvPr/>
        </p:nvSpPr>
        <p:spPr bwMode="auto">
          <a:xfrm>
            <a:off x="7361581" y="5038185"/>
            <a:ext cx="4608512" cy="261610"/>
          </a:xfrm>
          <a:prstGeom prst="rect">
            <a:avLst/>
          </a:prstGeom>
          <a:noFill/>
          <a:ln w="9525">
            <a:noFill/>
            <a:miter lim="800000"/>
            <a:headEnd/>
            <a:tailEnd/>
          </a:ln>
          <a:effectLst/>
        </p:spPr>
        <p:txBody>
          <a:bodyPr wrap="square" lIns="0" rtlCol="0">
            <a:spAutoFit/>
          </a:bodyPr>
          <a:lstStyle/>
          <a:p>
            <a:pPr algn="ctr">
              <a:spcBef>
                <a:spcPct val="50000"/>
              </a:spcBef>
            </a:pPr>
            <a:r>
              <a:rPr lang="en-US" sz="1100" i="1" dirty="0">
                <a:solidFill>
                  <a:srgbClr val="595959"/>
                </a:solidFill>
                <a:latin typeface="Arial"/>
                <a:cs typeface="Arial"/>
              </a:rPr>
              <a:t>Daylight analysis zones shown in plan</a:t>
            </a:r>
            <a:endParaRPr lang="en-GB" sz="1100" i="1" dirty="0">
              <a:solidFill>
                <a:srgbClr val="595959"/>
              </a:solidFill>
              <a:latin typeface="Arial"/>
              <a:cs typeface="Arial"/>
            </a:endParaRPr>
          </a:p>
        </p:txBody>
      </p:sp>
      <p:pic>
        <p:nvPicPr>
          <p:cNvPr id="9" name="Picture 8">
            <a:extLst>
              <a:ext uri="{FF2B5EF4-FFF2-40B4-BE49-F238E27FC236}">
                <a16:creationId xmlns:a16="http://schemas.microsoft.com/office/drawing/2014/main" id="{127C483E-2668-0CD7-0C27-C2035293150B}"/>
              </a:ext>
            </a:extLst>
          </p:cNvPr>
          <p:cNvPicPr>
            <a:picLocks noChangeAspect="1"/>
          </p:cNvPicPr>
          <p:nvPr/>
        </p:nvPicPr>
        <p:blipFill>
          <a:blip r:embed="rId6"/>
          <a:srcRect l="-298" t="15057" r="78056"/>
          <a:stretch>
            <a:fillRect/>
          </a:stretch>
        </p:blipFill>
        <p:spPr>
          <a:xfrm>
            <a:off x="6096000" y="2222366"/>
            <a:ext cx="1465462" cy="3438882"/>
          </a:xfrm>
          <a:prstGeom prst="rect">
            <a:avLst/>
          </a:prstGeom>
        </p:spPr>
      </p:pic>
      <p:sp>
        <p:nvSpPr>
          <p:cNvPr id="15" name="Text Placeholder 14">
            <a:extLst>
              <a:ext uri="{FF2B5EF4-FFF2-40B4-BE49-F238E27FC236}">
                <a16:creationId xmlns:a16="http://schemas.microsoft.com/office/drawing/2014/main" id="{169A5B49-3A30-7B63-FB15-177112556CF6}"/>
              </a:ext>
            </a:extLst>
          </p:cNvPr>
          <p:cNvSpPr>
            <a:spLocks noGrp="1"/>
          </p:cNvSpPr>
          <p:nvPr>
            <p:ph type="body" sz="quarter" idx="14"/>
          </p:nvPr>
        </p:nvSpPr>
        <p:spPr/>
        <p:txBody>
          <a:bodyPr/>
          <a:lstStyle/>
          <a:p>
            <a:endParaRPr lang="en-GB"/>
          </a:p>
        </p:txBody>
      </p:sp>
    </p:spTree>
    <p:extLst>
      <p:ext uri="{BB962C8B-B14F-4D97-AF65-F5344CB8AC3E}">
        <p14:creationId xmlns:p14="http://schemas.microsoft.com/office/powerpoint/2010/main" val="14684476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8D43AF-31E5-6F76-A329-B81E909C472B}"/>
              </a:ext>
            </a:extLst>
          </p:cNvPr>
          <p:cNvSpPr>
            <a:spLocks noGrp="1"/>
          </p:cNvSpPr>
          <p:nvPr>
            <p:ph type="body" sz="quarter" idx="10"/>
          </p:nvPr>
        </p:nvSpPr>
        <p:spPr>
          <a:xfrm>
            <a:off x="335360" y="260648"/>
            <a:ext cx="11521279" cy="553998"/>
          </a:xfrm>
        </p:spPr>
        <p:txBody>
          <a:bodyPr/>
          <a:lstStyle/>
          <a:p>
            <a:r>
              <a:rPr lang="en-US"/>
              <a:t>Spatial Daylight Autonomy</a:t>
            </a:r>
            <a:endParaRPr lang="en-GB" dirty="0"/>
          </a:p>
        </p:txBody>
      </p:sp>
      <p:sp>
        <p:nvSpPr>
          <p:cNvPr id="4" name="Text Placeholder 3">
            <a:extLst>
              <a:ext uri="{FF2B5EF4-FFF2-40B4-BE49-F238E27FC236}">
                <a16:creationId xmlns:a16="http://schemas.microsoft.com/office/drawing/2014/main" id="{4DBBBED5-D49F-1FB2-DD07-96EB5D060B29}"/>
              </a:ext>
            </a:extLst>
          </p:cNvPr>
          <p:cNvSpPr>
            <a:spLocks noGrp="1"/>
          </p:cNvSpPr>
          <p:nvPr>
            <p:ph type="body" sz="quarter" idx="15"/>
          </p:nvPr>
        </p:nvSpPr>
        <p:spPr>
          <a:xfrm>
            <a:off x="335360" y="897755"/>
            <a:ext cx="7056784" cy="566309"/>
          </a:xfrm>
        </p:spPr>
        <p:txBody>
          <a:bodyPr/>
          <a:lstStyle/>
          <a:p>
            <a:r>
              <a:rPr lang="en-US" dirty="0"/>
              <a:t>Daylit floor area with the 1500 mm canopy; </a:t>
            </a:r>
          </a:p>
          <a:p>
            <a:r>
              <a:rPr lang="en-US" dirty="0" err="1"/>
              <a:t>Tvis</a:t>
            </a:r>
            <a:r>
              <a:rPr lang="en-US" dirty="0"/>
              <a:t>: 62% (facade) &amp; 38% (skylight)</a:t>
            </a:r>
            <a:endParaRPr lang="en-GB" dirty="0"/>
          </a:p>
        </p:txBody>
      </p:sp>
      <p:pic>
        <p:nvPicPr>
          <p:cNvPr id="19" name="Picture 18">
            <a:extLst>
              <a:ext uri="{FF2B5EF4-FFF2-40B4-BE49-F238E27FC236}">
                <a16:creationId xmlns:a16="http://schemas.microsoft.com/office/drawing/2014/main" id="{82FAA7A7-6D11-69FD-6986-6ED44D896D16}"/>
              </a:ext>
            </a:extLst>
          </p:cNvPr>
          <p:cNvPicPr>
            <a:picLocks noChangeAspect="1"/>
          </p:cNvPicPr>
          <p:nvPr/>
        </p:nvPicPr>
        <p:blipFill>
          <a:blip r:embed="rId2"/>
          <a:stretch>
            <a:fillRect/>
          </a:stretch>
        </p:blipFill>
        <p:spPr>
          <a:xfrm>
            <a:off x="10061967" y="76200"/>
            <a:ext cx="1075633" cy="733257"/>
          </a:xfrm>
          <a:prstGeom prst="rect">
            <a:avLst/>
          </a:prstGeom>
        </p:spPr>
      </p:pic>
      <p:sp>
        <p:nvSpPr>
          <p:cNvPr id="33" name="TextBox 32">
            <a:extLst>
              <a:ext uri="{FF2B5EF4-FFF2-40B4-BE49-F238E27FC236}">
                <a16:creationId xmlns:a16="http://schemas.microsoft.com/office/drawing/2014/main" id="{FFCA04E4-0602-1EE7-A216-D40685DF358E}"/>
              </a:ext>
            </a:extLst>
          </p:cNvPr>
          <p:cNvSpPr txBox="1"/>
          <p:nvPr/>
        </p:nvSpPr>
        <p:spPr bwMode="auto">
          <a:xfrm>
            <a:off x="1487488" y="6464339"/>
            <a:ext cx="10537584" cy="246221"/>
          </a:xfrm>
          <a:prstGeom prst="rect">
            <a:avLst/>
          </a:prstGeom>
          <a:noFill/>
          <a:ln w="9525">
            <a:noFill/>
            <a:miter lim="800000"/>
            <a:headEnd/>
            <a:tailEnd/>
          </a:ln>
          <a:effectLst/>
        </p:spPr>
        <p:txBody>
          <a:bodyPr wrap="square" lIns="0" rtlCol="0">
            <a:spAutoFit/>
          </a:bodyPr>
          <a:lstStyle>
            <a:defPPr>
              <a:defRPr lang="en-US"/>
            </a:defPPr>
            <a:lvl1pPr>
              <a:spcBef>
                <a:spcPct val="50000"/>
              </a:spcBef>
              <a:defRPr sz="1000" i="1">
                <a:solidFill>
                  <a:srgbClr val="595959"/>
                </a:solidFill>
                <a:latin typeface="Arial"/>
                <a:cs typeface="Arial"/>
              </a:defRPr>
            </a:lvl1pPr>
          </a:lstStyle>
          <a:p>
            <a:r>
              <a:rPr lang="en-US" dirty="0"/>
              <a:t>Honeybee/Radiance annual daylight (enhanced 2-phase), Dubai </a:t>
            </a:r>
            <a:r>
              <a:rPr lang="en-US" dirty="0" err="1"/>
              <a:t>TMYx</a:t>
            </a:r>
            <a:r>
              <a:rPr lang="en-US" dirty="0"/>
              <a:t>, occupied hours Mon–Fri 08:00–18:00, 0.2 m grid at 0.76 m. No blinds are modelled.</a:t>
            </a:r>
            <a:endParaRPr lang="en-GB" dirty="0"/>
          </a:p>
        </p:txBody>
      </p:sp>
      <p:sp>
        <p:nvSpPr>
          <p:cNvPr id="9" name="TextBox 8">
            <a:extLst>
              <a:ext uri="{FF2B5EF4-FFF2-40B4-BE49-F238E27FC236}">
                <a16:creationId xmlns:a16="http://schemas.microsoft.com/office/drawing/2014/main" id="{C30685FB-CFB7-DD78-ADCF-85FCE906A914}"/>
              </a:ext>
            </a:extLst>
          </p:cNvPr>
          <p:cNvSpPr txBox="1"/>
          <p:nvPr/>
        </p:nvSpPr>
        <p:spPr bwMode="auto">
          <a:xfrm>
            <a:off x="381000" y="4559300"/>
            <a:ext cx="5588000" cy="230832"/>
          </a:xfrm>
          <a:prstGeom prst="rect">
            <a:avLst/>
          </a:prstGeom>
          <a:noFill/>
          <a:ln w="9525">
            <a:noFill/>
            <a:miter lim="800000"/>
            <a:headEnd/>
            <a:tailEnd/>
          </a:ln>
          <a:effectLst/>
        </p:spPr>
        <p:txBody>
          <a:bodyPr vert="horz" wrap="square" lIns="0" rtlCol="0">
            <a:spAutoFit/>
          </a:bodyPr>
          <a:lstStyle/>
          <a:p>
            <a:pPr algn="ctr">
              <a:spcBef>
                <a:spcPct val="50000"/>
              </a:spcBef>
            </a:pPr>
            <a:r>
              <a:rPr lang="en-US" sz="900" i="1">
                <a:solidFill>
                  <a:srgbClr val="56626F"/>
                </a:solidFill>
                <a:latin typeface="Arial" panose="020B0604020202020204" pitchFamily="34" charset="0"/>
                <a:cs typeface="Arial"/>
              </a:rPr>
              <a:t>Daylight autonomy DA300: share of occupied hours with at least 300 lx</a:t>
            </a:r>
            <a:endParaRPr lang="en-GB" sz="900" i="1" dirty="0">
              <a:solidFill>
                <a:srgbClr val="56626F"/>
              </a:solidFill>
              <a:latin typeface="Arial" panose="020B0604020202020204" pitchFamily="34" charset="0"/>
              <a:cs typeface="Arial"/>
            </a:endParaRPr>
          </a:p>
        </p:txBody>
      </p:sp>
      <p:sp>
        <p:nvSpPr>
          <p:cNvPr id="10" name="TextBox 9">
            <a:extLst>
              <a:ext uri="{FF2B5EF4-FFF2-40B4-BE49-F238E27FC236}">
                <a16:creationId xmlns:a16="http://schemas.microsoft.com/office/drawing/2014/main" id="{B63C34DA-2921-83E0-3820-BC8D8A22B901}"/>
              </a:ext>
            </a:extLst>
          </p:cNvPr>
          <p:cNvSpPr txBox="1"/>
          <p:nvPr/>
        </p:nvSpPr>
        <p:spPr bwMode="auto">
          <a:xfrm>
            <a:off x="6223000" y="4559300"/>
            <a:ext cx="5588000" cy="230832"/>
          </a:xfrm>
          <a:prstGeom prst="rect">
            <a:avLst/>
          </a:prstGeom>
          <a:noFill/>
          <a:ln w="9525">
            <a:noFill/>
            <a:miter lim="800000"/>
            <a:headEnd/>
            <a:tailEnd/>
          </a:ln>
          <a:effectLst/>
        </p:spPr>
        <p:txBody>
          <a:bodyPr vert="horz" wrap="square" lIns="0" rtlCol="0">
            <a:spAutoFit/>
          </a:bodyPr>
          <a:lstStyle/>
          <a:p>
            <a:pPr algn="ctr">
              <a:spcBef>
                <a:spcPct val="50000"/>
              </a:spcBef>
            </a:pPr>
            <a:r>
              <a:rPr lang="en-US" sz="900" i="1">
                <a:solidFill>
                  <a:srgbClr val="56626F"/>
                </a:solidFill>
                <a:latin typeface="Arial" panose="020B0604020202020204" pitchFamily="34" charset="0"/>
                <a:cs typeface="Arial"/>
              </a:rPr>
              <a:t>sDA300/50%: daylit where DA300 is at least 50 %</a:t>
            </a:r>
            <a:endParaRPr lang="en-GB" sz="900" i="1" dirty="0">
              <a:solidFill>
                <a:srgbClr val="56626F"/>
              </a:solidFill>
              <a:latin typeface="Arial" panose="020B0604020202020204" pitchFamily="34" charset="0"/>
              <a:cs typeface="Arial"/>
            </a:endParaRPr>
          </a:p>
        </p:txBody>
      </p:sp>
      <p:sp>
        <p:nvSpPr>
          <p:cNvPr id="12" name="TextBox 11">
            <a:extLst>
              <a:ext uri="{FF2B5EF4-FFF2-40B4-BE49-F238E27FC236}">
                <a16:creationId xmlns:a16="http://schemas.microsoft.com/office/drawing/2014/main" id="{CD3C8D57-FC9E-81F0-C1E9-2BA6323E1205}"/>
              </a:ext>
            </a:extLst>
          </p:cNvPr>
          <p:cNvSpPr txBox="1"/>
          <p:nvPr/>
        </p:nvSpPr>
        <p:spPr bwMode="auto">
          <a:xfrm>
            <a:off x="381000" y="4787900"/>
            <a:ext cx="11430000" cy="1223412"/>
          </a:xfrm>
          <a:prstGeom prst="rect">
            <a:avLst/>
          </a:prstGeom>
          <a:noFill/>
          <a:ln w="9525">
            <a:noFill/>
            <a:miter lim="800000"/>
            <a:headEnd/>
            <a:tailEnd/>
          </a:ln>
          <a:effectLst/>
        </p:spPr>
        <p:txBody>
          <a:bodyPr vert="horz" wrap="square" lIns="0" rtlCol="0">
            <a:spAutoFit/>
          </a:bodyPr>
          <a:lstStyle/>
          <a:p>
            <a:pPr>
              <a:spcBef>
                <a:spcPct val="50000"/>
              </a:spcBef>
            </a:pPr>
            <a:r>
              <a:rPr lang="en-US" sz="1050" b="1" dirty="0">
                <a:solidFill>
                  <a:srgbClr val="56626F"/>
                </a:solidFill>
                <a:latin typeface="Arial" panose="020B0604020202020204" pitchFamily="34" charset="0"/>
                <a:cs typeface="Arial"/>
              </a:rPr>
              <a:t>Key points</a:t>
            </a:r>
          </a:p>
          <a:p>
            <a:pPr marL="228600" indent="-228600">
              <a:spcBef>
                <a:spcPct val="50000"/>
              </a:spcBef>
              <a:buFont typeface="+mj-lt"/>
              <a:buChar char="•"/>
            </a:pPr>
            <a:r>
              <a:rPr lang="en-US" sz="1050" dirty="0">
                <a:solidFill>
                  <a:srgbClr val="56626F"/>
                </a:solidFill>
                <a:latin typeface="Arial" panose="020B0604020202020204" pitchFamily="34" charset="0"/>
                <a:cs typeface="Arial"/>
              </a:rPr>
              <a:t>Whole </a:t>
            </a:r>
            <a:r>
              <a:rPr lang="en-US" sz="1050" dirty="0" err="1">
                <a:solidFill>
                  <a:srgbClr val="56626F"/>
                </a:solidFill>
                <a:latin typeface="Arial" panose="020B0604020202020204" pitchFamily="34" charset="0"/>
                <a:cs typeface="Arial"/>
              </a:rPr>
              <a:t>analysed</a:t>
            </a:r>
            <a:r>
              <a:rPr lang="en-US" sz="1050" dirty="0">
                <a:solidFill>
                  <a:srgbClr val="56626F"/>
                </a:solidFill>
                <a:latin typeface="Arial" panose="020B0604020202020204" pitchFamily="34" charset="0"/>
                <a:cs typeface="Arial"/>
              </a:rPr>
              <a:t> floor (15 areas, 329 m²): </a:t>
            </a:r>
            <a:r>
              <a:rPr lang="en-US" sz="1050" dirty="0" err="1">
                <a:solidFill>
                  <a:srgbClr val="56626F"/>
                </a:solidFill>
                <a:latin typeface="Arial" panose="020B0604020202020204" pitchFamily="34" charset="0"/>
                <a:cs typeface="Arial"/>
              </a:rPr>
              <a:t>sDA</a:t>
            </a:r>
            <a:r>
              <a:rPr lang="en-US" sz="1050" dirty="0">
                <a:solidFill>
                  <a:srgbClr val="56626F"/>
                </a:solidFill>
                <a:latin typeface="Arial" panose="020B0604020202020204" pitchFamily="34" charset="0"/>
                <a:cs typeface="Arial"/>
              </a:rPr>
              <a:t> 66 %. The 7 glazed rooms (262 m²): </a:t>
            </a:r>
            <a:r>
              <a:rPr lang="en-US" sz="1050" dirty="0" err="1">
                <a:solidFill>
                  <a:srgbClr val="56626F"/>
                </a:solidFill>
                <a:latin typeface="Arial" panose="020B0604020202020204" pitchFamily="34" charset="0"/>
                <a:cs typeface="Arial"/>
              </a:rPr>
              <a:t>sDA</a:t>
            </a:r>
            <a:r>
              <a:rPr lang="en-US" sz="1050" dirty="0">
                <a:solidFill>
                  <a:srgbClr val="56626F"/>
                </a:solidFill>
                <a:latin typeface="Arial" panose="020B0604020202020204" pitchFamily="34" charset="0"/>
                <a:cs typeface="Arial"/>
              </a:rPr>
              <a:t> 82 %.</a:t>
            </a:r>
          </a:p>
          <a:p>
            <a:pPr marL="228600" indent="-228600">
              <a:spcBef>
                <a:spcPct val="50000"/>
              </a:spcBef>
              <a:buFont typeface="+mj-lt"/>
              <a:buChar char="•"/>
            </a:pPr>
            <a:r>
              <a:rPr lang="en-US" sz="1050" dirty="0">
                <a:solidFill>
                  <a:srgbClr val="56626F"/>
                </a:solidFill>
                <a:latin typeface="Arial" panose="020B0604020202020204" pitchFamily="34" charset="0"/>
                <a:cs typeface="Arial"/>
              </a:rPr>
              <a:t>The open offices, pantry and four wing offices are daylit (67–98 %); the 9.7 m deep NW open office is lowest – 67% (DA about 97 % at the glass, 14 % at the back).</a:t>
            </a:r>
          </a:p>
          <a:p>
            <a:pPr marL="228600" indent="-228600">
              <a:spcBef>
                <a:spcPct val="50000"/>
              </a:spcBef>
              <a:buFont typeface="+mj-lt"/>
              <a:buChar char="•"/>
            </a:pPr>
            <a:r>
              <a:rPr lang="en-US" sz="1050" dirty="0">
                <a:solidFill>
                  <a:srgbClr val="56626F"/>
                </a:solidFill>
                <a:latin typeface="Arial" panose="020B0604020202020204" pitchFamily="34" charset="0"/>
                <a:cs typeface="Arial"/>
              </a:rPr>
              <a:t>The eight enclosed rooms have no external glazing: West Office Room 3 reaches 13 % on borrowed light, the other seven 0 %.</a:t>
            </a:r>
          </a:p>
          <a:p>
            <a:pPr marL="228600" indent="-228600">
              <a:spcBef>
                <a:spcPct val="50000"/>
              </a:spcBef>
              <a:buFont typeface="+mj-lt"/>
              <a:buChar char="•"/>
            </a:pPr>
            <a:r>
              <a:rPr lang="en-US" sz="1050" dirty="0">
                <a:solidFill>
                  <a:srgbClr val="56626F"/>
                </a:solidFill>
                <a:latin typeface="Arial" panose="020B0604020202020204" pitchFamily="34" charset="0"/>
                <a:cs typeface="Arial"/>
              </a:rPr>
              <a:t>Benchmark (IES LM-83 / LEED v4.1): sDA300/50% at least 55 % (75 % preferred) of the regularly occupied area. </a:t>
            </a:r>
          </a:p>
        </p:txBody>
      </p:sp>
      <p:pic>
        <p:nvPicPr>
          <p:cNvPr id="7" name="Picture 6">
            <a:extLst>
              <a:ext uri="{FF2B5EF4-FFF2-40B4-BE49-F238E27FC236}">
                <a16:creationId xmlns:a16="http://schemas.microsoft.com/office/drawing/2014/main" id="{2A185AF0-B2DC-5914-564B-7C743295F27F}"/>
              </a:ext>
            </a:extLst>
          </p:cNvPr>
          <p:cNvPicPr>
            <a:picLocks noChangeAspect="1"/>
          </p:cNvPicPr>
          <p:nvPr/>
        </p:nvPicPr>
        <p:blipFill>
          <a:blip r:embed="rId3"/>
          <a:stretch>
            <a:fillRect/>
          </a:stretch>
        </p:blipFill>
        <p:spPr>
          <a:xfrm>
            <a:off x="781016" y="1422400"/>
            <a:ext cx="4787969" cy="3111500"/>
          </a:xfrm>
          <a:prstGeom prst="rect">
            <a:avLst/>
          </a:prstGeom>
        </p:spPr>
      </p:pic>
      <p:pic>
        <p:nvPicPr>
          <p:cNvPr id="13" name="Picture 12">
            <a:extLst>
              <a:ext uri="{FF2B5EF4-FFF2-40B4-BE49-F238E27FC236}">
                <a16:creationId xmlns:a16="http://schemas.microsoft.com/office/drawing/2014/main" id="{A2E0A8DF-2764-E5C2-5060-DC9980C00DAA}"/>
              </a:ext>
            </a:extLst>
          </p:cNvPr>
          <p:cNvPicPr>
            <a:picLocks noChangeAspect="1"/>
          </p:cNvPicPr>
          <p:nvPr/>
        </p:nvPicPr>
        <p:blipFill>
          <a:blip r:embed="rId4"/>
          <a:stretch>
            <a:fillRect/>
          </a:stretch>
        </p:blipFill>
        <p:spPr>
          <a:xfrm>
            <a:off x="6623016" y="1422400"/>
            <a:ext cx="4787969" cy="3111500"/>
          </a:xfrm>
          <a:prstGeom prst="rect">
            <a:avLst/>
          </a:prstGeom>
        </p:spPr>
      </p:pic>
      <p:pic>
        <p:nvPicPr>
          <p:cNvPr id="6" name="Picture 5">
            <a:extLst>
              <a:ext uri="{FF2B5EF4-FFF2-40B4-BE49-F238E27FC236}">
                <a16:creationId xmlns:a16="http://schemas.microsoft.com/office/drawing/2014/main" id="{AD4EDCEB-EEB3-8AE0-AA68-09F13A658ED3}"/>
              </a:ext>
            </a:extLst>
          </p:cNvPr>
          <p:cNvPicPr>
            <a:picLocks noChangeAspect="1"/>
          </p:cNvPicPr>
          <p:nvPr/>
        </p:nvPicPr>
        <p:blipFill>
          <a:blip r:embed="rId5"/>
          <a:stretch>
            <a:fillRect/>
          </a:stretch>
        </p:blipFill>
        <p:spPr>
          <a:xfrm>
            <a:off x="10181749" y="3658570"/>
            <a:ext cx="1694626" cy="875330"/>
          </a:xfrm>
          <a:prstGeom prst="rect">
            <a:avLst/>
          </a:prstGeom>
        </p:spPr>
      </p:pic>
      <p:pic>
        <p:nvPicPr>
          <p:cNvPr id="14" name="Picture 13">
            <a:extLst>
              <a:ext uri="{FF2B5EF4-FFF2-40B4-BE49-F238E27FC236}">
                <a16:creationId xmlns:a16="http://schemas.microsoft.com/office/drawing/2014/main" id="{30E73D55-7B96-A63C-ACA0-CCB23648012E}"/>
              </a:ext>
            </a:extLst>
          </p:cNvPr>
          <p:cNvPicPr>
            <a:picLocks noChangeAspect="1"/>
          </p:cNvPicPr>
          <p:nvPr/>
        </p:nvPicPr>
        <p:blipFill>
          <a:blip r:embed="rId6"/>
          <a:srcRect/>
          <a:stretch/>
        </p:blipFill>
        <p:spPr>
          <a:xfrm>
            <a:off x="4401375" y="3658570"/>
            <a:ext cx="1694626" cy="875329"/>
          </a:xfrm>
          <a:prstGeom prst="rect">
            <a:avLst/>
          </a:prstGeom>
        </p:spPr>
      </p:pic>
      <p:sp>
        <p:nvSpPr>
          <p:cNvPr id="17" name="ASE callout">
            <a:extLst>
              <a:ext uri="{FF2B5EF4-FFF2-40B4-BE49-F238E27FC236}">
                <a16:creationId xmlns:a16="http://schemas.microsoft.com/office/drawing/2014/main" id="{354A3DBC-B604-247F-F0BC-8BF981E43903}"/>
              </a:ext>
            </a:extLst>
          </p:cNvPr>
          <p:cNvSpPr/>
          <p:nvPr/>
        </p:nvSpPr>
        <p:spPr>
          <a:xfrm>
            <a:off x="6785464" y="1498600"/>
            <a:ext cx="1625600" cy="736600"/>
          </a:xfrm>
          <a:prstGeom prst="roundRect">
            <a:avLst>
              <a:gd name="adj" fmla="val 18000"/>
            </a:avLst>
          </a:prstGeom>
          <a:solidFill>
            <a:srgbClr val="FFFFFF"/>
          </a:solidFill>
          <a:ln w="19050">
            <a:solidFill>
              <a:srgbClr val="A1E54A"/>
            </a:solidFill>
          </a:ln>
          <a:effectLst/>
          <a:sp3d/>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GB" sz="900" dirty="0">
                <a:solidFill>
                  <a:srgbClr val="56626F"/>
                </a:solidFill>
                <a:latin typeface="Arial" panose="020B0604020202020204" pitchFamily="34" charset="0"/>
              </a:rPr>
              <a:t>Spatial Daylight Autonomy (</a:t>
            </a:r>
            <a:r>
              <a:rPr lang="en-US" sz="900" dirty="0">
                <a:solidFill>
                  <a:srgbClr val="56626F"/>
                </a:solidFill>
                <a:latin typeface="Arial" panose="020B0604020202020204" pitchFamily="34" charset="0"/>
              </a:rPr>
              <a:t>sDA</a:t>
            </a:r>
            <a:r>
              <a:rPr lang="en-US" sz="900" baseline="-25000" dirty="0">
                <a:solidFill>
                  <a:srgbClr val="56626F"/>
                </a:solidFill>
                <a:latin typeface="Arial" panose="020B0604020202020204" pitchFamily="34" charset="0"/>
              </a:rPr>
              <a:t>300,50%</a:t>
            </a:r>
            <a:r>
              <a:rPr lang="en-US" sz="900" dirty="0">
                <a:solidFill>
                  <a:srgbClr val="56626F"/>
                </a:solidFill>
                <a:latin typeface="Arial" panose="020B0604020202020204" pitchFamily="34" charset="0"/>
              </a:rPr>
              <a:t>)</a:t>
            </a:r>
          </a:p>
          <a:p>
            <a:pPr algn="ctr"/>
            <a:r>
              <a:rPr lang="en-US" b="1" dirty="0">
                <a:solidFill>
                  <a:srgbClr val="A1E54A"/>
                </a:solidFill>
                <a:latin typeface="Arial" panose="020B0604020202020204" pitchFamily="34" charset="0"/>
              </a:rPr>
              <a:t>66 %</a:t>
            </a:r>
            <a:endParaRPr lang="en-GB" b="1" dirty="0">
              <a:solidFill>
                <a:srgbClr val="A1E54A"/>
              </a:solidFill>
              <a:latin typeface="Arial" panose="020B0604020202020204" pitchFamily="34" charset="0"/>
            </a:endParaRPr>
          </a:p>
        </p:txBody>
      </p:sp>
      <p:sp>
        <p:nvSpPr>
          <p:cNvPr id="5" name="Text Placeholder 1">
            <a:extLst>
              <a:ext uri="{FF2B5EF4-FFF2-40B4-BE49-F238E27FC236}">
                <a16:creationId xmlns:a16="http://schemas.microsoft.com/office/drawing/2014/main" id="{B62A8F2C-3FA2-25E8-4E70-2A6C60B00D9C}"/>
              </a:ext>
            </a:extLst>
          </p:cNvPr>
          <p:cNvSpPr txBox="1">
            <a:spLocks/>
          </p:cNvSpPr>
          <p:nvPr/>
        </p:nvSpPr>
        <p:spPr>
          <a:xfrm>
            <a:off x="6210300" y="812800"/>
            <a:ext cx="5651500" cy="400110"/>
          </a:xfrm>
          <a:prstGeom prst="rect">
            <a:avLst/>
          </a:prstGeom>
        </p:spPr>
        <p:txBody>
          <a:bodyPr wrap="square" lIns="0">
            <a:noAutofit/>
          </a:bodyPr>
          <a:lstStyle>
            <a:lvl1pPr marL="0" indent="0" algn="l" rtl="0" eaLnBrk="1" fontAlgn="base" hangingPunct="1">
              <a:spcBef>
                <a:spcPct val="20000"/>
              </a:spcBef>
              <a:spcAft>
                <a:spcPct val="0"/>
              </a:spcAft>
              <a:buFont typeface="Arial" panose="020B0604020202020204" pitchFamily="34" charset="0"/>
              <a:buNone/>
              <a:defRPr sz="1400">
                <a:solidFill>
                  <a:srgbClr val="56626F"/>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2pPr>
            <a:lvl3pPr marL="1200150" indent="-285750" algn="l" rtl="0" eaLnBrk="1" fontAlgn="base" hangingPunct="1">
              <a:spcBef>
                <a:spcPct val="20000"/>
              </a:spcBef>
              <a:spcAft>
                <a:spcPct val="0"/>
              </a:spcAft>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3pPr>
            <a:lvl4pPr marL="1657350" indent="-285750" algn="l" rtl="0" eaLnBrk="1" fontAlgn="base" hangingPunct="1">
              <a:spcBef>
                <a:spcPct val="20000"/>
              </a:spcBef>
              <a:spcAft>
                <a:spcPct val="0"/>
              </a:spcAft>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4pPr>
            <a:lvl5pPr marL="1828800" indent="0" algn="l" rtl="0" eaLnBrk="1" fontAlgn="base" hangingPunct="1">
              <a:spcBef>
                <a:spcPct val="20000"/>
              </a:spcBef>
              <a:spcAft>
                <a:spcPct val="0"/>
              </a:spcAft>
              <a:buNone/>
              <a:defRPr sz="1400">
                <a:solidFill>
                  <a:srgbClr val="56626F"/>
                </a:solidFill>
                <a:latin typeface="Arial" panose="020B0604020202020204" pitchFamily="34" charset="0"/>
                <a:ea typeface="ＭＳ Ｐゴシック" pitchFamily="-105" charset="-128"/>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pitchFamily="-105" charset="-128"/>
              </a:defRPr>
            </a:lvl9pPr>
          </a:lstStyle>
          <a:p>
            <a:pPr algn="r"/>
            <a:r>
              <a:rPr lang="en-US" sz="1000" i="1" dirty="0"/>
              <a:t>7 · Daylight: 66 % of the </a:t>
            </a:r>
            <a:r>
              <a:rPr lang="en-US" sz="1000" i="1" dirty="0" err="1"/>
              <a:t>analysed</a:t>
            </a:r>
            <a:r>
              <a:rPr lang="en-US" sz="1000" i="1" dirty="0"/>
              <a:t> floor area (82 % of the glazed rooms) gets at least 300 lx for half of the occupied hours; the enclosed rooms get little or none.</a:t>
            </a:r>
            <a:endParaRPr lang="en-GB" sz="1000" i="1" dirty="0"/>
          </a:p>
        </p:txBody>
      </p:sp>
    </p:spTree>
    <p:extLst>
      <p:ext uri="{BB962C8B-B14F-4D97-AF65-F5344CB8AC3E}">
        <p14:creationId xmlns:p14="http://schemas.microsoft.com/office/powerpoint/2010/main" val="37353176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C33B2F6-E54C-CE19-E3F4-E809FD662B6B}"/>
              </a:ext>
            </a:extLst>
          </p:cNvPr>
          <p:cNvSpPr>
            <a:spLocks noGrp="1"/>
          </p:cNvSpPr>
          <p:nvPr>
            <p:ph type="body" sz="quarter" idx="14"/>
          </p:nvPr>
        </p:nvSpPr>
        <p:spPr>
          <a:xfrm>
            <a:off x="6210300" y="812800"/>
            <a:ext cx="5651500" cy="400110"/>
          </a:xfrm>
        </p:spPr>
        <p:txBody>
          <a:bodyPr wrap="square">
            <a:noAutofit/>
          </a:bodyPr>
          <a:lstStyle/>
          <a:p>
            <a:pPr algn="r"/>
            <a:r>
              <a:rPr lang="en-US" sz="1000" i="1"/>
              <a:t>8 · Direct sun: ASE1000,250 is 0 % in every area; the most exposed spot, under the skylight, sees 198 occupied hours above 1000 lx.</a:t>
            </a:r>
            <a:endParaRPr lang="en-GB" sz="1000" i="1" dirty="0"/>
          </a:p>
        </p:txBody>
      </p:sp>
      <p:sp>
        <p:nvSpPr>
          <p:cNvPr id="3" name="Text Placeholder 2">
            <a:extLst>
              <a:ext uri="{FF2B5EF4-FFF2-40B4-BE49-F238E27FC236}">
                <a16:creationId xmlns:a16="http://schemas.microsoft.com/office/drawing/2014/main" id="{237E150B-1035-A10E-456A-83B38C8786C2}"/>
              </a:ext>
            </a:extLst>
          </p:cNvPr>
          <p:cNvSpPr>
            <a:spLocks noGrp="1"/>
          </p:cNvSpPr>
          <p:nvPr>
            <p:ph type="body" sz="quarter" idx="10"/>
          </p:nvPr>
        </p:nvSpPr>
        <p:spPr>
          <a:xfrm>
            <a:off x="335360" y="260648"/>
            <a:ext cx="11521279" cy="553998"/>
          </a:xfrm>
        </p:spPr>
        <p:txBody>
          <a:bodyPr/>
          <a:lstStyle/>
          <a:p>
            <a:r>
              <a:rPr lang="en-US"/>
              <a:t>Annual Sunlight Exposure</a:t>
            </a:r>
            <a:endParaRPr lang="en-GB" dirty="0"/>
          </a:p>
        </p:txBody>
      </p:sp>
      <p:sp>
        <p:nvSpPr>
          <p:cNvPr id="4" name="Text Placeholder 3">
            <a:extLst>
              <a:ext uri="{FF2B5EF4-FFF2-40B4-BE49-F238E27FC236}">
                <a16:creationId xmlns:a16="http://schemas.microsoft.com/office/drawing/2014/main" id="{326CCB08-D99B-293D-60AC-BEE52BED2621}"/>
              </a:ext>
            </a:extLst>
          </p:cNvPr>
          <p:cNvSpPr>
            <a:spLocks noGrp="1"/>
          </p:cNvSpPr>
          <p:nvPr>
            <p:ph type="body" sz="quarter" idx="15"/>
          </p:nvPr>
        </p:nvSpPr>
        <p:spPr>
          <a:xfrm>
            <a:off x="335360" y="897755"/>
            <a:ext cx="5778500" cy="307777"/>
          </a:xfrm>
        </p:spPr>
        <p:txBody>
          <a:bodyPr lIns="0">
            <a:spAutoFit/>
          </a:bodyPr>
          <a:lstStyle/>
          <a:p>
            <a:r>
              <a:rPr lang="en-US"/>
              <a:t>Direct-sun hours and results by area (1500 mm canopy)</a:t>
            </a:r>
            <a:endParaRPr lang="en-GB" dirty="0"/>
          </a:p>
        </p:txBody>
      </p:sp>
      <p:sp>
        <p:nvSpPr>
          <p:cNvPr id="11" name="TextBox 10">
            <a:extLst>
              <a:ext uri="{FF2B5EF4-FFF2-40B4-BE49-F238E27FC236}">
                <a16:creationId xmlns:a16="http://schemas.microsoft.com/office/drawing/2014/main" id="{FA680A13-98DF-B2C0-85B9-B66029542F77}"/>
              </a:ext>
            </a:extLst>
          </p:cNvPr>
          <p:cNvSpPr txBox="1"/>
          <p:nvPr/>
        </p:nvSpPr>
        <p:spPr bwMode="auto">
          <a:xfrm>
            <a:off x="330200" y="4541762"/>
            <a:ext cx="5588000" cy="1706638"/>
          </a:xfrm>
          <a:prstGeom prst="rect">
            <a:avLst/>
          </a:prstGeom>
          <a:noFill/>
          <a:ln w="9525">
            <a:noFill/>
            <a:miter lim="800000"/>
            <a:headEnd/>
            <a:tailEnd/>
          </a:ln>
          <a:effectLst/>
        </p:spPr>
        <p:txBody>
          <a:bodyPr vert="horz" wrap="square" lIns="0" rtlCol="0">
            <a:noAutofit/>
          </a:bodyPr>
          <a:lstStyle/>
          <a:p>
            <a:pPr>
              <a:spcBef>
                <a:spcPct val="50000"/>
              </a:spcBef>
            </a:pPr>
            <a:r>
              <a:rPr lang="en-US" sz="1000" b="1" dirty="0">
                <a:solidFill>
                  <a:srgbClr val="56626F"/>
                </a:solidFill>
                <a:latin typeface="Arial" panose="020B0604020202020204" pitchFamily="34" charset="0"/>
                <a:cs typeface="Arial"/>
              </a:rPr>
              <a:t>Key points</a:t>
            </a:r>
          </a:p>
          <a:p>
            <a:pPr marL="228600" indent="-228600">
              <a:spcBef>
                <a:spcPct val="50000"/>
              </a:spcBef>
              <a:buFont typeface="+mj-lt"/>
              <a:buChar char="•"/>
            </a:pPr>
            <a:r>
              <a:rPr lang="en-US" sz="1000" dirty="0">
                <a:solidFill>
                  <a:srgbClr val="56626F"/>
                </a:solidFill>
                <a:latin typeface="Arial" panose="020B0604020202020204" pitchFamily="34" charset="0"/>
                <a:cs typeface="Arial"/>
              </a:rPr>
              <a:t>ASE is 0 % everywhere: no point gets over 1000 lx of direct sun for more than 250 occupied hours.</a:t>
            </a:r>
          </a:p>
          <a:p>
            <a:pPr marL="228600" indent="-228600">
              <a:spcBef>
                <a:spcPct val="50000"/>
              </a:spcBef>
              <a:buFont typeface="+mj-lt"/>
              <a:buChar char="•"/>
            </a:pPr>
            <a:r>
              <a:rPr lang="en-US" sz="1000" dirty="0">
                <a:solidFill>
                  <a:srgbClr val="56626F"/>
                </a:solidFill>
                <a:latin typeface="Arial" panose="020B0604020202020204" pitchFamily="34" charset="0"/>
                <a:cs typeface="Arial"/>
              </a:rPr>
              <a:t>At the glass, sun above 1000 lx comes mainly at 07:00–09:00 (Apr–Sep), largely before 08:00; worst glass-side spots: 88 h (NE open office), 133 h (West Office Room 1).</a:t>
            </a:r>
          </a:p>
          <a:p>
            <a:pPr marL="228600" indent="-228600">
              <a:spcBef>
                <a:spcPct val="50000"/>
              </a:spcBef>
              <a:buFont typeface="+mj-lt"/>
              <a:buChar char="•"/>
            </a:pPr>
            <a:r>
              <a:rPr lang="en-US" sz="1000" dirty="0">
                <a:solidFill>
                  <a:srgbClr val="56626F"/>
                </a:solidFill>
                <a:latin typeface="Arial" panose="020B0604020202020204" pitchFamily="34" charset="0"/>
                <a:cs typeface="Arial"/>
              </a:rPr>
              <a:t>Under the skylight: up to 198 h in the pantry and 137 h at the edge of the NW offices (09:00–12:00, Apr–Sep).</a:t>
            </a:r>
          </a:p>
        </p:txBody>
      </p:sp>
      <p:sp>
        <p:nvSpPr>
          <p:cNvPr id="12" name="TextBox 11">
            <a:extLst>
              <a:ext uri="{FF2B5EF4-FFF2-40B4-BE49-F238E27FC236}">
                <a16:creationId xmlns:a16="http://schemas.microsoft.com/office/drawing/2014/main" id="{E72A5A1E-3C39-1711-CAE5-FC6F18129F0B}"/>
              </a:ext>
            </a:extLst>
          </p:cNvPr>
          <p:cNvSpPr txBox="1"/>
          <p:nvPr/>
        </p:nvSpPr>
        <p:spPr bwMode="auto">
          <a:xfrm>
            <a:off x="330200" y="4260130"/>
            <a:ext cx="5080000" cy="230832"/>
          </a:xfrm>
          <a:prstGeom prst="rect">
            <a:avLst/>
          </a:prstGeom>
          <a:noFill/>
          <a:ln w="9525">
            <a:noFill/>
            <a:miter lim="800000"/>
            <a:headEnd/>
            <a:tailEnd/>
          </a:ln>
          <a:effectLst/>
        </p:spPr>
        <p:txBody>
          <a:bodyPr vert="horz" wrap="square" lIns="0" rtlCol="0">
            <a:spAutoFit/>
          </a:bodyPr>
          <a:lstStyle/>
          <a:p>
            <a:pPr algn="ctr">
              <a:spcBef>
                <a:spcPct val="50000"/>
              </a:spcBef>
            </a:pPr>
            <a:r>
              <a:rPr lang="en-US" sz="900" i="1" dirty="0">
                <a:solidFill>
                  <a:srgbClr val="56626F"/>
                </a:solidFill>
                <a:latin typeface="Arial" panose="020B0604020202020204" pitchFamily="34" charset="0"/>
                <a:cs typeface="Arial"/>
              </a:rPr>
              <a:t>Occupied hours with more than 1000 lx of direct sun (Mon–Fri 08:00–18:00)</a:t>
            </a:r>
            <a:endParaRPr lang="en-GB" sz="900" i="1" dirty="0">
              <a:solidFill>
                <a:srgbClr val="56626F"/>
              </a:solidFill>
              <a:latin typeface="Arial" panose="020B0604020202020204" pitchFamily="34" charset="0"/>
              <a:cs typeface="Arial"/>
            </a:endParaRPr>
          </a:p>
        </p:txBody>
      </p:sp>
      <p:graphicFrame>
        <p:nvGraphicFramePr>
          <p:cNvPr id="13" name="Table 12">
            <a:extLst>
              <a:ext uri="{FF2B5EF4-FFF2-40B4-BE49-F238E27FC236}">
                <a16:creationId xmlns:a16="http://schemas.microsoft.com/office/drawing/2014/main" id="{808F0B6D-520F-64DB-B8E5-E4FB8D5D212E}"/>
              </a:ext>
            </a:extLst>
          </p:cNvPr>
          <p:cNvGraphicFramePr>
            <a:graphicFrameLocks noGrp="1"/>
          </p:cNvGraphicFramePr>
          <p:nvPr>
            <p:extLst>
              <p:ext uri="{D42A27DB-BD31-4B8C-83A1-F6EECF244321}">
                <p14:modId xmlns:p14="http://schemas.microsoft.com/office/powerpoint/2010/main" val="3371711117"/>
              </p:ext>
            </p:extLst>
          </p:nvPr>
        </p:nvGraphicFramePr>
        <p:xfrm>
          <a:off x="6070600" y="1422400"/>
          <a:ext cx="5778500" cy="3415030"/>
        </p:xfrm>
        <a:graphic>
          <a:graphicData uri="http://schemas.openxmlformats.org/drawingml/2006/table">
            <a:tbl>
              <a:tblPr firstRow="1" bandRow="1">
                <a:tableStyleId>{5940675A-B579-460E-94D1-54222C63F5DA}</a:tableStyleId>
              </a:tblPr>
              <a:tblGrid>
                <a:gridCol w="1905000">
                  <a:extLst>
                    <a:ext uri="{9D8B030D-6E8A-4147-A177-3AD203B41FA5}">
                      <a16:colId xmlns:a16="http://schemas.microsoft.com/office/drawing/2014/main" val="859046223"/>
                    </a:ext>
                  </a:extLst>
                </a:gridCol>
                <a:gridCol w="889000">
                  <a:extLst>
                    <a:ext uri="{9D8B030D-6E8A-4147-A177-3AD203B41FA5}">
                      <a16:colId xmlns:a16="http://schemas.microsoft.com/office/drawing/2014/main" val="1304557135"/>
                    </a:ext>
                  </a:extLst>
                </a:gridCol>
                <a:gridCol w="952500">
                  <a:extLst>
                    <a:ext uri="{9D8B030D-6E8A-4147-A177-3AD203B41FA5}">
                      <a16:colId xmlns:a16="http://schemas.microsoft.com/office/drawing/2014/main" val="3531709726"/>
                    </a:ext>
                  </a:extLst>
                </a:gridCol>
                <a:gridCol w="952500">
                  <a:extLst>
                    <a:ext uri="{9D8B030D-6E8A-4147-A177-3AD203B41FA5}">
                      <a16:colId xmlns:a16="http://schemas.microsoft.com/office/drawing/2014/main" val="2000347429"/>
                    </a:ext>
                  </a:extLst>
                </a:gridCol>
                <a:gridCol w="1079500">
                  <a:extLst>
                    <a:ext uri="{9D8B030D-6E8A-4147-A177-3AD203B41FA5}">
                      <a16:colId xmlns:a16="http://schemas.microsoft.com/office/drawing/2014/main" val="3238636425"/>
                    </a:ext>
                  </a:extLst>
                </a:gridCol>
              </a:tblGrid>
              <a:tr h="184150">
                <a:tc>
                  <a:txBody>
                    <a:bodyPr/>
                    <a:lstStyle/>
                    <a:p>
                      <a:pPr algn="l"/>
                      <a:r>
                        <a:rPr lang="en-GB" sz="850" b="1">
                          <a:solidFill>
                            <a:srgbClr val="56626F"/>
                          </a:solidFill>
                          <a:latin typeface="Arial" panose="020B0604020202020204" pitchFamily="34" charset="0"/>
                        </a:rPr>
                        <a:t>Area</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850" b="1">
                          <a:solidFill>
                            <a:srgbClr val="56626F"/>
                          </a:solidFill>
                          <a:latin typeface="Arial" panose="020B0604020202020204" pitchFamily="34" charset="0"/>
                        </a:rPr>
                        <a:t>Floor area [m²]</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850" b="1">
                          <a:solidFill>
                            <a:srgbClr val="56626F"/>
                          </a:solidFill>
                          <a:latin typeface="Arial" panose="020B0604020202020204" pitchFamily="34" charset="0"/>
                        </a:rPr>
                        <a:t>sDA300/50% [%]</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850" b="1">
                          <a:solidFill>
                            <a:srgbClr val="56626F"/>
                          </a:solidFill>
                          <a:latin typeface="Arial" panose="020B0604020202020204" pitchFamily="34" charset="0"/>
                        </a:rPr>
                        <a:t>ASE1000,250h [%]</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US" sz="850" b="1">
                          <a:solidFill>
                            <a:srgbClr val="56626F"/>
                          </a:solidFill>
                          <a:latin typeface="Arial" panose="020B0604020202020204" pitchFamily="34" charset="0"/>
                        </a:rPr>
                        <a:t>Max hours &gt; 1000 lx [h]</a:t>
                      </a:r>
                      <a:endParaRPr lang="en-GB" sz="850" b="1">
                        <a:solidFill>
                          <a:srgbClr val="56626F"/>
                        </a:solidFill>
                        <a:latin typeface="Arial" panose="020B0604020202020204" pitchFamily="34" charset="0"/>
                      </a:endParaRP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extLst>
                  <a:ext uri="{0D108BD9-81ED-4DB2-BD59-A6C34878D82A}">
                    <a16:rowId xmlns:a16="http://schemas.microsoft.com/office/drawing/2014/main" val="3277538438"/>
                  </a:ext>
                </a:extLst>
              </a:tr>
              <a:tr h="184150">
                <a:tc>
                  <a:txBody>
                    <a:bodyPr/>
                    <a:lstStyle/>
                    <a:p>
                      <a:pPr algn="l"/>
                      <a:r>
                        <a:rPr lang="en-GB" sz="850" b="0">
                          <a:solidFill>
                            <a:srgbClr val="56626F"/>
                          </a:solidFill>
                          <a:latin typeface="Arial" panose="020B0604020202020204" pitchFamily="34" charset="0"/>
                        </a:rPr>
                        <a:t>West Office Room 1</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9.4</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97</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133</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3342127639"/>
                  </a:ext>
                </a:extLst>
              </a:tr>
              <a:tr h="184150">
                <a:tc>
                  <a:txBody>
                    <a:bodyPr/>
                    <a:lstStyle/>
                    <a:p>
                      <a:pPr algn="l"/>
                      <a:r>
                        <a:rPr lang="en-GB" sz="850" b="0">
                          <a:solidFill>
                            <a:srgbClr val="56626F"/>
                          </a:solidFill>
                          <a:latin typeface="Arial" panose="020B0604020202020204" pitchFamily="34" charset="0"/>
                        </a:rPr>
                        <a:t>West Office Room 2</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10.1</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98</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18</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1166254243"/>
                  </a:ext>
                </a:extLst>
              </a:tr>
              <a:tr h="184150">
                <a:tc>
                  <a:txBody>
                    <a:bodyPr/>
                    <a:lstStyle/>
                    <a:p>
                      <a:pPr algn="l"/>
                      <a:r>
                        <a:rPr lang="en-GB" sz="850" b="0">
                          <a:solidFill>
                            <a:srgbClr val="56626F"/>
                          </a:solidFill>
                          <a:latin typeface="Arial" panose="020B0604020202020204" pitchFamily="34" charset="0"/>
                        </a:rPr>
                        <a:t>West Office Room 3</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9.3</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13</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550291434"/>
                  </a:ext>
                </a:extLst>
              </a:tr>
              <a:tr h="184150">
                <a:tc>
                  <a:txBody>
                    <a:bodyPr/>
                    <a:lstStyle/>
                    <a:p>
                      <a:pPr algn="l"/>
                      <a:r>
                        <a:rPr lang="en-GB" sz="850" b="0">
                          <a:solidFill>
                            <a:srgbClr val="56626F"/>
                          </a:solidFill>
                          <a:latin typeface="Arial" panose="020B0604020202020204" pitchFamily="34" charset="0"/>
                        </a:rPr>
                        <a:t>North-West Open Office</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112.4</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67</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137</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3391402072"/>
                  </a:ext>
                </a:extLst>
              </a:tr>
              <a:tr h="184150">
                <a:tc>
                  <a:txBody>
                    <a:bodyPr/>
                    <a:lstStyle/>
                    <a:p>
                      <a:pPr algn="l"/>
                      <a:r>
                        <a:rPr lang="en-GB" sz="850" b="0">
                          <a:solidFill>
                            <a:srgbClr val="56626F"/>
                          </a:solidFill>
                          <a:latin typeface="Arial" panose="020B0604020202020204" pitchFamily="34" charset="0"/>
                        </a:rPr>
                        <a:t>North Pantry</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37.3</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83</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198</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1586816989"/>
                  </a:ext>
                </a:extLst>
              </a:tr>
              <a:tr h="184150">
                <a:tc>
                  <a:txBody>
                    <a:bodyPr/>
                    <a:lstStyle/>
                    <a:p>
                      <a:pPr algn="l"/>
                      <a:r>
                        <a:rPr lang="en-GB" sz="850" b="0">
                          <a:solidFill>
                            <a:srgbClr val="56626F"/>
                          </a:solidFill>
                          <a:latin typeface="Arial" panose="020B0604020202020204" pitchFamily="34" charset="0"/>
                        </a:rPr>
                        <a:t>North-East Open Office</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73.3</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98</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88</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3503468290"/>
                  </a:ext>
                </a:extLst>
              </a:tr>
              <a:tr h="184150">
                <a:tc>
                  <a:txBody>
                    <a:bodyPr/>
                    <a:lstStyle/>
                    <a:p>
                      <a:pPr algn="l"/>
                      <a:r>
                        <a:rPr lang="en-GB" sz="850" b="0">
                          <a:solidFill>
                            <a:srgbClr val="56626F"/>
                          </a:solidFill>
                          <a:latin typeface="Arial" panose="020B0604020202020204" pitchFamily="34" charset="0"/>
                        </a:rPr>
                        <a:t>East Office Room 1</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9.5</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97</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40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2316105315"/>
                  </a:ext>
                </a:extLst>
              </a:tr>
              <a:tr h="184150">
                <a:tc>
                  <a:txBody>
                    <a:bodyPr/>
                    <a:lstStyle/>
                    <a:p>
                      <a:pPr algn="l"/>
                      <a:r>
                        <a:rPr lang="en-GB" sz="850" b="0">
                          <a:solidFill>
                            <a:srgbClr val="56626F"/>
                          </a:solidFill>
                          <a:latin typeface="Arial" panose="020B0604020202020204" pitchFamily="34" charset="0"/>
                        </a:rPr>
                        <a:t>East Office Room 2</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10.2</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92</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30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2925245557"/>
                  </a:ext>
                </a:extLst>
              </a:tr>
              <a:tr h="184150">
                <a:tc>
                  <a:txBody>
                    <a:bodyPr/>
                    <a:lstStyle/>
                    <a:p>
                      <a:pPr algn="l"/>
                      <a:r>
                        <a:rPr lang="en-GB" sz="850" b="0">
                          <a:solidFill>
                            <a:srgbClr val="56626F"/>
                          </a:solidFill>
                          <a:latin typeface="Arial" panose="020B0604020202020204" pitchFamily="34" charset="0"/>
                        </a:rPr>
                        <a:t>South Corridor</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12.6</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3607663061"/>
                  </a:ext>
                </a:extLst>
              </a:tr>
              <a:tr h="184150">
                <a:tc>
                  <a:txBody>
                    <a:bodyPr/>
                    <a:lstStyle/>
                    <a:p>
                      <a:pPr algn="l"/>
                      <a:r>
                        <a:rPr lang="en-GB" sz="850" b="0">
                          <a:solidFill>
                            <a:srgbClr val="56626F"/>
                          </a:solidFill>
                          <a:latin typeface="Arial" panose="020B0604020202020204" pitchFamily="34" charset="0"/>
                        </a:rPr>
                        <a:t>South Cubicles</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7.2</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644236677"/>
                  </a:ext>
                </a:extLst>
              </a:tr>
              <a:tr h="184150">
                <a:tc>
                  <a:txBody>
                    <a:bodyPr/>
                    <a:lstStyle/>
                    <a:p>
                      <a:pPr algn="l"/>
                      <a:r>
                        <a:rPr lang="en-GB" sz="850" b="0">
                          <a:solidFill>
                            <a:srgbClr val="56626F"/>
                          </a:solidFill>
                          <a:latin typeface="Arial" panose="020B0604020202020204" pitchFamily="34" charset="0"/>
                        </a:rPr>
                        <a:t>South Office Room 1</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8.5</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3202719663"/>
                  </a:ext>
                </a:extLst>
              </a:tr>
              <a:tr h="184150">
                <a:tc>
                  <a:txBody>
                    <a:bodyPr/>
                    <a:lstStyle/>
                    <a:p>
                      <a:pPr algn="l"/>
                      <a:r>
                        <a:rPr lang="en-GB" sz="850" b="0">
                          <a:solidFill>
                            <a:srgbClr val="56626F"/>
                          </a:solidFill>
                          <a:latin typeface="Arial" panose="020B0604020202020204" pitchFamily="34" charset="0"/>
                        </a:rPr>
                        <a:t>South-East Meeting Room 1</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11.2</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2493053546"/>
                  </a:ext>
                </a:extLst>
              </a:tr>
              <a:tr h="184150">
                <a:tc>
                  <a:txBody>
                    <a:bodyPr/>
                    <a:lstStyle/>
                    <a:p>
                      <a:pPr algn="l"/>
                      <a:r>
                        <a:rPr lang="en-GB" sz="850" b="0">
                          <a:solidFill>
                            <a:srgbClr val="56626F"/>
                          </a:solidFill>
                          <a:latin typeface="Arial" panose="020B0604020202020204" pitchFamily="34" charset="0"/>
                        </a:rPr>
                        <a:t>South-East Meeting Room 2</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11.2</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2006020325"/>
                  </a:ext>
                </a:extLst>
              </a:tr>
              <a:tr h="184150">
                <a:tc>
                  <a:txBody>
                    <a:bodyPr/>
                    <a:lstStyle/>
                    <a:p>
                      <a:pPr algn="l"/>
                      <a:r>
                        <a:rPr lang="en-GB" sz="850" b="0">
                          <a:solidFill>
                            <a:srgbClr val="56626F"/>
                          </a:solidFill>
                          <a:latin typeface="Arial" panose="020B0604020202020204" pitchFamily="34" charset="0"/>
                        </a:rPr>
                        <a:t>South-East Cubicles</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3.4</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2879934655"/>
                  </a:ext>
                </a:extLst>
              </a:tr>
              <a:tr h="184150">
                <a:tc>
                  <a:txBody>
                    <a:bodyPr/>
                    <a:lstStyle/>
                    <a:p>
                      <a:pPr algn="l"/>
                      <a:r>
                        <a:rPr lang="en-GB" sz="850" b="0">
                          <a:solidFill>
                            <a:srgbClr val="56626F"/>
                          </a:solidFill>
                          <a:latin typeface="Arial" panose="020B0604020202020204" pitchFamily="34" charset="0"/>
                        </a:rPr>
                        <a:t>South-East Corridor</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3.5</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265503224"/>
                  </a:ext>
                </a:extLst>
              </a:tr>
              <a:tr h="184150">
                <a:tc>
                  <a:txBody>
                    <a:bodyPr/>
                    <a:lstStyle/>
                    <a:p>
                      <a:pPr algn="l"/>
                      <a:r>
                        <a:rPr lang="en-GB" sz="850" b="1">
                          <a:solidFill>
                            <a:srgbClr val="56626F"/>
                          </a:solidFill>
                          <a:latin typeface="Arial" panose="020B0604020202020204" pitchFamily="34" charset="0"/>
                        </a:rPr>
                        <a:t>Glazed rooms (7)</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1">
                          <a:solidFill>
                            <a:srgbClr val="56626F"/>
                          </a:solidFill>
                          <a:latin typeface="Arial" panose="020B0604020202020204" pitchFamily="34" charset="0"/>
                        </a:rPr>
                        <a:t>262.3</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1">
                          <a:solidFill>
                            <a:srgbClr val="56626F"/>
                          </a:solidFill>
                          <a:latin typeface="Arial" panose="020B0604020202020204" pitchFamily="34" charset="0"/>
                        </a:rPr>
                        <a:t>82</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1">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1">
                          <a:solidFill>
                            <a:srgbClr val="56626F"/>
                          </a:solidFill>
                          <a:latin typeface="Arial" panose="020B0604020202020204" pitchFamily="34" charset="0"/>
                        </a:rPr>
                        <a:t>198</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570125802"/>
                  </a:ext>
                </a:extLst>
              </a:tr>
              <a:tr h="184150">
                <a:tc>
                  <a:txBody>
                    <a:bodyPr/>
                    <a:lstStyle/>
                    <a:p>
                      <a:pPr algn="l"/>
                      <a:r>
                        <a:rPr lang="en-GB" sz="850" b="1">
                          <a:solidFill>
                            <a:srgbClr val="56626F"/>
                          </a:solidFill>
                          <a:latin typeface="Arial" panose="020B0604020202020204" pitchFamily="34" charset="0"/>
                        </a:rPr>
                        <a:t>All analysed areas (15)</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1">
                          <a:solidFill>
                            <a:srgbClr val="56626F"/>
                          </a:solidFill>
                          <a:latin typeface="Arial" panose="020B0604020202020204" pitchFamily="34" charset="0"/>
                        </a:rPr>
                        <a:t>329.1</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850" b="1">
                          <a:solidFill>
                            <a:srgbClr val="56626F"/>
                          </a:solidFill>
                          <a:latin typeface="Arial" panose="020B0604020202020204" pitchFamily="34" charset="0"/>
                        </a:rPr>
                        <a:t>66</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1">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C6EFCE"/>
                    </a:solidFill>
                  </a:tcPr>
                </a:tc>
                <a:tc>
                  <a:txBody>
                    <a:bodyPr/>
                    <a:lstStyle/>
                    <a:p>
                      <a:pPr algn="ctr"/>
                      <a:r>
                        <a:rPr lang="en-GB" sz="850" b="1">
                          <a:solidFill>
                            <a:srgbClr val="56626F"/>
                          </a:solidFill>
                          <a:latin typeface="Arial" panose="020B0604020202020204" pitchFamily="34" charset="0"/>
                        </a:rPr>
                        <a:t>198</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4077682799"/>
                  </a:ext>
                </a:extLst>
              </a:tr>
            </a:tbl>
          </a:graphicData>
        </a:graphic>
      </p:graphicFrame>
      <p:sp>
        <p:nvSpPr>
          <p:cNvPr id="14" name="Rectangle 13">
            <a:extLst>
              <a:ext uri="{FF2B5EF4-FFF2-40B4-BE49-F238E27FC236}">
                <a16:creationId xmlns:a16="http://schemas.microsoft.com/office/drawing/2014/main" id="{C214201A-BDEB-5EDB-7445-28CDAA7B7BB6}"/>
              </a:ext>
            </a:extLst>
          </p:cNvPr>
          <p:cNvSpPr/>
          <p:nvPr/>
        </p:nvSpPr>
        <p:spPr>
          <a:xfrm>
            <a:off x="6070600" y="4838700"/>
            <a:ext cx="177800" cy="127000"/>
          </a:xfrm>
          <a:prstGeom prst="rect">
            <a:avLst/>
          </a:prstGeom>
          <a:solidFill>
            <a:srgbClr val="C6EFCE"/>
          </a:solidFill>
          <a:ln w="9525">
            <a:solidFill>
              <a:srgbClr val="56626F"/>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2C494D74-8B0A-E93A-0D1D-50ACA567A837}"/>
              </a:ext>
            </a:extLst>
          </p:cNvPr>
          <p:cNvSpPr txBox="1"/>
          <p:nvPr/>
        </p:nvSpPr>
        <p:spPr bwMode="auto">
          <a:xfrm>
            <a:off x="6273800" y="4787900"/>
            <a:ext cx="3810000" cy="230832"/>
          </a:xfrm>
          <a:prstGeom prst="rect">
            <a:avLst/>
          </a:prstGeom>
          <a:noFill/>
          <a:ln w="9525">
            <a:noFill/>
            <a:miter lim="800000"/>
            <a:headEnd/>
            <a:tailEnd/>
          </a:ln>
          <a:effectLst/>
        </p:spPr>
        <p:txBody>
          <a:bodyPr vert="horz" wrap="square" lIns="0" rtlCol="0">
            <a:spAutoFit/>
          </a:bodyPr>
          <a:lstStyle/>
          <a:p>
            <a:pPr>
              <a:spcBef>
                <a:spcPct val="50000"/>
              </a:spcBef>
            </a:pPr>
            <a:r>
              <a:rPr lang="en-US" sz="900" i="1">
                <a:solidFill>
                  <a:srgbClr val="56626F"/>
                </a:solidFill>
                <a:latin typeface="Arial" panose="020B0604020202020204" pitchFamily="34" charset="0"/>
                <a:cs typeface="Arial"/>
              </a:rPr>
              <a:t>meets the benchmark (sDA at least 55 %, ASE at most 10 %)</a:t>
            </a:r>
            <a:endParaRPr lang="en-GB" sz="900" i="1" dirty="0">
              <a:solidFill>
                <a:srgbClr val="56626F"/>
              </a:solidFill>
              <a:latin typeface="Arial" panose="020B0604020202020204" pitchFamily="34" charset="0"/>
              <a:cs typeface="Arial"/>
            </a:endParaRPr>
          </a:p>
        </p:txBody>
      </p:sp>
      <p:pic>
        <p:nvPicPr>
          <p:cNvPr id="6" name="Picture 5">
            <a:extLst>
              <a:ext uri="{FF2B5EF4-FFF2-40B4-BE49-F238E27FC236}">
                <a16:creationId xmlns:a16="http://schemas.microsoft.com/office/drawing/2014/main" id="{B5EE4324-DF6A-24C7-A40A-6FB79EF828CD}"/>
              </a:ext>
            </a:extLst>
          </p:cNvPr>
          <p:cNvPicPr>
            <a:picLocks noChangeAspect="1"/>
          </p:cNvPicPr>
          <p:nvPr/>
        </p:nvPicPr>
        <p:blipFill>
          <a:blip r:embed="rId2"/>
          <a:srcRect/>
          <a:stretch/>
        </p:blipFill>
        <p:spPr>
          <a:xfrm>
            <a:off x="959412" y="1422400"/>
            <a:ext cx="4329575" cy="2819400"/>
          </a:xfrm>
          <a:prstGeom prst="rect">
            <a:avLst/>
          </a:prstGeom>
        </p:spPr>
      </p:pic>
      <p:sp>
        <p:nvSpPr>
          <p:cNvPr id="7" name="ASE callout">
            <a:extLst>
              <a:ext uri="{FF2B5EF4-FFF2-40B4-BE49-F238E27FC236}">
                <a16:creationId xmlns:a16="http://schemas.microsoft.com/office/drawing/2014/main" id="{3A437962-1F92-07CF-A938-DE46A95A4640}"/>
              </a:ext>
            </a:extLst>
          </p:cNvPr>
          <p:cNvSpPr/>
          <p:nvPr/>
        </p:nvSpPr>
        <p:spPr>
          <a:xfrm>
            <a:off x="1081957" y="1498600"/>
            <a:ext cx="1625600" cy="736600"/>
          </a:xfrm>
          <a:prstGeom prst="roundRect">
            <a:avLst>
              <a:gd name="adj" fmla="val 18000"/>
            </a:avLst>
          </a:prstGeom>
          <a:solidFill>
            <a:srgbClr val="FFFFFF"/>
          </a:solidFill>
          <a:ln w="19050">
            <a:solidFill>
              <a:srgbClr val="F5A623"/>
            </a:solidFill>
          </a:ln>
          <a:effectLst/>
          <a:sp3d/>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lang="en-US" sz="900" dirty="0">
                <a:solidFill>
                  <a:srgbClr val="56626F"/>
                </a:solidFill>
                <a:latin typeface="Arial" panose="020B0604020202020204" pitchFamily="34" charset="0"/>
              </a:rPr>
              <a:t>Annual Sunlight Exposure</a:t>
            </a:r>
          </a:p>
          <a:p>
            <a:pPr algn="ctr"/>
            <a:r>
              <a:rPr lang="en-US" sz="900" dirty="0">
                <a:solidFill>
                  <a:srgbClr val="56626F"/>
                </a:solidFill>
                <a:latin typeface="Arial" panose="020B0604020202020204" pitchFamily="34" charset="0"/>
              </a:rPr>
              <a:t>(ASE</a:t>
            </a:r>
            <a:r>
              <a:rPr lang="en-US" sz="900" baseline="-25000" dirty="0">
                <a:solidFill>
                  <a:srgbClr val="56626F"/>
                </a:solidFill>
                <a:latin typeface="Arial" panose="020B0604020202020204" pitchFamily="34" charset="0"/>
              </a:rPr>
              <a:t>1000,250h</a:t>
            </a:r>
            <a:r>
              <a:rPr lang="en-US" sz="900" dirty="0">
                <a:solidFill>
                  <a:srgbClr val="56626F"/>
                </a:solidFill>
                <a:latin typeface="Arial" panose="020B0604020202020204" pitchFamily="34" charset="0"/>
              </a:rPr>
              <a:t>)</a:t>
            </a:r>
          </a:p>
          <a:p>
            <a:pPr algn="ctr"/>
            <a:endParaRPr lang="en-US" sz="900" baseline="-25000" dirty="0">
              <a:solidFill>
                <a:srgbClr val="56626F"/>
              </a:solidFill>
              <a:latin typeface="Arial" panose="020B0604020202020204" pitchFamily="34" charset="0"/>
            </a:endParaRPr>
          </a:p>
          <a:p>
            <a:pPr algn="ctr"/>
            <a:r>
              <a:rPr lang="en-US" b="1" dirty="0">
                <a:solidFill>
                  <a:srgbClr val="F5A623"/>
                </a:solidFill>
                <a:latin typeface="Arial" panose="020B0604020202020204" pitchFamily="34" charset="0"/>
              </a:rPr>
              <a:t>0 %</a:t>
            </a:r>
            <a:endParaRPr lang="en-GB" b="1" dirty="0">
              <a:solidFill>
                <a:srgbClr val="F5A623"/>
              </a:solidFill>
              <a:latin typeface="Arial" panose="020B0604020202020204" pitchFamily="34" charset="0"/>
            </a:endParaRPr>
          </a:p>
        </p:txBody>
      </p:sp>
      <p:pic>
        <p:nvPicPr>
          <p:cNvPr id="9" name="Picture 8">
            <a:extLst>
              <a:ext uri="{FF2B5EF4-FFF2-40B4-BE49-F238E27FC236}">
                <a16:creationId xmlns:a16="http://schemas.microsoft.com/office/drawing/2014/main" id="{A2EE5E59-6CA1-11D4-C186-4C4F8EB1CEFB}"/>
              </a:ext>
            </a:extLst>
          </p:cNvPr>
          <p:cNvPicPr>
            <a:picLocks noChangeAspect="1"/>
          </p:cNvPicPr>
          <p:nvPr/>
        </p:nvPicPr>
        <p:blipFill>
          <a:blip r:embed="rId3"/>
          <a:srcRect/>
          <a:stretch/>
        </p:blipFill>
        <p:spPr>
          <a:xfrm>
            <a:off x="3985168" y="3403082"/>
            <a:ext cx="1694626" cy="875329"/>
          </a:xfrm>
          <a:prstGeom prst="rect">
            <a:avLst/>
          </a:prstGeom>
        </p:spPr>
      </p:pic>
    </p:spTree>
    <p:extLst>
      <p:ext uri="{BB962C8B-B14F-4D97-AF65-F5344CB8AC3E}">
        <p14:creationId xmlns:p14="http://schemas.microsoft.com/office/powerpoint/2010/main" val="1840273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970A1A-FD99-F1EF-AB28-362EA77D5642}"/>
              </a:ext>
            </a:extLst>
          </p:cNvPr>
          <p:cNvSpPr>
            <a:spLocks noGrp="1"/>
          </p:cNvSpPr>
          <p:nvPr>
            <p:ph type="body" sz="quarter" idx="14"/>
          </p:nvPr>
        </p:nvSpPr>
        <p:spPr>
          <a:xfrm>
            <a:off x="6210300" y="812799"/>
            <a:ext cx="5651500" cy="246221"/>
          </a:xfrm>
        </p:spPr>
        <p:txBody>
          <a:bodyPr wrap="square">
            <a:noAutofit/>
          </a:bodyPr>
          <a:lstStyle/>
          <a:p>
            <a:pPr algn="r"/>
            <a:r>
              <a:rPr lang="en-US" sz="1000" i="1"/>
              <a:t>Inputs for the daylight study (slides 10–11).</a:t>
            </a:r>
            <a:endParaRPr lang="en-GB" sz="1000" i="1"/>
          </a:p>
        </p:txBody>
      </p:sp>
      <p:sp>
        <p:nvSpPr>
          <p:cNvPr id="3" name="Text Placeholder 2">
            <a:extLst>
              <a:ext uri="{FF2B5EF4-FFF2-40B4-BE49-F238E27FC236}">
                <a16:creationId xmlns:a16="http://schemas.microsoft.com/office/drawing/2014/main" id="{AEFDED4E-6CAD-9E70-1F01-06BBA0E144ED}"/>
              </a:ext>
            </a:extLst>
          </p:cNvPr>
          <p:cNvSpPr>
            <a:spLocks noGrp="1"/>
          </p:cNvSpPr>
          <p:nvPr>
            <p:ph type="body" sz="quarter" idx="10"/>
          </p:nvPr>
        </p:nvSpPr>
        <p:spPr>
          <a:xfrm>
            <a:off x="335360" y="260648"/>
            <a:ext cx="11521279" cy="553998"/>
          </a:xfrm>
        </p:spPr>
        <p:txBody>
          <a:bodyPr/>
          <a:lstStyle/>
          <a:p>
            <a:r>
              <a:rPr lang="en-US" dirty="0"/>
              <a:t>Daylight Study Assumptions</a:t>
            </a:r>
            <a:endParaRPr lang="en-GB" dirty="0"/>
          </a:p>
        </p:txBody>
      </p:sp>
      <p:sp>
        <p:nvSpPr>
          <p:cNvPr id="4" name="Text Placeholder 3">
            <a:extLst>
              <a:ext uri="{FF2B5EF4-FFF2-40B4-BE49-F238E27FC236}">
                <a16:creationId xmlns:a16="http://schemas.microsoft.com/office/drawing/2014/main" id="{C12C17F3-9711-37CA-579E-3E4377B2DF61}"/>
              </a:ext>
            </a:extLst>
          </p:cNvPr>
          <p:cNvSpPr>
            <a:spLocks noGrp="1"/>
          </p:cNvSpPr>
          <p:nvPr>
            <p:ph type="body" sz="quarter" idx="15"/>
          </p:nvPr>
        </p:nvSpPr>
        <p:spPr/>
        <p:txBody>
          <a:bodyPr/>
          <a:lstStyle/>
          <a:p>
            <a:endParaRPr lang="en-GB"/>
          </a:p>
        </p:txBody>
      </p:sp>
      <p:sp>
        <p:nvSpPr>
          <p:cNvPr id="6" name="TextBox 5">
            <a:extLst>
              <a:ext uri="{FF2B5EF4-FFF2-40B4-BE49-F238E27FC236}">
                <a16:creationId xmlns:a16="http://schemas.microsoft.com/office/drawing/2014/main" id="{E42A5A8A-2CC0-5A78-8183-5300327BD2BC}"/>
              </a:ext>
            </a:extLst>
          </p:cNvPr>
          <p:cNvSpPr txBox="1"/>
          <p:nvPr/>
        </p:nvSpPr>
        <p:spPr bwMode="auto">
          <a:xfrm>
            <a:off x="328187" y="1484784"/>
            <a:ext cx="10664357" cy="2123658"/>
          </a:xfrm>
          <a:prstGeom prst="rect">
            <a:avLst/>
          </a:prstGeom>
          <a:noFill/>
          <a:ln w="9525">
            <a:noFill/>
            <a:miter lim="800000"/>
            <a:headEnd/>
            <a:tailEnd/>
          </a:ln>
          <a:effectLst/>
        </p:spPr>
        <p:txBody>
          <a:bodyPr wrap="square" lIns="0" rtlCol="0">
            <a:spAutoFit/>
          </a:bodyPr>
          <a:lstStyle/>
          <a:p>
            <a:pPr marL="285750" indent="-285750">
              <a:buFont typeface="Arial" panose="020B0604020202020204" pitchFamily="34" charset="0"/>
              <a:buChar char="•"/>
            </a:pPr>
            <a:r>
              <a:rPr lang="en-US" sz="1200" dirty="0"/>
              <a:t>Method: Honeybee 1.8 annual daylight, enhanced 2-phase (sun traced every hour), -ab 5 -ad 15000 -as 2048 -</a:t>
            </a:r>
            <a:r>
              <a:rPr lang="en-US" sz="1200" dirty="0" err="1"/>
              <a:t>lw</a:t>
            </a:r>
            <a:r>
              <a:rPr lang="en-US" sz="1200" dirty="0"/>
              <a:t> 6.7e-7. 0.2 m grid at 0.76 m over the 15 room areas (7,993 sensors). Canopy 1500 mm option only.</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Weather and hours: Dubai Intl. AP </a:t>
            </a:r>
            <a:r>
              <a:rPr lang="en-US" sz="1200" dirty="0" err="1"/>
              <a:t>TMYx</a:t>
            </a:r>
            <a:r>
              <a:rPr lang="en-US" sz="1200" dirty="0"/>
              <a:t>; occupied Mon–Fri 08:00–18:00 (2,600 h), as in the sun-path study. </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Glazing (Guardian Performance Calculator, NFRC, 27/10/2026): façade SN 70/35 laminated IGU, </a:t>
            </a:r>
            <a:r>
              <a:rPr lang="en-US" sz="1200" dirty="0" err="1"/>
              <a:t>Tvis</a:t>
            </a:r>
            <a:r>
              <a:rPr lang="en-US" sz="1200" dirty="0"/>
              <a:t> 62 %, SHGC 0.30; skylight SN 40/23 #4 laminated IGU, </a:t>
            </a:r>
            <a:r>
              <a:rPr lang="en-US" sz="1200" dirty="0" err="1"/>
              <a:t>Tvis</a:t>
            </a:r>
            <a:r>
              <a:rPr lang="en-US" sz="1200" dirty="0"/>
              <a:t> 38 %, SHGC 0.22. Modelled as Radiance glass from </a:t>
            </a:r>
            <a:r>
              <a:rPr lang="en-US" sz="1200" dirty="0" err="1"/>
              <a:t>Tvis</a:t>
            </a:r>
            <a:r>
              <a:rPr lang="en-US" sz="1200" dirty="0"/>
              <a:t>.</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No blinds or furniture modelled. Context as in the solar study; the Emirates Tower is still a full prism.</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Benchmarks according to IES LM-83 / LEED v4.1 – sDA300/50% at least 55 % (75 % preferred), ASE1000,250h at most 10 %.</a:t>
            </a:r>
            <a:endParaRPr lang="en-GB" sz="1200" b="1" dirty="0">
              <a:solidFill>
                <a:srgbClr val="333333"/>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605C8A91-1BBD-88F3-550B-79112CD07EC9}"/>
              </a:ext>
            </a:extLst>
          </p:cNvPr>
          <p:cNvGraphicFramePr>
            <a:graphicFrameLocks noGrp="1"/>
          </p:cNvGraphicFramePr>
          <p:nvPr>
            <p:extLst>
              <p:ext uri="{D42A27DB-BD31-4B8C-83A1-F6EECF244321}">
                <p14:modId xmlns:p14="http://schemas.microsoft.com/office/powerpoint/2010/main" val="625773459"/>
              </p:ext>
            </p:extLst>
          </p:nvPr>
        </p:nvGraphicFramePr>
        <p:xfrm>
          <a:off x="622300" y="4318000"/>
          <a:ext cx="9906000" cy="1333500"/>
        </p:xfrm>
        <a:graphic>
          <a:graphicData uri="http://schemas.openxmlformats.org/drawingml/2006/table">
            <a:tbl>
              <a:tblPr firstRow="1" bandRow="1">
                <a:tableStyleId>{5940675A-B579-460E-94D1-54222C63F5DA}</a:tableStyleId>
              </a:tblPr>
              <a:tblGrid>
                <a:gridCol w="2921000">
                  <a:extLst>
                    <a:ext uri="{9D8B030D-6E8A-4147-A177-3AD203B41FA5}">
                      <a16:colId xmlns:a16="http://schemas.microsoft.com/office/drawing/2014/main" val="3694656125"/>
                    </a:ext>
                  </a:extLst>
                </a:gridCol>
                <a:gridCol w="2794000">
                  <a:extLst>
                    <a:ext uri="{9D8B030D-6E8A-4147-A177-3AD203B41FA5}">
                      <a16:colId xmlns:a16="http://schemas.microsoft.com/office/drawing/2014/main" val="323077533"/>
                    </a:ext>
                  </a:extLst>
                </a:gridCol>
                <a:gridCol w="2286000">
                  <a:extLst>
                    <a:ext uri="{9D8B030D-6E8A-4147-A177-3AD203B41FA5}">
                      <a16:colId xmlns:a16="http://schemas.microsoft.com/office/drawing/2014/main" val="2953869775"/>
                    </a:ext>
                  </a:extLst>
                </a:gridCol>
                <a:gridCol w="762000">
                  <a:extLst>
                    <a:ext uri="{9D8B030D-6E8A-4147-A177-3AD203B41FA5}">
                      <a16:colId xmlns:a16="http://schemas.microsoft.com/office/drawing/2014/main" val="1667902101"/>
                    </a:ext>
                  </a:extLst>
                </a:gridCol>
                <a:gridCol w="1143000">
                  <a:extLst>
                    <a:ext uri="{9D8B030D-6E8A-4147-A177-3AD203B41FA5}">
                      <a16:colId xmlns:a16="http://schemas.microsoft.com/office/drawing/2014/main" val="2740268624"/>
                    </a:ext>
                  </a:extLst>
                </a:gridCol>
              </a:tblGrid>
              <a:tr h="190500">
                <a:tc>
                  <a:txBody>
                    <a:bodyPr/>
                    <a:lstStyle/>
                    <a:p>
                      <a:pPr algn="l"/>
                      <a:r>
                        <a:rPr lang="en-GB" sz="900" b="1" dirty="0">
                          <a:solidFill>
                            <a:srgbClr val="56626F"/>
                          </a:solidFill>
                          <a:latin typeface="Arial" panose="020B0604020202020204" pitchFamily="34" charset="0"/>
                        </a:rPr>
                        <a:t>Surface</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900" b="1">
                          <a:solidFill>
                            <a:srgbClr val="56626F"/>
                          </a:solidFill>
                          <a:latin typeface="Arial" panose="020B0604020202020204" pitchFamily="34" charset="0"/>
                        </a:rPr>
                        <a:t>spectraldb material (ID)</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900" b="1">
                          <a:solidFill>
                            <a:srgbClr val="56626F"/>
                          </a:solidFill>
                          <a:latin typeface="Arial" panose="020B0604020202020204" pitchFamily="34" charset="0"/>
                        </a:rPr>
                        <a:t>R / G / B</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900" b="1">
                          <a:solidFill>
                            <a:srgbClr val="56626F"/>
                          </a:solidFill>
                          <a:latin typeface="Arial" panose="020B0604020202020204" pitchFamily="34" charset="0"/>
                        </a:rPr>
                        <a:t>Spec.</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tc>
                  <a:txBody>
                    <a:bodyPr/>
                    <a:lstStyle/>
                    <a:p>
                      <a:pPr algn="ctr"/>
                      <a:r>
                        <a:rPr lang="en-GB" sz="900" b="1">
                          <a:solidFill>
                            <a:srgbClr val="56626F"/>
                          </a:solidFill>
                          <a:latin typeface="Arial" panose="020B0604020202020204" pitchFamily="34" charset="0"/>
                        </a:rPr>
                        <a:t>Reflectance</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DCE0E4"/>
                    </a:solidFill>
                  </a:tcPr>
                </a:tc>
                <a:extLst>
                  <a:ext uri="{0D108BD9-81ED-4DB2-BD59-A6C34878D82A}">
                    <a16:rowId xmlns:a16="http://schemas.microsoft.com/office/drawing/2014/main" val="3200452431"/>
                  </a:ext>
                </a:extLst>
              </a:tr>
              <a:tr h="190500">
                <a:tc>
                  <a:txBody>
                    <a:bodyPr/>
                    <a:lstStyle/>
                    <a:p>
                      <a:pPr algn="l"/>
                      <a:r>
                        <a:rPr lang="en-US" sz="900" b="0">
                          <a:solidFill>
                            <a:srgbClr val="56626F"/>
                          </a:solidFill>
                          <a:latin typeface="Arial" panose="020B0604020202020204" pitchFamily="34" charset="0"/>
                        </a:rPr>
                        <a:t>Ceiling, timber partitions and façade piers</a:t>
                      </a:r>
                      <a:endParaRPr lang="en-GB" sz="900" b="0">
                        <a:solidFill>
                          <a:srgbClr val="56626F"/>
                        </a:solidFill>
                        <a:latin typeface="Arial" panose="020B0604020202020204" pitchFamily="34" charset="0"/>
                      </a:endParaRP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Wooden Frame (00919)</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0.194 / 0.111 / 0.053</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0.004</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0.13</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2714466385"/>
                  </a:ext>
                </a:extLst>
              </a:tr>
              <a:tr h="190500">
                <a:tc>
                  <a:txBody>
                    <a:bodyPr/>
                    <a:lstStyle/>
                    <a:p>
                      <a:pPr algn="l"/>
                      <a:r>
                        <a:rPr lang="fr-FR" sz="900" b="0" dirty="0" err="1">
                          <a:solidFill>
                            <a:srgbClr val="56626F"/>
                          </a:solidFill>
                          <a:latin typeface="Arial" panose="020B0604020202020204" pitchFamily="34" charset="0"/>
                        </a:rPr>
                        <a:t>Concrete</a:t>
                      </a:r>
                      <a:r>
                        <a:rPr lang="fr-FR" sz="900" b="0" dirty="0">
                          <a:solidFill>
                            <a:srgbClr val="56626F"/>
                          </a:solidFill>
                          <a:latin typeface="Arial" panose="020B0604020202020204" pitchFamily="34" charset="0"/>
                        </a:rPr>
                        <a:t> partitions, </a:t>
                      </a:r>
                      <a:r>
                        <a:rPr lang="fr-FR" sz="900" b="0" dirty="0" err="1">
                          <a:solidFill>
                            <a:srgbClr val="56626F"/>
                          </a:solidFill>
                          <a:latin typeface="Arial" panose="020B0604020202020204" pitchFamily="34" charset="0"/>
                        </a:rPr>
                        <a:t>bulkheads</a:t>
                      </a:r>
                      <a:r>
                        <a:rPr lang="fr-FR" sz="900" b="0" dirty="0">
                          <a:solidFill>
                            <a:srgbClr val="56626F"/>
                          </a:solidFill>
                          <a:latin typeface="Arial" panose="020B0604020202020204" pitchFamily="34" charset="0"/>
                        </a:rPr>
                        <a:t>, façade </a:t>
                      </a:r>
                      <a:r>
                        <a:rPr lang="fr-FR" sz="900" b="0" dirty="0" err="1">
                          <a:solidFill>
                            <a:srgbClr val="56626F"/>
                          </a:solidFill>
                          <a:latin typeface="Arial" panose="020B0604020202020204" pitchFamily="34" charset="0"/>
                        </a:rPr>
                        <a:t>piers</a:t>
                      </a:r>
                      <a:endParaRPr lang="en-GB" sz="900" b="0" dirty="0">
                        <a:solidFill>
                          <a:srgbClr val="56626F"/>
                        </a:solidFill>
                        <a:latin typeface="Arial" panose="020B0604020202020204" pitchFamily="34" charset="0"/>
                      </a:endParaRP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Concrete Exterior Wall 3 (01161)</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0.402 / 0.377 / 0.322</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0.38</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1580579216"/>
                  </a:ext>
                </a:extLst>
              </a:tr>
              <a:tr h="190500">
                <a:tc>
                  <a:txBody>
                    <a:bodyPr/>
                    <a:lstStyle/>
                    <a:p>
                      <a:pPr algn="l"/>
                      <a:r>
                        <a:rPr lang="en-GB" sz="900" b="0">
                          <a:solidFill>
                            <a:srgbClr val="56626F"/>
                          </a:solidFill>
                          <a:latin typeface="Arial" panose="020B0604020202020204" pitchFamily="34" charset="0"/>
                        </a:rPr>
                        <a:t>Plastered partitions</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US" sz="900" b="0">
                          <a:solidFill>
                            <a:srgbClr val="56626F"/>
                          </a:solidFill>
                          <a:latin typeface="Arial" panose="020B0604020202020204" pitchFamily="34" charset="0"/>
                        </a:rPr>
                        <a:t>White Rough Plaster Facade (01107)</a:t>
                      </a:r>
                      <a:endParaRPr lang="en-GB" sz="900" b="0">
                        <a:solidFill>
                          <a:srgbClr val="56626F"/>
                        </a:solidFill>
                        <a:latin typeface="Arial" panose="020B0604020202020204" pitchFamily="34" charset="0"/>
                      </a:endParaRP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0.386 / 0.342 / 0.264</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0.0009</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0.35</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139147668"/>
                  </a:ext>
                </a:extLst>
              </a:tr>
              <a:tr h="190500">
                <a:tc>
                  <a:txBody>
                    <a:bodyPr/>
                    <a:lstStyle/>
                    <a:p>
                      <a:pPr algn="l"/>
                      <a:r>
                        <a:rPr lang="en-GB" sz="900" b="0">
                          <a:solidFill>
                            <a:srgbClr val="56626F"/>
                          </a:solidFill>
                          <a:latin typeface="Arial" panose="020B0604020202020204" pitchFamily="34" charset="0"/>
                        </a:rPr>
                        <a:t>Floor</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Ceramic Tile (00931)</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0.756 / 0.735 / 0.670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0.0245</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0.74</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1416928902"/>
                  </a:ext>
                </a:extLst>
              </a:tr>
              <a:tr h="190500">
                <a:tc>
                  <a:txBody>
                    <a:bodyPr/>
                    <a:lstStyle/>
                    <a:p>
                      <a:pPr algn="l"/>
                      <a:r>
                        <a:rPr lang="en-GB" sz="900" b="0" dirty="0">
                          <a:solidFill>
                            <a:srgbClr val="56626F"/>
                          </a:solidFill>
                          <a:latin typeface="Arial" panose="020B0604020202020204" pitchFamily="34" charset="0"/>
                        </a:rPr>
                        <a:t>Pantry floor</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Light Concrete Pavement (01074)</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0.385 / 0.339 / 0.257</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0.35</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3943431176"/>
                  </a:ext>
                </a:extLst>
              </a:tr>
              <a:tr h="190500">
                <a:tc>
                  <a:txBody>
                    <a:bodyPr/>
                    <a:lstStyle/>
                    <a:p>
                      <a:pPr algn="l"/>
                      <a:r>
                        <a:rPr lang="en-GB" sz="900" b="0">
                          <a:solidFill>
                            <a:srgbClr val="56626F"/>
                          </a:solidFill>
                          <a:latin typeface="Arial" panose="020B0604020202020204" pitchFamily="34" charset="0"/>
                        </a:rPr>
                        <a:t>Façade columns and mullions</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White Aluminum Mullion (00689)</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0.645 / 0.700 / 0.764</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a:solidFill>
                            <a:srgbClr val="56626F"/>
                          </a:solidFill>
                          <a:latin typeface="Arial" panose="020B0604020202020204" pitchFamily="34" charset="0"/>
                        </a:rPr>
                        <a:t>0.0431</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tc>
                  <a:txBody>
                    <a:bodyPr/>
                    <a:lstStyle/>
                    <a:p>
                      <a:pPr algn="ctr"/>
                      <a:r>
                        <a:rPr lang="en-GB" sz="900" b="0" dirty="0">
                          <a:solidFill>
                            <a:srgbClr val="56626F"/>
                          </a:solidFill>
                          <a:latin typeface="Arial" panose="020B0604020202020204" pitchFamily="34" charset="0"/>
                        </a:rPr>
                        <a:t>0.70</a:t>
                      </a:r>
                    </a:p>
                  </a:txBody>
                  <a:tcPr marL="38100" marR="38100" marT="12700" marB="12700">
                    <a:lnL w="12700" cmpd="sng">
                      <a:solidFill>
                        <a:srgbClr val="56626F"/>
                      </a:solidFill>
                    </a:lnL>
                    <a:lnR w="12700" cmpd="sng">
                      <a:solidFill>
                        <a:srgbClr val="56626F"/>
                      </a:solidFill>
                    </a:lnR>
                    <a:lnT w="12700" cmpd="sng">
                      <a:solidFill>
                        <a:srgbClr val="56626F"/>
                      </a:solidFill>
                    </a:lnT>
                    <a:lnB w="12700" cmpd="sng">
                      <a:solidFill>
                        <a:srgbClr val="56626F"/>
                      </a:solidFill>
                    </a:lnB>
                    <a:solidFill>
                      <a:srgbClr val="FFFFFF"/>
                    </a:solidFill>
                  </a:tcPr>
                </a:tc>
                <a:extLst>
                  <a:ext uri="{0D108BD9-81ED-4DB2-BD59-A6C34878D82A}">
                    <a16:rowId xmlns:a16="http://schemas.microsoft.com/office/drawing/2014/main" val="1616595861"/>
                  </a:ext>
                </a:extLst>
              </a:tr>
            </a:tbl>
          </a:graphicData>
        </a:graphic>
      </p:graphicFrame>
    </p:spTree>
    <p:extLst>
      <p:ext uri="{BB962C8B-B14F-4D97-AF65-F5344CB8AC3E}">
        <p14:creationId xmlns:p14="http://schemas.microsoft.com/office/powerpoint/2010/main" val="28705362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19D18-A5F5-1FA7-6EB6-D922A93D1F1F}"/>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D7046720-79AB-F233-25B7-7397A015CBAD}"/>
              </a:ext>
            </a:extLst>
          </p:cNvPr>
          <p:cNvSpPr>
            <a:spLocks noGrp="1"/>
          </p:cNvSpPr>
          <p:nvPr>
            <p:ph type="body" sz="quarter" idx="10"/>
          </p:nvPr>
        </p:nvSpPr>
        <p:spPr/>
        <p:txBody>
          <a:bodyPr/>
          <a:lstStyle/>
          <a:p>
            <a:r>
              <a:rPr lang="en-US" sz="3600" dirty="0"/>
              <a:t>Glass coating</a:t>
            </a:r>
            <a:endParaRPr lang="en-GB" sz="3600" dirty="0"/>
          </a:p>
        </p:txBody>
      </p:sp>
    </p:spTree>
    <p:extLst>
      <p:ext uri="{BB962C8B-B14F-4D97-AF65-F5344CB8AC3E}">
        <p14:creationId xmlns:p14="http://schemas.microsoft.com/office/powerpoint/2010/main" val="38239313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34784EB-37CA-BC24-C5DA-E0EFBFC950D7}"/>
              </a:ext>
            </a:extLst>
          </p:cNvPr>
          <p:cNvSpPr>
            <a:spLocks noGrp="1"/>
          </p:cNvSpPr>
          <p:nvPr>
            <p:ph type="body" sz="quarter" idx="14"/>
          </p:nvPr>
        </p:nvSpPr>
        <p:spPr/>
        <p:txBody>
          <a:bodyPr/>
          <a:lstStyle/>
          <a:p>
            <a:endParaRPr lang="en-GB"/>
          </a:p>
        </p:txBody>
      </p:sp>
      <p:sp>
        <p:nvSpPr>
          <p:cNvPr id="3" name="Text Placeholder 2">
            <a:extLst>
              <a:ext uri="{FF2B5EF4-FFF2-40B4-BE49-F238E27FC236}">
                <a16:creationId xmlns:a16="http://schemas.microsoft.com/office/drawing/2014/main" id="{E44A7E67-B16F-4AEB-E0EA-980EB1CA1DDD}"/>
              </a:ext>
            </a:extLst>
          </p:cNvPr>
          <p:cNvSpPr>
            <a:spLocks noGrp="1"/>
          </p:cNvSpPr>
          <p:nvPr>
            <p:ph type="body" sz="quarter" idx="10"/>
          </p:nvPr>
        </p:nvSpPr>
        <p:spPr>
          <a:xfrm>
            <a:off x="335360" y="260648"/>
            <a:ext cx="11521279" cy="553998"/>
          </a:xfrm>
        </p:spPr>
        <p:txBody>
          <a:bodyPr/>
          <a:lstStyle/>
          <a:p>
            <a:r>
              <a:rPr lang="en-GB" dirty="0"/>
              <a:t>Glass Coatings</a:t>
            </a:r>
          </a:p>
        </p:txBody>
      </p:sp>
      <p:sp>
        <p:nvSpPr>
          <p:cNvPr id="4" name="Text Placeholder 3">
            <a:extLst>
              <a:ext uri="{FF2B5EF4-FFF2-40B4-BE49-F238E27FC236}">
                <a16:creationId xmlns:a16="http://schemas.microsoft.com/office/drawing/2014/main" id="{5B6FB513-4EBC-7BCD-ECB9-82DB51205313}"/>
              </a:ext>
            </a:extLst>
          </p:cNvPr>
          <p:cNvSpPr>
            <a:spLocks noGrp="1"/>
          </p:cNvSpPr>
          <p:nvPr>
            <p:ph type="body" sz="quarter" idx="15"/>
          </p:nvPr>
        </p:nvSpPr>
        <p:spPr>
          <a:xfrm>
            <a:off x="335360" y="897755"/>
            <a:ext cx="5645714" cy="307777"/>
          </a:xfrm>
        </p:spPr>
        <p:txBody>
          <a:bodyPr/>
          <a:lstStyle/>
          <a:p>
            <a:r>
              <a:rPr lang="en-US" dirty="0"/>
              <a:t>Performance comparison</a:t>
            </a:r>
            <a:endParaRPr lang="en-GB" dirty="0"/>
          </a:p>
        </p:txBody>
      </p:sp>
      <p:graphicFrame>
        <p:nvGraphicFramePr>
          <p:cNvPr id="6" name="Table 3">
            <a:extLst>
              <a:ext uri="{FF2B5EF4-FFF2-40B4-BE49-F238E27FC236}">
                <a16:creationId xmlns:a16="http://schemas.microsoft.com/office/drawing/2014/main" id="{5DF97518-5C72-60E3-2955-7E945C5E0F87}"/>
              </a:ext>
            </a:extLst>
          </p:cNvPr>
          <p:cNvGraphicFramePr>
            <a:graphicFrameLocks noGrp="1"/>
          </p:cNvGraphicFramePr>
          <p:nvPr>
            <p:extLst>
              <p:ext uri="{D42A27DB-BD31-4B8C-83A1-F6EECF244321}">
                <p14:modId xmlns:p14="http://schemas.microsoft.com/office/powerpoint/2010/main" val="134191142"/>
              </p:ext>
            </p:extLst>
          </p:nvPr>
        </p:nvGraphicFramePr>
        <p:xfrm>
          <a:off x="2666999" y="1700808"/>
          <a:ext cx="7087856" cy="3752879"/>
        </p:xfrm>
        <a:graphic>
          <a:graphicData uri="http://schemas.openxmlformats.org/drawingml/2006/table">
            <a:tbl>
              <a:tblPr firstRow="1" bandRow="1">
                <a:tableStyleId>{5940675A-B579-460E-94D1-54222C63F5DA}</a:tableStyleId>
              </a:tblPr>
              <a:tblGrid>
                <a:gridCol w="1421182">
                  <a:extLst>
                    <a:ext uri="{9D8B030D-6E8A-4147-A177-3AD203B41FA5}">
                      <a16:colId xmlns:a16="http://schemas.microsoft.com/office/drawing/2014/main" val="3593825136"/>
                    </a:ext>
                  </a:extLst>
                </a:gridCol>
                <a:gridCol w="1369652">
                  <a:extLst>
                    <a:ext uri="{9D8B030D-6E8A-4147-A177-3AD203B41FA5}">
                      <a16:colId xmlns:a16="http://schemas.microsoft.com/office/drawing/2014/main" val="1380666948"/>
                    </a:ext>
                  </a:extLst>
                </a:gridCol>
                <a:gridCol w="1369652">
                  <a:extLst>
                    <a:ext uri="{9D8B030D-6E8A-4147-A177-3AD203B41FA5}">
                      <a16:colId xmlns:a16="http://schemas.microsoft.com/office/drawing/2014/main" val="2116425679"/>
                    </a:ext>
                  </a:extLst>
                </a:gridCol>
                <a:gridCol w="1369652">
                  <a:extLst>
                    <a:ext uri="{9D8B030D-6E8A-4147-A177-3AD203B41FA5}">
                      <a16:colId xmlns:a16="http://schemas.microsoft.com/office/drawing/2014/main" val="3677683603"/>
                    </a:ext>
                  </a:extLst>
                </a:gridCol>
                <a:gridCol w="384998">
                  <a:extLst>
                    <a:ext uri="{9D8B030D-6E8A-4147-A177-3AD203B41FA5}">
                      <a16:colId xmlns:a16="http://schemas.microsoft.com/office/drawing/2014/main" val="711513039"/>
                    </a:ext>
                  </a:extLst>
                </a:gridCol>
                <a:gridCol w="1172720">
                  <a:extLst>
                    <a:ext uri="{9D8B030D-6E8A-4147-A177-3AD203B41FA5}">
                      <a16:colId xmlns:a16="http://schemas.microsoft.com/office/drawing/2014/main" val="2994355897"/>
                    </a:ext>
                  </a:extLst>
                </a:gridCol>
              </a:tblGrid>
              <a:tr h="25229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900" b="1" dirty="0">
                          <a:solidFill>
                            <a:schemeClr val="bg1"/>
                          </a:solidFill>
                        </a:rPr>
                        <a:t>COATING PRODUCT</a:t>
                      </a:r>
                      <a:endParaRPr lang="LID4096" sz="900" b="1" dirty="0">
                        <a:solidFill>
                          <a:schemeClr val="bg1"/>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56626F"/>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900" b="0" dirty="0">
                          <a:solidFill>
                            <a:schemeClr val="bg1"/>
                          </a:solidFill>
                        </a:rPr>
                        <a:t>SUNGUARD SN 70/35</a:t>
                      </a:r>
                      <a:endParaRPr lang="en-US" sz="900" b="0" dirty="0">
                        <a:solidFill>
                          <a:schemeClr val="bg1"/>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56626F"/>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900" b="0" dirty="0">
                          <a:solidFill>
                            <a:schemeClr val="bg1"/>
                          </a:solidFill>
                        </a:rPr>
                        <a:t>STOPRAY ULTRASELECT 70/33</a:t>
                      </a:r>
                      <a:endParaRPr lang="en-US" sz="900" b="0" dirty="0">
                        <a:solidFill>
                          <a:schemeClr val="bg1"/>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56626F"/>
                    </a:solidFill>
                  </a:tcPr>
                </a:tc>
                <a:tc>
                  <a:txBody>
                    <a:bodyPr/>
                    <a:lstStyle/>
                    <a:p>
                      <a:r>
                        <a:rPr lang="en-GB" sz="900" b="0" kern="1200" dirty="0">
                          <a:solidFill>
                            <a:schemeClr val="bg1"/>
                          </a:solidFill>
                          <a:latin typeface="+mn-lt"/>
                          <a:ea typeface="+mn-ea"/>
                          <a:cs typeface="+mn-cs"/>
                        </a:rPr>
                        <a:t>COOL-LITE SKN 175</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56626F"/>
                    </a:solidFill>
                  </a:tcPr>
                </a:tc>
                <a:tc>
                  <a:txBody>
                    <a:bodyPr/>
                    <a:lstStyle/>
                    <a:p>
                      <a:pPr algn="ctr"/>
                      <a:endParaRPr lang="en-US" sz="900" b="0">
                        <a:solidFill>
                          <a:schemeClr val="bg1"/>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900" b="1">
                          <a:solidFill>
                            <a:schemeClr val="bg1"/>
                          </a:solidFill>
                        </a:rPr>
                        <a:t>TARGET</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56626F"/>
                    </a:solidFill>
                  </a:tcPr>
                </a:tc>
                <a:extLst>
                  <a:ext uri="{0D108BD9-81ED-4DB2-BD59-A6C34878D82A}">
                    <a16:rowId xmlns:a16="http://schemas.microsoft.com/office/drawing/2014/main" val="805176242"/>
                  </a:ext>
                </a:extLst>
              </a:tr>
              <a:tr h="1558319">
                <a:tc>
                  <a:txBody>
                    <a:bodyPr/>
                    <a:lstStyle/>
                    <a:p>
                      <a:pPr marL="0" marR="0" lvl="0" indent="0" algn="l" defTabSz="640064" rtl="0" eaLnBrk="1" fontAlgn="auto" latinLnBrk="0" hangingPunct="1">
                        <a:lnSpc>
                          <a:spcPct val="100000"/>
                        </a:lnSpc>
                        <a:spcBef>
                          <a:spcPts val="0"/>
                        </a:spcBef>
                        <a:spcAft>
                          <a:spcPts val="0"/>
                        </a:spcAft>
                        <a:buClrTx/>
                        <a:buSzTx/>
                        <a:buFontTx/>
                        <a:buNone/>
                        <a:tabLst/>
                        <a:defRPr/>
                      </a:pPr>
                      <a:r>
                        <a:rPr lang="en-GB" sz="900" kern="1200">
                          <a:solidFill>
                            <a:schemeClr val="tx1"/>
                          </a:solidFill>
                          <a:latin typeface="+mn-lt"/>
                          <a:ea typeface="+mn-ea"/>
                          <a:cs typeface="+mn-cs"/>
                        </a:rPr>
                        <a:t>APPEARANCE</a:t>
                      </a:r>
                      <a:endParaRPr lang="LID4096" sz="900" kern="120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endParaRPr lang="LID4096" sz="900" kern="1200" dirty="0">
                        <a:solidFill>
                          <a:schemeClr val="tx1"/>
                        </a:solidFill>
                        <a:latin typeface="+mn-lt"/>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endParaRPr lang="LID4096" sz="900" kern="1200" dirty="0">
                        <a:solidFill>
                          <a:schemeClr val="tx1"/>
                        </a:solidFill>
                        <a:latin typeface="+mn-lt"/>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LID4096" sz="900" kern="1200" dirty="0">
                        <a:solidFill>
                          <a:schemeClr val="tx1"/>
                        </a:solidFill>
                        <a:latin typeface="+mn-lt"/>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endParaRPr lang="LID4096" sz="900">
                        <a:solidFill>
                          <a:schemeClr val="tx2">
                            <a:lumMod val="50000"/>
                            <a:lumOff val="50000"/>
                          </a:schemeClr>
                        </a:solidFill>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endParaRPr lang="LID4096" sz="900" kern="1200">
                        <a:solidFill>
                          <a:schemeClr val="tx1"/>
                        </a:solidFill>
                        <a:latin typeface="+mn-lt"/>
                        <a:ea typeface="+mn-ea"/>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1385015"/>
                  </a:ext>
                </a:extLst>
              </a:tr>
              <a:tr h="365760">
                <a:tc>
                  <a:txBody>
                    <a:bodyPr/>
                    <a:lstStyle/>
                    <a:p>
                      <a:pPr marL="0" marR="0" lvl="0" indent="0" algn="l" defTabSz="640064"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mn-cs"/>
                        </a:rPr>
                        <a:t>SUPPLIER</a:t>
                      </a:r>
                      <a:endParaRPr lang="LID4096" sz="900" kern="120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mn-cs"/>
                        </a:rPr>
                        <a:t>Guardian</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mn-cs"/>
                        </a:rPr>
                        <a:t>AGC</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mn-cs"/>
                        </a:rPr>
                        <a:t>Saint-Gobain</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endParaRPr lang="LID4096" sz="900" i="0">
                        <a:solidFill>
                          <a:schemeClr val="tx2">
                            <a:lumMod val="50000"/>
                            <a:lumOff val="50000"/>
                          </a:schemeClr>
                        </a:solidFill>
                      </a:endParaRPr>
                    </a:p>
                  </a:txBody>
                  <a:tcPr anchor="ctr">
                    <a:lnL w="3175" cap="flat" cmpd="sng" algn="ctr">
                      <a:solidFill>
                        <a:schemeClr val="tx1"/>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mn-cs"/>
                        </a:rPr>
                        <a:t>-</a:t>
                      </a:r>
                      <a:endParaRPr lang="LID4096" sz="900" kern="1200">
                        <a:solidFill>
                          <a:schemeClr val="tx1"/>
                        </a:solidFill>
                        <a:latin typeface="+mn-lt"/>
                        <a:ea typeface="+mn-ea"/>
                        <a:cs typeface="+mn-cs"/>
                      </a:endParaRPr>
                    </a:p>
                  </a:txBody>
                  <a:tcPr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475627"/>
                  </a:ext>
                </a:extLst>
              </a:tr>
              <a:tr h="365760">
                <a:tc>
                  <a:txBody>
                    <a:bodyPr/>
                    <a:lstStyle/>
                    <a:p>
                      <a:pPr marL="0" marR="0" lvl="0" indent="0" algn="l" defTabSz="640064" rtl="0" eaLnBrk="1" fontAlgn="auto" latinLnBrk="0" hangingPunct="1">
                        <a:lnSpc>
                          <a:spcPct val="100000"/>
                        </a:lnSpc>
                        <a:spcBef>
                          <a:spcPts val="0"/>
                        </a:spcBef>
                        <a:spcAft>
                          <a:spcPts val="0"/>
                        </a:spcAft>
                        <a:buClrTx/>
                        <a:buSzTx/>
                        <a:buFontTx/>
                        <a:buNone/>
                        <a:tabLst/>
                        <a:defRPr/>
                      </a:pPr>
                      <a:r>
                        <a:rPr lang="en-GB" sz="900" kern="1200">
                          <a:solidFill>
                            <a:schemeClr val="tx1"/>
                          </a:solidFill>
                          <a:latin typeface="+mn-lt"/>
                          <a:ea typeface="+mn-ea"/>
                          <a:cs typeface="+mn-cs"/>
                        </a:rPr>
                        <a:t>U-VALUE (W/m2K)</a:t>
                      </a:r>
                      <a:endParaRPr lang="LID4096" sz="900" kern="120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GB" sz="900" kern="1200" dirty="0">
                          <a:solidFill>
                            <a:schemeClr val="tx1"/>
                          </a:solidFill>
                          <a:latin typeface="+mn-lt"/>
                          <a:ea typeface="+mn-ea"/>
                          <a:cs typeface="+mn-cs"/>
                        </a:rPr>
                        <a:t>1.0</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DF"/>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GB" sz="900" kern="1200" dirty="0">
                          <a:solidFill>
                            <a:schemeClr val="tx1"/>
                          </a:solidFill>
                          <a:latin typeface="+mn-lt"/>
                          <a:ea typeface="+mn-ea"/>
                          <a:cs typeface="+mn-cs"/>
                        </a:rPr>
                        <a:t>1.0</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DF"/>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GB" sz="900" kern="1200" dirty="0">
                          <a:solidFill>
                            <a:schemeClr val="tx1"/>
                          </a:solidFill>
                          <a:latin typeface="+mn-lt"/>
                          <a:ea typeface="+mn-ea"/>
                          <a:cs typeface="+mn-cs"/>
                        </a:rPr>
                        <a:t>1.0 *</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DF"/>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endParaRPr lang="LID4096" sz="900" i="0">
                        <a:solidFill>
                          <a:schemeClr val="tx2">
                            <a:lumMod val="50000"/>
                            <a:lumOff val="50000"/>
                          </a:schemeClr>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mn-cs"/>
                        </a:rPr>
                        <a:t>≤2.1</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9881206"/>
                  </a:ext>
                </a:extLst>
              </a:tr>
              <a:tr h="365760">
                <a:tc>
                  <a:txBody>
                    <a:bodyPr/>
                    <a:lstStyle/>
                    <a:p>
                      <a:pPr marL="0" marR="0" lvl="0" indent="0" algn="l" defTabSz="640064" rtl="0" eaLnBrk="1" fontAlgn="auto" latinLnBrk="0" hangingPunct="1">
                        <a:lnSpc>
                          <a:spcPct val="100000"/>
                        </a:lnSpc>
                        <a:spcBef>
                          <a:spcPts val="0"/>
                        </a:spcBef>
                        <a:spcAft>
                          <a:spcPts val="0"/>
                        </a:spcAft>
                        <a:buClrTx/>
                        <a:buSzTx/>
                        <a:buFontTx/>
                        <a:buNone/>
                        <a:tabLst/>
                        <a:defRPr/>
                      </a:pPr>
                      <a:r>
                        <a:rPr lang="en-GB" sz="900" kern="1200">
                          <a:solidFill>
                            <a:schemeClr val="tx1"/>
                          </a:solidFill>
                          <a:latin typeface="+mn-lt"/>
                          <a:ea typeface="+mn-ea"/>
                          <a:cs typeface="+mn-cs"/>
                        </a:rPr>
                        <a:t>G-VALUE</a:t>
                      </a:r>
                      <a:endParaRPr lang="LID4096" sz="900" kern="120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GB" sz="900" kern="1200" dirty="0">
                          <a:solidFill>
                            <a:schemeClr val="tx1"/>
                          </a:solidFill>
                          <a:latin typeface="+mn-lt"/>
                          <a:ea typeface="+mn-ea"/>
                          <a:cs typeface="+mn-cs"/>
                        </a:rPr>
                        <a:t>0.30</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DF"/>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GB" sz="900" kern="1200" dirty="0">
                          <a:solidFill>
                            <a:schemeClr val="tx1"/>
                          </a:solidFill>
                          <a:latin typeface="+mn-lt"/>
                          <a:ea typeface="+mn-ea"/>
                          <a:cs typeface="+mn-cs"/>
                        </a:rPr>
                        <a:t>0.30</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DF"/>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GB" sz="900" kern="1200" dirty="0">
                          <a:solidFill>
                            <a:schemeClr val="tx1"/>
                          </a:solidFill>
                          <a:latin typeface="+mn-lt"/>
                          <a:ea typeface="+mn-ea"/>
                          <a:cs typeface="+mn-cs"/>
                        </a:rPr>
                        <a:t>0.32</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DF"/>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endParaRPr lang="LID4096" sz="900" i="0">
                        <a:solidFill>
                          <a:schemeClr val="tx2">
                            <a:lumMod val="50000"/>
                            <a:lumOff val="50000"/>
                          </a:schemeClr>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mn-cs"/>
                        </a:rPr>
                        <a:t>≤0.40</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5798733"/>
                  </a:ext>
                </a:extLst>
              </a:tr>
              <a:tr h="365760">
                <a:tc>
                  <a:txBody>
                    <a:bodyPr/>
                    <a:lstStyle/>
                    <a:p>
                      <a:pPr marL="0" marR="0" lvl="0" indent="0" algn="l" defTabSz="640064"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mn-cs"/>
                        </a:rPr>
                        <a:t>LIGHT TRANSMITTANCE (%)</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GB" sz="900" kern="1200" dirty="0">
                          <a:solidFill>
                            <a:schemeClr val="tx1"/>
                          </a:solidFill>
                          <a:latin typeface="+mn-lt"/>
                          <a:ea typeface="+mn-ea"/>
                          <a:cs typeface="+mn-cs"/>
                        </a:rPr>
                        <a:t>62%</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DF"/>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GB" sz="900" kern="1200" dirty="0">
                          <a:solidFill>
                            <a:schemeClr val="tx1"/>
                          </a:solidFill>
                          <a:latin typeface="+mn-lt"/>
                          <a:ea typeface="+mn-ea"/>
                          <a:cs typeface="+mn-cs"/>
                        </a:rPr>
                        <a:t>67%</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DF"/>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GB" sz="900" kern="1200" dirty="0">
                          <a:solidFill>
                            <a:schemeClr val="tx1"/>
                          </a:solidFill>
                          <a:latin typeface="+mn-lt"/>
                          <a:ea typeface="+mn-ea"/>
                          <a:cs typeface="+mn-cs"/>
                        </a:rPr>
                        <a:t>68%</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DF"/>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endParaRPr lang="LID4096" sz="900" i="0">
                        <a:solidFill>
                          <a:schemeClr val="tx2">
                            <a:lumMod val="50000"/>
                            <a:lumOff val="50000"/>
                          </a:schemeClr>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mn-cs"/>
                        </a:rPr>
                        <a:t>≥40%</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1975105"/>
                  </a:ext>
                </a:extLst>
              </a:tr>
              <a:tr h="365760">
                <a:tc>
                  <a:txBody>
                    <a:bodyPr/>
                    <a:lstStyle/>
                    <a:p>
                      <a:pPr marL="0" marR="0" lvl="0" indent="0" algn="l" defTabSz="640064" rtl="0" eaLnBrk="1" fontAlgn="auto" latinLnBrk="0" hangingPunct="1">
                        <a:lnSpc>
                          <a:spcPct val="100000"/>
                        </a:lnSpc>
                        <a:spcBef>
                          <a:spcPts val="0"/>
                        </a:spcBef>
                        <a:spcAft>
                          <a:spcPts val="0"/>
                        </a:spcAft>
                        <a:buClrTx/>
                        <a:buSzTx/>
                        <a:buFontTx/>
                        <a:buNone/>
                        <a:tabLst/>
                        <a:defRPr/>
                      </a:pPr>
                      <a:r>
                        <a:rPr lang="en-GB" sz="900" kern="1200">
                          <a:solidFill>
                            <a:schemeClr val="tx1"/>
                          </a:solidFill>
                          <a:latin typeface="+mn-lt"/>
                          <a:ea typeface="+mn-ea"/>
                          <a:cs typeface="+mn-cs"/>
                        </a:rPr>
                        <a:t>EXTERNAL REFLECTANCE (%)</a:t>
                      </a:r>
                      <a:endParaRPr lang="LID4096" sz="900" kern="120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GB" sz="900" kern="1200" dirty="0">
                          <a:solidFill>
                            <a:schemeClr val="tx1"/>
                          </a:solidFill>
                          <a:latin typeface="+mn-lt"/>
                          <a:ea typeface="+mn-ea"/>
                          <a:cs typeface="+mn-cs"/>
                        </a:rPr>
                        <a:t>12</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DF"/>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mn-cs"/>
                        </a:rPr>
                        <a:t>1</a:t>
                      </a:r>
                      <a:r>
                        <a:rPr lang="en-GB" sz="900" kern="1200" dirty="0">
                          <a:solidFill>
                            <a:schemeClr val="tx1"/>
                          </a:solidFill>
                          <a:latin typeface="+mn-lt"/>
                          <a:ea typeface="+mn-ea"/>
                          <a:cs typeface="+mn-cs"/>
                        </a:rPr>
                        <a:t>0</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DF"/>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GB" sz="900" kern="1200" dirty="0">
                          <a:solidFill>
                            <a:schemeClr val="tx1"/>
                          </a:solidFill>
                          <a:latin typeface="+mn-lt"/>
                          <a:ea typeface="+mn-ea"/>
                          <a:cs typeface="+mn-cs"/>
                        </a:rPr>
                        <a:t>14</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1DF"/>
                    </a:solid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endParaRPr lang="LID4096" sz="900" i="0">
                        <a:solidFill>
                          <a:schemeClr val="tx2">
                            <a:lumMod val="50000"/>
                            <a:lumOff val="50000"/>
                          </a:schemeClr>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40064" rtl="0" eaLnBrk="1" fontAlgn="auto" latinLnBrk="0" hangingPunct="1">
                        <a:lnSpc>
                          <a:spcPct val="100000"/>
                        </a:lnSpc>
                        <a:spcBef>
                          <a:spcPts val="0"/>
                        </a:spcBef>
                        <a:spcAft>
                          <a:spcPts val="0"/>
                        </a:spcAft>
                        <a:buClrTx/>
                        <a:buSzTx/>
                        <a:buFontTx/>
                        <a:buNone/>
                        <a:tabLst/>
                        <a:defRPr/>
                      </a:pPr>
                      <a:r>
                        <a:rPr lang="en-GB" sz="900" kern="1200" dirty="0">
                          <a:solidFill>
                            <a:schemeClr val="tx1"/>
                          </a:solidFill>
                          <a:latin typeface="+mn-lt"/>
                          <a:ea typeface="+mn-ea"/>
                          <a:cs typeface="+mn-cs"/>
                        </a:rPr>
                        <a:t>-</a:t>
                      </a:r>
                      <a:endParaRPr lang="LID4096" sz="900" kern="1200" dirty="0">
                        <a:solidFill>
                          <a:schemeClr val="tx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3408438"/>
                  </a:ext>
                </a:extLst>
              </a:tr>
            </a:tbl>
          </a:graphicData>
        </a:graphic>
      </p:graphicFrame>
      <p:pic>
        <p:nvPicPr>
          <p:cNvPr id="8" name="Picture 7" descr="A group of framed pictures&#10;&#10;AI-generated content may be incorrect.">
            <a:extLst>
              <a:ext uri="{FF2B5EF4-FFF2-40B4-BE49-F238E27FC236}">
                <a16:creationId xmlns:a16="http://schemas.microsoft.com/office/drawing/2014/main" id="{61330292-2323-30B3-7817-B4CA42A05DB9}"/>
              </a:ext>
            </a:extLst>
          </p:cNvPr>
          <p:cNvPicPr>
            <a:picLocks noChangeAspect="1"/>
          </p:cNvPicPr>
          <p:nvPr/>
        </p:nvPicPr>
        <p:blipFill>
          <a:blip r:embed="rId2"/>
          <a:srcRect l="7137" t="9272" r="64315" b="2837"/>
          <a:stretch/>
        </p:blipFill>
        <p:spPr>
          <a:xfrm>
            <a:off x="7064843" y="2064107"/>
            <a:ext cx="864096" cy="1498144"/>
          </a:xfrm>
          <a:prstGeom prst="rect">
            <a:avLst/>
          </a:prstGeom>
        </p:spPr>
      </p:pic>
      <p:pic>
        <p:nvPicPr>
          <p:cNvPr id="10" name="Picture 9" descr="A group of framed pictures&#10;&#10;AI-generated content may be incorrect.">
            <a:extLst>
              <a:ext uri="{FF2B5EF4-FFF2-40B4-BE49-F238E27FC236}">
                <a16:creationId xmlns:a16="http://schemas.microsoft.com/office/drawing/2014/main" id="{3DCB139D-D25B-478F-5BB2-55CB9DF222C3}"/>
              </a:ext>
            </a:extLst>
          </p:cNvPr>
          <p:cNvPicPr>
            <a:picLocks noChangeAspect="1"/>
          </p:cNvPicPr>
          <p:nvPr/>
        </p:nvPicPr>
        <p:blipFill>
          <a:blip r:embed="rId2"/>
          <a:srcRect l="35685" t="9272" r="38146" b="2837"/>
          <a:stretch/>
        </p:blipFill>
        <p:spPr>
          <a:xfrm>
            <a:off x="5724094" y="2064107"/>
            <a:ext cx="792088" cy="1498144"/>
          </a:xfrm>
          <a:prstGeom prst="rect">
            <a:avLst/>
          </a:prstGeom>
        </p:spPr>
      </p:pic>
      <p:pic>
        <p:nvPicPr>
          <p:cNvPr id="12" name="Picture 11" descr="A group of framed pictures&#10;&#10;AI-generated content may be incorrect.">
            <a:extLst>
              <a:ext uri="{FF2B5EF4-FFF2-40B4-BE49-F238E27FC236}">
                <a16:creationId xmlns:a16="http://schemas.microsoft.com/office/drawing/2014/main" id="{C3053A4E-2A33-99FF-7744-76AD7D71D6EF}"/>
              </a:ext>
            </a:extLst>
          </p:cNvPr>
          <p:cNvPicPr>
            <a:picLocks noChangeAspect="1"/>
          </p:cNvPicPr>
          <p:nvPr/>
        </p:nvPicPr>
        <p:blipFill>
          <a:blip r:embed="rId2"/>
          <a:srcRect l="61854" t="9272" r="9598" b="2837"/>
          <a:stretch/>
        </p:blipFill>
        <p:spPr>
          <a:xfrm>
            <a:off x="4343084" y="2064107"/>
            <a:ext cx="864096" cy="1498144"/>
          </a:xfrm>
          <a:prstGeom prst="rect">
            <a:avLst/>
          </a:prstGeom>
        </p:spPr>
      </p:pic>
      <p:sp>
        <p:nvSpPr>
          <p:cNvPr id="17" name="Text Placeholder 3">
            <a:extLst>
              <a:ext uri="{FF2B5EF4-FFF2-40B4-BE49-F238E27FC236}">
                <a16:creationId xmlns:a16="http://schemas.microsoft.com/office/drawing/2014/main" id="{7F0AC75D-62A3-2A4E-803D-CFEC10963EB3}"/>
              </a:ext>
            </a:extLst>
          </p:cNvPr>
          <p:cNvSpPr txBox="1">
            <a:spLocks/>
          </p:cNvSpPr>
          <p:nvPr/>
        </p:nvSpPr>
        <p:spPr>
          <a:xfrm>
            <a:off x="1631504" y="6404378"/>
            <a:ext cx="9001000" cy="246221"/>
          </a:xfrm>
          <a:prstGeom prst="rect">
            <a:avLst/>
          </a:prstGeom>
          <a:noFill/>
          <a:ln w="9525">
            <a:noFill/>
            <a:miter lim="800000"/>
            <a:headEnd/>
            <a:tailEnd/>
          </a:ln>
          <a:effectLst/>
        </p:spPr>
        <p:txBody>
          <a:bodyPr wrap="square" lIns="0" rtlCol="0">
            <a:spAutoFit/>
          </a:bodyPr>
          <a:lstStyle>
            <a:defPPr>
              <a:defRPr lang="en-US"/>
            </a:defPPr>
            <a:lvl1pPr>
              <a:spcBef>
                <a:spcPct val="50000"/>
              </a:spcBef>
              <a:defRPr sz="1000" i="1">
                <a:solidFill>
                  <a:srgbClr val="595959"/>
                </a:solidFill>
                <a:latin typeface="Arial"/>
                <a:cs typeface="Arial"/>
              </a:defRPr>
            </a:lvl1pPr>
            <a:lvl2pPr marL="7429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2pPr>
            <a:lvl3pPr marL="12001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3pPr>
            <a:lvl4pPr marL="16573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4pPr>
            <a:lvl5pPr indent="0" eaLnBrk="1" hangingPunct="1">
              <a:spcBef>
                <a:spcPct val="20000"/>
              </a:spcBef>
              <a:buNone/>
              <a:defRPr sz="1400">
                <a:solidFill>
                  <a:srgbClr val="56626F"/>
                </a:solidFill>
                <a:latin typeface="Arial" panose="020B0604020202020204" pitchFamily="34" charset="0"/>
                <a:ea typeface="ＭＳ Ｐゴシック" pitchFamily="-105" charset="-128"/>
                <a:cs typeface="Arial" panose="020B0604020202020204" pitchFamily="34" charset="0"/>
              </a:defRPr>
            </a:lvl5pPr>
            <a:lvl6pPr marL="2514600" indent="-228600" fontAlgn="base">
              <a:spcBef>
                <a:spcPct val="20000"/>
              </a:spcBef>
              <a:spcAft>
                <a:spcPct val="0"/>
              </a:spcAft>
              <a:buChar char="»"/>
              <a:defRPr sz="2000">
                <a:latin typeface="+mn-lt"/>
                <a:ea typeface="ＭＳ Ｐゴシック" pitchFamily="-105" charset="-128"/>
              </a:defRPr>
            </a:lvl6pPr>
            <a:lvl7pPr marL="2971800" indent="-228600" fontAlgn="base">
              <a:spcBef>
                <a:spcPct val="20000"/>
              </a:spcBef>
              <a:spcAft>
                <a:spcPct val="0"/>
              </a:spcAft>
              <a:buChar char="»"/>
              <a:defRPr sz="2000">
                <a:latin typeface="+mn-lt"/>
                <a:ea typeface="ＭＳ Ｐゴシック" pitchFamily="-105" charset="-128"/>
              </a:defRPr>
            </a:lvl7pPr>
            <a:lvl8pPr marL="3429000" indent="-228600" fontAlgn="base">
              <a:spcBef>
                <a:spcPct val="20000"/>
              </a:spcBef>
              <a:spcAft>
                <a:spcPct val="0"/>
              </a:spcAft>
              <a:buChar char="»"/>
              <a:defRPr sz="2000">
                <a:latin typeface="+mn-lt"/>
                <a:ea typeface="ＭＳ Ｐゴシック" pitchFamily="-105" charset="-128"/>
              </a:defRPr>
            </a:lvl8pPr>
            <a:lvl9pPr marL="3886200" indent="-228600" fontAlgn="base">
              <a:spcBef>
                <a:spcPct val="20000"/>
              </a:spcBef>
              <a:spcAft>
                <a:spcPct val="0"/>
              </a:spcAft>
              <a:buChar char="»"/>
              <a:defRPr sz="2000">
                <a:latin typeface="+mn-lt"/>
                <a:ea typeface="ＭＳ Ｐゴシック" pitchFamily="-105" charset="-128"/>
              </a:defRPr>
            </a:lvl9pPr>
          </a:lstStyle>
          <a:p>
            <a:r>
              <a:rPr lang="en-GB" dirty="0"/>
              <a:t>* - Saint-Gobain’s configurator does not allow modelling 3 ply build-ups, performance changes would be minimal due to this. </a:t>
            </a:r>
          </a:p>
        </p:txBody>
      </p:sp>
      <p:sp>
        <p:nvSpPr>
          <p:cNvPr id="21" name="Text Placeholder 3">
            <a:extLst>
              <a:ext uri="{FF2B5EF4-FFF2-40B4-BE49-F238E27FC236}">
                <a16:creationId xmlns:a16="http://schemas.microsoft.com/office/drawing/2014/main" id="{87F34488-34D3-80EE-DA6F-D98A88961830}"/>
              </a:ext>
            </a:extLst>
          </p:cNvPr>
          <p:cNvSpPr txBox="1">
            <a:spLocks/>
          </p:cNvSpPr>
          <p:nvPr/>
        </p:nvSpPr>
        <p:spPr>
          <a:xfrm>
            <a:off x="4064275" y="2805142"/>
            <a:ext cx="1421713" cy="261610"/>
          </a:xfrm>
          <a:prstGeom prst="rect">
            <a:avLst/>
          </a:prstGeom>
        </p:spPr>
        <p:txBody>
          <a:bodyPr wrap="square" lIns="0">
            <a:spAutoFit/>
          </a:bodyPr>
          <a:lstStyle>
            <a:defPPr>
              <a:defRPr lang="en-US"/>
            </a:defPPr>
            <a:lvl1pPr marL="0" indent="0" eaLnBrk="1" hangingPunct="1">
              <a:spcBef>
                <a:spcPct val="20000"/>
              </a:spcBef>
              <a:buFont typeface="Arial" panose="020B0604020202020204" pitchFamily="34" charset="0"/>
              <a:buNone/>
              <a:defRPr sz="1100" i="1" kern="0">
                <a:solidFill>
                  <a:srgbClr val="56626F"/>
                </a:solidFill>
                <a:highlight>
                  <a:srgbClr val="FFFF00"/>
                </a:highlight>
                <a:latin typeface="Arial" panose="020B0604020202020204" pitchFamily="34" charset="0"/>
                <a:cs typeface="Arial" panose="020B0604020202020204" pitchFamily="34" charset="0"/>
              </a:defRPr>
            </a:lvl1pPr>
            <a:lvl2pPr marL="7429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2pPr>
            <a:lvl3pPr marL="12001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3pPr>
            <a:lvl4pPr marL="16573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4pPr>
            <a:lvl5pPr indent="0" eaLnBrk="1" hangingPunct="1">
              <a:spcBef>
                <a:spcPct val="20000"/>
              </a:spcBef>
              <a:buNone/>
              <a:defRPr sz="1400">
                <a:solidFill>
                  <a:srgbClr val="56626F"/>
                </a:solidFill>
                <a:latin typeface="Arial" panose="020B0604020202020204" pitchFamily="34" charset="0"/>
                <a:ea typeface="ＭＳ Ｐゴシック" pitchFamily="-105" charset="-128"/>
                <a:cs typeface="Arial" panose="020B0604020202020204" pitchFamily="34" charset="0"/>
              </a:defRPr>
            </a:lvl5pPr>
            <a:lvl6pPr marL="2514600" indent="-228600" fontAlgn="base">
              <a:spcBef>
                <a:spcPct val="20000"/>
              </a:spcBef>
              <a:spcAft>
                <a:spcPct val="0"/>
              </a:spcAft>
              <a:buChar char="»"/>
              <a:defRPr sz="2000">
                <a:latin typeface="+mn-lt"/>
                <a:ea typeface="ＭＳ Ｐゴシック" pitchFamily="-105" charset="-128"/>
              </a:defRPr>
            </a:lvl6pPr>
            <a:lvl7pPr marL="2971800" indent="-228600" fontAlgn="base">
              <a:spcBef>
                <a:spcPct val="20000"/>
              </a:spcBef>
              <a:spcAft>
                <a:spcPct val="0"/>
              </a:spcAft>
              <a:buChar char="»"/>
              <a:defRPr sz="2000">
                <a:latin typeface="+mn-lt"/>
                <a:ea typeface="ＭＳ Ｐゴシック" pitchFamily="-105" charset="-128"/>
              </a:defRPr>
            </a:lvl7pPr>
            <a:lvl8pPr marL="3429000" indent="-228600" fontAlgn="base">
              <a:spcBef>
                <a:spcPct val="20000"/>
              </a:spcBef>
              <a:spcAft>
                <a:spcPct val="0"/>
              </a:spcAft>
              <a:buChar char="»"/>
              <a:defRPr sz="2000">
                <a:latin typeface="+mn-lt"/>
                <a:ea typeface="ＭＳ Ｐゴシック" pitchFamily="-105" charset="-128"/>
              </a:defRPr>
            </a:lvl8pPr>
            <a:lvl9pPr marL="3886200" indent="-228600" fontAlgn="base">
              <a:spcBef>
                <a:spcPct val="20000"/>
              </a:spcBef>
              <a:spcAft>
                <a:spcPct val="0"/>
              </a:spcAft>
              <a:buChar char="»"/>
              <a:defRPr sz="2000">
                <a:latin typeface="+mn-lt"/>
                <a:ea typeface="ＭＳ Ｐゴシック" pitchFamily="-105" charset="-128"/>
              </a:defRPr>
            </a:lvl9pPr>
          </a:lstStyle>
          <a:p>
            <a:pPr algn="ctr"/>
            <a:r>
              <a:rPr lang="en-GB" dirty="0"/>
              <a:t>Place holder</a:t>
            </a:r>
          </a:p>
        </p:txBody>
      </p:sp>
      <p:sp>
        <p:nvSpPr>
          <p:cNvPr id="22" name="Text Placeholder 3">
            <a:extLst>
              <a:ext uri="{FF2B5EF4-FFF2-40B4-BE49-F238E27FC236}">
                <a16:creationId xmlns:a16="http://schemas.microsoft.com/office/drawing/2014/main" id="{B4F30984-4DF5-4D38-6E0F-12EE82EF485A}"/>
              </a:ext>
            </a:extLst>
          </p:cNvPr>
          <p:cNvSpPr txBox="1">
            <a:spLocks/>
          </p:cNvSpPr>
          <p:nvPr/>
        </p:nvSpPr>
        <p:spPr>
          <a:xfrm>
            <a:off x="5439394" y="2805142"/>
            <a:ext cx="1421713" cy="261610"/>
          </a:xfrm>
          <a:prstGeom prst="rect">
            <a:avLst/>
          </a:prstGeom>
        </p:spPr>
        <p:txBody>
          <a:bodyPr wrap="square" lIns="0">
            <a:spAutoFit/>
          </a:bodyPr>
          <a:lstStyle>
            <a:defPPr>
              <a:defRPr lang="en-US"/>
            </a:defPPr>
            <a:lvl1pPr marL="0" indent="0" eaLnBrk="1" hangingPunct="1">
              <a:spcBef>
                <a:spcPct val="20000"/>
              </a:spcBef>
              <a:buFont typeface="Arial" panose="020B0604020202020204" pitchFamily="34" charset="0"/>
              <a:buNone/>
              <a:defRPr sz="1100" i="1" kern="0">
                <a:solidFill>
                  <a:srgbClr val="56626F"/>
                </a:solidFill>
                <a:highlight>
                  <a:srgbClr val="FFFF00"/>
                </a:highlight>
                <a:latin typeface="Arial" panose="020B0604020202020204" pitchFamily="34" charset="0"/>
                <a:cs typeface="Arial" panose="020B0604020202020204" pitchFamily="34" charset="0"/>
              </a:defRPr>
            </a:lvl1pPr>
            <a:lvl2pPr marL="7429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2pPr>
            <a:lvl3pPr marL="12001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3pPr>
            <a:lvl4pPr marL="16573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4pPr>
            <a:lvl5pPr indent="0" eaLnBrk="1" hangingPunct="1">
              <a:spcBef>
                <a:spcPct val="20000"/>
              </a:spcBef>
              <a:buNone/>
              <a:defRPr sz="1400">
                <a:solidFill>
                  <a:srgbClr val="56626F"/>
                </a:solidFill>
                <a:latin typeface="Arial" panose="020B0604020202020204" pitchFamily="34" charset="0"/>
                <a:ea typeface="ＭＳ Ｐゴシック" pitchFamily="-105" charset="-128"/>
                <a:cs typeface="Arial" panose="020B0604020202020204" pitchFamily="34" charset="0"/>
              </a:defRPr>
            </a:lvl5pPr>
            <a:lvl6pPr marL="2514600" indent="-228600" fontAlgn="base">
              <a:spcBef>
                <a:spcPct val="20000"/>
              </a:spcBef>
              <a:spcAft>
                <a:spcPct val="0"/>
              </a:spcAft>
              <a:buChar char="»"/>
              <a:defRPr sz="2000">
                <a:latin typeface="+mn-lt"/>
                <a:ea typeface="ＭＳ Ｐゴシック" pitchFamily="-105" charset="-128"/>
              </a:defRPr>
            </a:lvl6pPr>
            <a:lvl7pPr marL="2971800" indent="-228600" fontAlgn="base">
              <a:spcBef>
                <a:spcPct val="20000"/>
              </a:spcBef>
              <a:spcAft>
                <a:spcPct val="0"/>
              </a:spcAft>
              <a:buChar char="»"/>
              <a:defRPr sz="2000">
                <a:latin typeface="+mn-lt"/>
                <a:ea typeface="ＭＳ Ｐゴシック" pitchFamily="-105" charset="-128"/>
              </a:defRPr>
            </a:lvl7pPr>
            <a:lvl8pPr marL="3429000" indent="-228600" fontAlgn="base">
              <a:spcBef>
                <a:spcPct val="20000"/>
              </a:spcBef>
              <a:spcAft>
                <a:spcPct val="0"/>
              </a:spcAft>
              <a:buChar char="»"/>
              <a:defRPr sz="2000">
                <a:latin typeface="+mn-lt"/>
                <a:ea typeface="ＭＳ Ｐゴシック" pitchFamily="-105" charset="-128"/>
              </a:defRPr>
            </a:lvl8pPr>
            <a:lvl9pPr marL="3886200" indent="-228600" fontAlgn="base">
              <a:spcBef>
                <a:spcPct val="20000"/>
              </a:spcBef>
              <a:spcAft>
                <a:spcPct val="0"/>
              </a:spcAft>
              <a:buChar char="»"/>
              <a:defRPr sz="2000">
                <a:latin typeface="+mn-lt"/>
                <a:ea typeface="ＭＳ Ｐゴシック" pitchFamily="-105" charset="-128"/>
              </a:defRPr>
            </a:lvl9pPr>
          </a:lstStyle>
          <a:p>
            <a:pPr algn="ctr"/>
            <a:r>
              <a:rPr lang="en-GB" dirty="0"/>
              <a:t>Place holder</a:t>
            </a:r>
          </a:p>
        </p:txBody>
      </p:sp>
      <p:sp>
        <p:nvSpPr>
          <p:cNvPr id="23" name="Text Placeholder 3">
            <a:extLst>
              <a:ext uri="{FF2B5EF4-FFF2-40B4-BE49-F238E27FC236}">
                <a16:creationId xmlns:a16="http://schemas.microsoft.com/office/drawing/2014/main" id="{0131CFB0-7F6E-0FD8-C955-B2B5FD38FC36}"/>
              </a:ext>
            </a:extLst>
          </p:cNvPr>
          <p:cNvSpPr txBox="1">
            <a:spLocks/>
          </p:cNvSpPr>
          <p:nvPr/>
        </p:nvSpPr>
        <p:spPr>
          <a:xfrm>
            <a:off x="6900404" y="2805142"/>
            <a:ext cx="1421713" cy="261610"/>
          </a:xfrm>
          <a:prstGeom prst="rect">
            <a:avLst/>
          </a:prstGeom>
        </p:spPr>
        <p:txBody>
          <a:bodyPr wrap="square" lIns="0">
            <a:spAutoFit/>
          </a:bodyPr>
          <a:lstStyle>
            <a:defPPr>
              <a:defRPr lang="en-US"/>
            </a:defPPr>
            <a:lvl1pPr marL="0" indent="0" eaLnBrk="1" hangingPunct="1">
              <a:spcBef>
                <a:spcPct val="20000"/>
              </a:spcBef>
              <a:buFont typeface="Arial" panose="020B0604020202020204" pitchFamily="34" charset="0"/>
              <a:buNone/>
              <a:defRPr sz="1100" i="1" kern="0">
                <a:solidFill>
                  <a:srgbClr val="56626F"/>
                </a:solidFill>
                <a:highlight>
                  <a:srgbClr val="FFFF00"/>
                </a:highlight>
                <a:latin typeface="Arial" panose="020B0604020202020204" pitchFamily="34" charset="0"/>
                <a:cs typeface="Arial" panose="020B0604020202020204" pitchFamily="34" charset="0"/>
              </a:defRPr>
            </a:lvl1pPr>
            <a:lvl2pPr marL="7429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2pPr>
            <a:lvl3pPr marL="12001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3pPr>
            <a:lvl4pPr marL="16573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4pPr>
            <a:lvl5pPr indent="0" eaLnBrk="1" hangingPunct="1">
              <a:spcBef>
                <a:spcPct val="20000"/>
              </a:spcBef>
              <a:buNone/>
              <a:defRPr sz="1400">
                <a:solidFill>
                  <a:srgbClr val="56626F"/>
                </a:solidFill>
                <a:latin typeface="Arial" panose="020B0604020202020204" pitchFamily="34" charset="0"/>
                <a:ea typeface="ＭＳ Ｐゴシック" pitchFamily="-105" charset="-128"/>
                <a:cs typeface="Arial" panose="020B0604020202020204" pitchFamily="34" charset="0"/>
              </a:defRPr>
            </a:lvl5pPr>
            <a:lvl6pPr marL="2514600" indent="-228600" fontAlgn="base">
              <a:spcBef>
                <a:spcPct val="20000"/>
              </a:spcBef>
              <a:spcAft>
                <a:spcPct val="0"/>
              </a:spcAft>
              <a:buChar char="»"/>
              <a:defRPr sz="2000">
                <a:latin typeface="+mn-lt"/>
                <a:ea typeface="ＭＳ Ｐゴシック" pitchFamily="-105" charset="-128"/>
              </a:defRPr>
            </a:lvl6pPr>
            <a:lvl7pPr marL="2971800" indent="-228600" fontAlgn="base">
              <a:spcBef>
                <a:spcPct val="20000"/>
              </a:spcBef>
              <a:spcAft>
                <a:spcPct val="0"/>
              </a:spcAft>
              <a:buChar char="»"/>
              <a:defRPr sz="2000">
                <a:latin typeface="+mn-lt"/>
                <a:ea typeface="ＭＳ Ｐゴシック" pitchFamily="-105" charset="-128"/>
              </a:defRPr>
            </a:lvl7pPr>
            <a:lvl8pPr marL="3429000" indent="-228600" fontAlgn="base">
              <a:spcBef>
                <a:spcPct val="20000"/>
              </a:spcBef>
              <a:spcAft>
                <a:spcPct val="0"/>
              </a:spcAft>
              <a:buChar char="»"/>
              <a:defRPr sz="2000">
                <a:latin typeface="+mn-lt"/>
                <a:ea typeface="ＭＳ Ｐゴシック" pitchFamily="-105" charset="-128"/>
              </a:defRPr>
            </a:lvl8pPr>
            <a:lvl9pPr marL="3886200" indent="-228600" fontAlgn="base">
              <a:spcBef>
                <a:spcPct val="20000"/>
              </a:spcBef>
              <a:spcAft>
                <a:spcPct val="0"/>
              </a:spcAft>
              <a:buChar char="»"/>
              <a:defRPr sz="2000">
                <a:latin typeface="+mn-lt"/>
                <a:ea typeface="ＭＳ Ｐゴシック" pitchFamily="-105" charset="-128"/>
              </a:defRPr>
            </a:lvl9pPr>
          </a:lstStyle>
          <a:p>
            <a:pPr algn="ctr"/>
            <a:r>
              <a:rPr lang="en-GB" dirty="0"/>
              <a:t>Place holder</a:t>
            </a:r>
          </a:p>
        </p:txBody>
      </p:sp>
    </p:spTree>
    <p:extLst>
      <p:ext uri="{BB962C8B-B14F-4D97-AF65-F5344CB8AC3E}">
        <p14:creationId xmlns:p14="http://schemas.microsoft.com/office/powerpoint/2010/main" val="24978482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434C4-9A5C-EF4E-6C41-CDEBE2D73378}"/>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3821F3E9-4314-F48D-EF6F-205A4326C891}"/>
              </a:ext>
            </a:extLst>
          </p:cNvPr>
          <p:cNvPicPr>
            <a:picLocks noChangeAspect="1"/>
          </p:cNvPicPr>
          <p:nvPr/>
        </p:nvPicPr>
        <p:blipFill>
          <a:blip r:embed="rId2"/>
          <a:srcRect/>
          <a:stretch/>
        </p:blipFill>
        <p:spPr>
          <a:xfrm>
            <a:off x="361950" y="2125840"/>
            <a:ext cx="5016002" cy="3342695"/>
          </a:xfrm>
          <a:prstGeom prst="rect">
            <a:avLst/>
          </a:prstGeom>
        </p:spPr>
      </p:pic>
      <p:sp>
        <p:nvSpPr>
          <p:cNvPr id="3" name="Text Placeholder 2">
            <a:extLst>
              <a:ext uri="{FF2B5EF4-FFF2-40B4-BE49-F238E27FC236}">
                <a16:creationId xmlns:a16="http://schemas.microsoft.com/office/drawing/2014/main" id="{26D3FCB5-8FDD-C2E7-E2A6-12BD138DEFEA}"/>
              </a:ext>
            </a:extLst>
          </p:cNvPr>
          <p:cNvSpPr>
            <a:spLocks noGrp="1"/>
          </p:cNvSpPr>
          <p:nvPr>
            <p:ph type="body" sz="quarter" idx="10"/>
          </p:nvPr>
        </p:nvSpPr>
        <p:spPr>
          <a:xfrm>
            <a:off x="335360" y="260648"/>
            <a:ext cx="11521279" cy="553998"/>
          </a:xfrm>
        </p:spPr>
        <p:txBody>
          <a:bodyPr/>
          <a:lstStyle/>
          <a:p>
            <a:r>
              <a:rPr lang="en-US" dirty="0"/>
              <a:t>Project specific buildup </a:t>
            </a:r>
            <a:endParaRPr lang="en-GB" dirty="0"/>
          </a:p>
        </p:txBody>
      </p:sp>
      <p:sp>
        <p:nvSpPr>
          <p:cNvPr id="4" name="Text Placeholder 3">
            <a:extLst>
              <a:ext uri="{FF2B5EF4-FFF2-40B4-BE49-F238E27FC236}">
                <a16:creationId xmlns:a16="http://schemas.microsoft.com/office/drawing/2014/main" id="{9EFF0790-059E-4C48-E922-74E814771A5E}"/>
              </a:ext>
            </a:extLst>
          </p:cNvPr>
          <p:cNvSpPr>
            <a:spLocks noGrp="1"/>
          </p:cNvSpPr>
          <p:nvPr>
            <p:ph type="body" sz="quarter" idx="15"/>
          </p:nvPr>
        </p:nvSpPr>
        <p:spPr>
          <a:xfrm>
            <a:off x="335360" y="897755"/>
            <a:ext cx="5645714" cy="307777"/>
          </a:xfrm>
        </p:spPr>
        <p:txBody>
          <a:bodyPr/>
          <a:lstStyle/>
          <a:p>
            <a:r>
              <a:rPr lang="en-US" b="1" dirty="0"/>
              <a:t>Guardian</a:t>
            </a:r>
            <a:r>
              <a:rPr lang="en-US" dirty="0"/>
              <a:t> </a:t>
            </a:r>
            <a:r>
              <a:rPr lang="en-GB" dirty="0"/>
              <a:t>SN 70/35</a:t>
            </a:r>
          </a:p>
        </p:txBody>
      </p:sp>
      <p:sp>
        <p:nvSpPr>
          <p:cNvPr id="8" name="TextBox 7">
            <a:extLst>
              <a:ext uri="{FF2B5EF4-FFF2-40B4-BE49-F238E27FC236}">
                <a16:creationId xmlns:a16="http://schemas.microsoft.com/office/drawing/2014/main" id="{73B94F90-F531-CE69-3009-F61FEA7E8D23}"/>
              </a:ext>
            </a:extLst>
          </p:cNvPr>
          <p:cNvSpPr txBox="1"/>
          <p:nvPr/>
        </p:nvSpPr>
        <p:spPr bwMode="auto">
          <a:xfrm>
            <a:off x="335360" y="1239697"/>
            <a:ext cx="6097508" cy="646331"/>
          </a:xfrm>
          <a:prstGeom prst="rect">
            <a:avLst/>
          </a:prstGeom>
          <a:noFill/>
          <a:ln w="9525">
            <a:noFill/>
            <a:miter lim="800000"/>
            <a:headEnd/>
            <a:tailEnd/>
          </a:ln>
          <a:effectLst/>
        </p:spPr>
        <p:txBody>
          <a:bodyPr wrap="square">
            <a:spAutoFit/>
          </a:bodyPr>
          <a:lstStyle/>
          <a:p>
            <a:r>
              <a:rPr lang="en-GB" sz="1200" dirty="0"/>
              <a:t>Glass manufacturer: Guardian</a:t>
            </a:r>
          </a:p>
          <a:p>
            <a:r>
              <a:rPr lang="en-GB" sz="1200" dirty="0"/>
              <a:t>LT: 62%</a:t>
            </a:r>
          </a:p>
          <a:p>
            <a:r>
              <a:rPr lang="en-GB" sz="1200" dirty="0"/>
              <a:t>SHGC: 0.30 </a:t>
            </a:r>
          </a:p>
        </p:txBody>
      </p:sp>
      <p:sp>
        <p:nvSpPr>
          <p:cNvPr id="9" name="Text Placeholder 3">
            <a:extLst>
              <a:ext uri="{FF2B5EF4-FFF2-40B4-BE49-F238E27FC236}">
                <a16:creationId xmlns:a16="http://schemas.microsoft.com/office/drawing/2014/main" id="{8701510A-522C-FA06-6884-C0CDBE7526FD}"/>
              </a:ext>
            </a:extLst>
          </p:cNvPr>
          <p:cNvSpPr txBox="1">
            <a:spLocks/>
          </p:cNvSpPr>
          <p:nvPr/>
        </p:nvSpPr>
        <p:spPr>
          <a:xfrm>
            <a:off x="353807" y="5778927"/>
            <a:ext cx="5645714" cy="261610"/>
          </a:xfrm>
          <a:prstGeom prst="rect">
            <a:avLst/>
          </a:prstGeom>
        </p:spPr>
        <p:txBody>
          <a:bodyPr lIns="0">
            <a:spAutoFit/>
          </a:bodyPr>
          <a:lstStyle>
            <a:defPPr>
              <a:defRPr lang="en-US"/>
            </a:defPPr>
            <a:lvl1pPr marL="0" indent="0" eaLnBrk="1" hangingPunct="1">
              <a:spcBef>
                <a:spcPct val="20000"/>
              </a:spcBef>
              <a:buFont typeface="Arial" panose="020B0604020202020204" pitchFamily="34" charset="0"/>
              <a:buNone/>
              <a:defRPr sz="1100" i="1" kern="0">
                <a:solidFill>
                  <a:srgbClr val="56626F"/>
                </a:solidFill>
                <a:latin typeface="Arial" panose="020B0604020202020204" pitchFamily="34" charset="0"/>
                <a:cs typeface="Arial" panose="020B0604020202020204" pitchFamily="34" charset="0"/>
              </a:defRPr>
            </a:lvl1pPr>
            <a:lvl2pPr marL="7429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2pPr>
            <a:lvl3pPr marL="12001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3pPr>
            <a:lvl4pPr marL="16573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4pPr>
            <a:lvl5pPr indent="0" eaLnBrk="1" hangingPunct="1">
              <a:spcBef>
                <a:spcPct val="20000"/>
              </a:spcBef>
              <a:buNone/>
              <a:defRPr sz="1400">
                <a:solidFill>
                  <a:srgbClr val="56626F"/>
                </a:solidFill>
                <a:latin typeface="Arial" panose="020B0604020202020204" pitchFamily="34" charset="0"/>
                <a:ea typeface="ＭＳ Ｐゴシック" pitchFamily="-105" charset="-128"/>
                <a:cs typeface="Arial" panose="020B0604020202020204" pitchFamily="34" charset="0"/>
              </a:defRPr>
            </a:lvl5pPr>
            <a:lvl6pPr marL="2514600" indent="-228600" fontAlgn="base">
              <a:spcBef>
                <a:spcPct val="20000"/>
              </a:spcBef>
              <a:spcAft>
                <a:spcPct val="0"/>
              </a:spcAft>
              <a:buChar char="»"/>
              <a:defRPr sz="2000">
                <a:latin typeface="+mn-lt"/>
                <a:ea typeface="ＭＳ Ｐゴシック" pitchFamily="-105" charset="-128"/>
              </a:defRPr>
            </a:lvl6pPr>
            <a:lvl7pPr marL="2971800" indent="-228600" fontAlgn="base">
              <a:spcBef>
                <a:spcPct val="20000"/>
              </a:spcBef>
              <a:spcAft>
                <a:spcPct val="0"/>
              </a:spcAft>
              <a:buChar char="»"/>
              <a:defRPr sz="2000">
                <a:latin typeface="+mn-lt"/>
                <a:ea typeface="ＭＳ Ｐゴシック" pitchFamily="-105" charset="-128"/>
              </a:defRPr>
            </a:lvl7pPr>
            <a:lvl8pPr marL="3429000" indent="-228600" fontAlgn="base">
              <a:spcBef>
                <a:spcPct val="20000"/>
              </a:spcBef>
              <a:spcAft>
                <a:spcPct val="0"/>
              </a:spcAft>
              <a:buChar char="»"/>
              <a:defRPr sz="2000">
                <a:latin typeface="+mn-lt"/>
                <a:ea typeface="ＭＳ Ｐゴシック" pitchFamily="-105" charset="-128"/>
              </a:defRPr>
            </a:lvl8pPr>
            <a:lvl9pPr marL="3886200" indent="-228600" fontAlgn="base">
              <a:spcBef>
                <a:spcPct val="20000"/>
              </a:spcBef>
              <a:spcAft>
                <a:spcPct val="0"/>
              </a:spcAft>
              <a:buChar char="»"/>
              <a:defRPr sz="2000">
                <a:latin typeface="+mn-lt"/>
                <a:ea typeface="ＭＳ Ｐゴシック" pitchFamily="-105" charset="-128"/>
              </a:defRPr>
            </a:lvl9pPr>
          </a:lstStyle>
          <a:p>
            <a:r>
              <a:rPr lang="en-GB" dirty="0" err="1"/>
              <a:t>Aerodrom</a:t>
            </a:r>
            <a:r>
              <a:rPr lang="en-GB" dirty="0"/>
              <a:t> Split, Croatia</a:t>
            </a:r>
          </a:p>
        </p:txBody>
      </p:sp>
      <p:pic>
        <p:nvPicPr>
          <p:cNvPr id="6" name="Picture 5">
            <a:extLst>
              <a:ext uri="{FF2B5EF4-FFF2-40B4-BE49-F238E27FC236}">
                <a16:creationId xmlns:a16="http://schemas.microsoft.com/office/drawing/2014/main" id="{2D849FD3-D2B1-F012-E5C4-CE265D709AD6}"/>
              </a:ext>
            </a:extLst>
          </p:cNvPr>
          <p:cNvPicPr>
            <a:picLocks noChangeAspect="1"/>
          </p:cNvPicPr>
          <p:nvPr/>
        </p:nvPicPr>
        <p:blipFill>
          <a:blip r:embed="rId3"/>
          <a:srcRect b="34935"/>
          <a:stretch>
            <a:fillRect/>
          </a:stretch>
        </p:blipFill>
        <p:spPr>
          <a:xfrm>
            <a:off x="5519935" y="2007511"/>
            <a:ext cx="5972667" cy="2469240"/>
          </a:xfrm>
          <a:prstGeom prst="rect">
            <a:avLst/>
          </a:prstGeom>
        </p:spPr>
      </p:pic>
      <p:sp>
        <p:nvSpPr>
          <p:cNvPr id="14" name="Rectangle 13">
            <a:extLst>
              <a:ext uri="{FF2B5EF4-FFF2-40B4-BE49-F238E27FC236}">
                <a16:creationId xmlns:a16="http://schemas.microsoft.com/office/drawing/2014/main" id="{323D2CE9-4AD7-33FD-A245-090333D8CC75}"/>
              </a:ext>
            </a:extLst>
          </p:cNvPr>
          <p:cNvSpPr/>
          <p:nvPr/>
        </p:nvSpPr>
        <p:spPr>
          <a:xfrm>
            <a:off x="5591943" y="4005064"/>
            <a:ext cx="5832649" cy="471686"/>
          </a:xfrm>
          <a:prstGeom prst="rect">
            <a:avLst/>
          </a:prstGeom>
          <a:solidFill>
            <a:srgbClr val="EA560D">
              <a:alpha val="17000"/>
            </a:srgbClr>
          </a:solidFill>
          <a:ln w="38100">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pic>
        <p:nvPicPr>
          <p:cNvPr id="10" name="Picture 9">
            <a:extLst>
              <a:ext uri="{FF2B5EF4-FFF2-40B4-BE49-F238E27FC236}">
                <a16:creationId xmlns:a16="http://schemas.microsoft.com/office/drawing/2014/main" id="{636BCE1A-74E8-19E3-FF67-7AA6E855042E}"/>
              </a:ext>
            </a:extLst>
          </p:cNvPr>
          <p:cNvPicPr>
            <a:picLocks noChangeAspect="1"/>
          </p:cNvPicPr>
          <p:nvPr/>
        </p:nvPicPr>
        <p:blipFill>
          <a:blip r:embed="rId3"/>
          <a:srcRect t="91282" b="-1454"/>
          <a:stretch>
            <a:fillRect/>
          </a:stretch>
        </p:blipFill>
        <p:spPr>
          <a:xfrm>
            <a:off x="5519935" y="4590042"/>
            <a:ext cx="5972667" cy="386027"/>
          </a:xfrm>
          <a:prstGeom prst="rect">
            <a:avLst/>
          </a:prstGeom>
        </p:spPr>
      </p:pic>
      <p:sp>
        <p:nvSpPr>
          <p:cNvPr id="15" name="Text Placeholder 14">
            <a:extLst>
              <a:ext uri="{FF2B5EF4-FFF2-40B4-BE49-F238E27FC236}">
                <a16:creationId xmlns:a16="http://schemas.microsoft.com/office/drawing/2014/main" id="{E5DB27F0-6D52-4168-FF5D-5E751C62FAB0}"/>
              </a:ext>
            </a:extLst>
          </p:cNvPr>
          <p:cNvSpPr>
            <a:spLocks noGrp="1"/>
          </p:cNvSpPr>
          <p:nvPr>
            <p:ph type="body" sz="quarter" idx="14"/>
          </p:nvPr>
        </p:nvSpPr>
        <p:spPr/>
        <p:txBody>
          <a:bodyPr/>
          <a:lstStyle/>
          <a:p>
            <a:endParaRPr lang="en-GB"/>
          </a:p>
        </p:txBody>
      </p:sp>
      <p:pic>
        <p:nvPicPr>
          <p:cNvPr id="5" name="Picture 4">
            <a:extLst>
              <a:ext uri="{FF2B5EF4-FFF2-40B4-BE49-F238E27FC236}">
                <a16:creationId xmlns:a16="http://schemas.microsoft.com/office/drawing/2014/main" id="{F7337852-7361-D7F8-2AF5-E8FDA262768D}"/>
              </a:ext>
            </a:extLst>
          </p:cNvPr>
          <p:cNvPicPr>
            <a:picLocks noChangeAspect="1"/>
          </p:cNvPicPr>
          <p:nvPr/>
        </p:nvPicPr>
        <p:blipFill>
          <a:blip r:embed="rId4"/>
          <a:stretch>
            <a:fillRect/>
          </a:stretch>
        </p:blipFill>
        <p:spPr>
          <a:xfrm>
            <a:off x="5489510" y="4921661"/>
            <a:ext cx="5645714" cy="1896607"/>
          </a:xfrm>
          <a:prstGeom prst="rect">
            <a:avLst/>
          </a:prstGeom>
        </p:spPr>
      </p:pic>
    </p:spTree>
    <p:extLst>
      <p:ext uri="{BB962C8B-B14F-4D97-AF65-F5344CB8AC3E}">
        <p14:creationId xmlns:p14="http://schemas.microsoft.com/office/powerpoint/2010/main" val="28080784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CC8CC-EFEF-3562-BFC4-1ACBA12D4BA1}"/>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2390237F-B36E-9C4F-EC10-5A85894FDC60}"/>
              </a:ext>
            </a:extLst>
          </p:cNvPr>
          <p:cNvPicPr>
            <a:picLocks noChangeAspect="1"/>
          </p:cNvPicPr>
          <p:nvPr/>
        </p:nvPicPr>
        <p:blipFill>
          <a:blip r:embed="rId2"/>
          <a:srcRect/>
          <a:stretch/>
        </p:blipFill>
        <p:spPr>
          <a:xfrm>
            <a:off x="335360" y="2218310"/>
            <a:ext cx="4639760" cy="3479821"/>
          </a:xfrm>
          <a:prstGeom prst="rect">
            <a:avLst/>
          </a:prstGeom>
        </p:spPr>
      </p:pic>
      <p:sp>
        <p:nvSpPr>
          <p:cNvPr id="3" name="Text Placeholder 2">
            <a:extLst>
              <a:ext uri="{FF2B5EF4-FFF2-40B4-BE49-F238E27FC236}">
                <a16:creationId xmlns:a16="http://schemas.microsoft.com/office/drawing/2014/main" id="{730598CA-BFE2-8A48-96AF-552ED742C26C}"/>
              </a:ext>
            </a:extLst>
          </p:cNvPr>
          <p:cNvSpPr>
            <a:spLocks noGrp="1"/>
          </p:cNvSpPr>
          <p:nvPr>
            <p:ph type="body" sz="quarter" idx="10"/>
          </p:nvPr>
        </p:nvSpPr>
        <p:spPr>
          <a:xfrm>
            <a:off x="335360" y="260648"/>
            <a:ext cx="11521279" cy="553998"/>
          </a:xfrm>
        </p:spPr>
        <p:txBody>
          <a:bodyPr/>
          <a:lstStyle/>
          <a:p>
            <a:r>
              <a:rPr lang="en-US" dirty="0"/>
              <a:t>Project specific buildup </a:t>
            </a:r>
            <a:endParaRPr lang="en-GB" dirty="0"/>
          </a:p>
        </p:txBody>
      </p:sp>
      <p:sp>
        <p:nvSpPr>
          <p:cNvPr id="4" name="Text Placeholder 3">
            <a:extLst>
              <a:ext uri="{FF2B5EF4-FFF2-40B4-BE49-F238E27FC236}">
                <a16:creationId xmlns:a16="http://schemas.microsoft.com/office/drawing/2014/main" id="{AADDF9AF-C9E1-B01E-5D03-843D42735FD6}"/>
              </a:ext>
            </a:extLst>
          </p:cNvPr>
          <p:cNvSpPr>
            <a:spLocks noGrp="1"/>
          </p:cNvSpPr>
          <p:nvPr>
            <p:ph type="body" sz="quarter" idx="15"/>
          </p:nvPr>
        </p:nvSpPr>
        <p:spPr>
          <a:xfrm>
            <a:off x="335360" y="897755"/>
            <a:ext cx="5645714" cy="307777"/>
          </a:xfrm>
        </p:spPr>
        <p:txBody>
          <a:bodyPr/>
          <a:lstStyle/>
          <a:p>
            <a:r>
              <a:rPr lang="en-GB" b="1" dirty="0"/>
              <a:t>AGC </a:t>
            </a:r>
            <a:r>
              <a:rPr lang="en-GB" dirty="0" err="1"/>
              <a:t>Stopray</a:t>
            </a:r>
            <a:r>
              <a:rPr lang="en-GB" dirty="0"/>
              <a:t> </a:t>
            </a:r>
            <a:r>
              <a:rPr lang="en-GB" dirty="0" err="1"/>
              <a:t>Ultraselect</a:t>
            </a:r>
            <a:r>
              <a:rPr lang="en-GB" dirty="0"/>
              <a:t> 70/33 on </a:t>
            </a:r>
            <a:r>
              <a:rPr lang="en-GB" dirty="0" err="1"/>
              <a:t>Clearvision</a:t>
            </a:r>
            <a:r>
              <a:rPr lang="en-GB" dirty="0"/>
              <a:t> </a:t>
            </a:r>
          </a:p>
        </p:txBody>
      </p:sp>
      <p:sp>
        <p:nvSpPr>
          <p:cNvPr id="8" name="TextBox 7">
            <a:extLst>
              <a:ext uri="{FF2B5EF4-FFF2-40B4-BE49-F238E27FC236}">
                <a16:creationId xmlns:a16="http://schemas.microsoft.com/office/drawing/2014/main" id="{DB4DA753-5659-76C5-9EA7-98236749245F}"/>
              </a:ext>
            </a:extLst>
          </p:cNvPr>
          <p:cNvSpPr txBox="1"/>
          <p:nvPr/>
        </p:nvSpPr>
        <p:spPr bwMode="auto">
          <a:xfrm>
            <a:off x="335360" y="1239697"/>
            <a:ext cx="6097508" cy="646331"/>
          </a:xfrm>
          <a:prstGeom prst="rect">
            <a:avLst/>
          </a:prstGeom>
          <a:noFill/>
          <a:ln w="9525">
            <a:noFill/>
            <a:miter lim="800000"/>
            <a:headEnd/>
            <a:tailEnd/>
          </a:ln>
          <a:effectLst/>
        </p:spPr>
        <p:txBody>
          <a:bodyPr wrap="square">
            <a:spAutoFit/>
          </a:bodyPr>
          <a:lstStyle/>
          <a:p>
            <a:r>
              <a:rPr lang="en-GB" sz="1200" dirty="0"/>
              <a:t>Glass manufacturer: </a:t>
            </a:r>
            <a:r>
              <a:rPr lang="en-GB" sz="1200" b="1" dirty="0"/>
              <a:t>AGC</a:t>
            </a:r>
            <a:endParaRPr lang="en-GB" sz="1200" dirty="0"/>
          </a:p>
          <a:p>
            <a:r>
              <a:rPr lang="en-GB" sz="1200" dirty="0"/>
              <a:t>LT: 67%</a:t>
            </a:r>
          </a:p>
          <a:p>
            <a:r>
              <a:rPr lang="en-GB" sz="1200" dirty="0"/>
              <a:t>SHGC: 0.30 </a:t>
            </a:r>
          </a:p>
        </p:txBody>
      </p:sp>
      <p:sp>
        <p:nvSpPr>
          <p:cNvPr id="9" name="Text Placeholder 3">
            <a:extLst>
              <a:ext uri="{FF2B5EF4-FFF2-40B4-BE49-F238E27FC236}">
                <a16:creationId xmlns:a16="http://schemas.microsoft.com/office/drawing/2014/main" id="{6E6CD9D0-79B0-2001-9813-C2972E15B26E}"/>
              </a:ext>
            </a:extLst>
          </p:cNvPr>
          <p:cNvSpPr txBox="1">
            <a:spLocks/>
          </p:cNvSpPr>
          <p:nvPr/>
        </p:nvSpPr>
        <p:spPr>
          <a:xfrm>
            <a:off x="353807" y="5778927"/>
            <a:ext cx="5645714" cy="261610"/>
          </a:xfrm>
          <a:prstGeom prst="rect">
            <a:avLst/>
          </a:prstGeom>
        </p:spPr>
        <p:txBody>
          <a:bodyPr lIns="0">
            <a:spAutoFit/>
          </a:bodyPr>
          <a:lstStyle>
            <a:defPPr>
              <a:defRPr lang="en-US"/>
            </a:defPPr>
            <a:lvl1pPr marL="0" indent="0" eaLnBrk="1" hangingPunct="1">
              <a:spcBef>
                <a:spcPct val="20000"/>
              </a:spcBef>
              <a:buFont typeface="Arial" panose="020B0604020202020204" pitchFamily="34" charset="0"/>
              <a:buNone/>
              <a:defRPr sz="1100" i="1" kern="0">
                <a:solidFill>
                  <a:srgbClr val="56626F"/>
                </a:solidFill>
                <a:highlight>
                  <a:srgbClr val="FFFF00"/>
                </a:highlight>
                <a:latin typeface="Arial" panose="020B0604020202020204" pitchFamily="34" charset="0"/>
                <a:cs typeface="Arial" panose="020B0604020202020204" pitchFamily="34" charset="0"/>
              </a:defRPr>
            </a:lvl1pPr>
            <a:lvl2pPr marL="7429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2pPr>
            <a:lvl3pPr marL="12001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3pPr>
            <a:lvl4pPr marL="16573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4pPr>
            <a:lvl5pPr indent="0" eaLnBrk="1" hangingPunct="1">
              <a:spcBef>
                <a:spcPct val="20000"/>
              </a:spcBef>
              <a:buNone/>
              <a:defRPr sz="1400">
                <a:solidFill>
                  <a:srgbClr val="56626F"/>
                </a:solidFill>
                <a:latin typeface="Arial" panose="020B0604020202020204" pitchFamily="34" charset="0"/>
                <a:ea typeface="ＭＳ Ｐゴシック" pitchFamily="-105" charset="-128"/>
                <a:cs typeface="Arial" panose="020B0604020202020204" pitchFamily="34" charset="0"/>
              </a:defRPr>
            </a:lvl5pPr>
            <a:lvl6pPr marL="2514600" indent="-228600" fontAlgn="base">
              <a:spcBef>
                <a:spcPct val="20000"/>
              </a:spcBef>
              <a:spcAft>
                <a:spcPct val="0"/>
              </a:spcAft>
              <a:buChar char="»"/>
              <a:defRPr sz="2000">
                <a:latin typeface="+mn-lt"/>
                <a:ea typeface="ＭＳ Ｐゴシック" pitchFamily="-105" charset="-128"/>
              </a:defRPr>
            </a:lvl6pPr>
            <a:lvl7pPr marL="2971800" indent="-228600" fontAlgn="base">
              <a:spcBef>
                <a:spcPct val="20000"/>
              </a:spcBef>
              <a:spcAft>
                <a:spcPct val="0"/>
              </a:spcAft>
              <a:buChar char="»"/>
              <a:defRPr sz="2000">
                <a:latin typeface="+mn-lt"/>
                <a:ea typeface="ＭＳ Ｐゴシック" pitchFamily="-105" charset="-128"/>
              </a:defRPr>
            </a:lvl7pPr>
            <a:lvl8pPr marL="3429000" indent="-228600" fontAlgn="base">
              <a:spcBef>
                <a:spcPct val="20000"/>
              </a:spcBef>
              <a:spcAft>
                <a:spcPct val="0"/>
              </a:spcAft>
              <a:buChar char="»"/>
              <a:defRPr sz="2000">
                <a:latin typeface="+mn-lt"/>
                <a:ea typeface="ＭＳ Ｐゴシック" pitchFamily="-105" charset="-128"/>
              </a:defRPr>
            </a:lvl8pPr>
            <a:lvl9pPr marL="3886200" indent="-228600" fontAlgn="base">
              <a:spcBef>
                <a:spcPct val="20000"/>
              </a:spcBef>
              <a:spcAft>
                <a:spcPct val="0"/>
              </a:spcAft>
              <a:buChar char="»"/>
              <a:defRPr sz="2000">
                <a:latin typeface="+mn-lt"/>
                <a:ea typeface="ＭＳ Ｐゴシック" pitchFamily="-105" charset="-128"/>
              </a:defRPr>
            </a:lvl9pPr>
          </a:lstStyle>
          <a:p>
            <a:r>
              <a:rPr lang="en-GB" dirty="0"/>
              <a:t>YY Building - London</a:t>
            </a:r>
          </a:p>
        </p:txBody>
      </p:sp>
      <p:pic>
        <p:nvPicPr>
          <p:cNvPr id="6" name="Picture 5">
            <a:extLst>
              <a:ext uri="{FF2B5EF4-FFF2-40B4-BE49-F238E27FC236}">
                <a16:creationId xmlns:a16="http://schemas.microsoft.com/office/drawing/2014/main" id="{A6D48892-9FB4-8178-AA43-D56989363E8C}"/>
              </a:ext>
            </a:extLst>
          </p:cNvPr>
          <p:cNvPicPr>
            <a:picLocks noChangeAspect="1"/>
          </p:cNvPicPr>
          <p:nvPr/>
        </p:nvPicPr>
        <p:blipFill>
          <a:blip r:embed="rId3"/>
          <a:srcRect t="-1529" b="2799"/>
          <a:stretch>
            <a:fillRect/>
          </a:stretch>
        </p:blipFill>
        <p:spPr>
          <a:xfrm>
            <a:off x="5974978" y="1486553"/>
            <a:ext cx="4703514" cy="3220992"/>
          </a:xfrm>
          <a:prstGeom prst="rect">
            <a:avLst/>
          </a:prstGeom>
        </p:spPr>
      </p:pic>
      <p:sp>
        <p:nvSpPr>
          <p:cNvPr id="15" name="Text Placeholder 14">
            <a:extLst>
              <a:ext uri="{FF2B5EF4-FFF2-40B4-BE49-F238E27FC236}">
                <a16:creationId xmlns:a16="http://schemas.microsoft.com/office/drawing/2014/main" id="{028513D2-2090-5445-216F-C2EE74A70B16}"/>
              </a:ext>
            </a:extLst>
          </p:cNvPr>
          <p:cNvSpPr>
            <a:spLocks noGrp="1"/>
          </p:cNvSpPr>
          <p:nvPr>
            <p:ph type="body" sz="quarter" idx="14"/>
          </p:nvPr>
        </p:nvSpPr>
        <p:spPr/>
        <p:txBody>
          <a:bodyPr/>
          <a:lstStyle/>
          <a:p>
            <a:endParaRPr lang="en-GB"/>
          </a:p>
        </p:txBody>
      </p:sp>
      <p:pic>
        <p:nvPicPr>
          <p:cNvPr id="5" name="Picture 4">
            <a:extLst>
              <a:ext uri="{FF2B5EF4-FFF2-40B4-BE49-F238E27FC236}">
                <a16:creationId xmlns:a16="http://schemas.microsoft.com/office/drawing/2014/main" id="{92B21C54-EE7E-7631-2ADA-D41D5724E025}"/>
              </a:ext>
            </a:extLst>
          </p:cNvPr>
          <p:cNvPicPr>
            <a:picLocks noChangeAspect="1"/>
          </p:cNvPicPr>
          <p:nvPr/>
        </p:nvPicPr>
        <p:blipFill>
          <a:blip r:embed="rId4"/>
          <a:srcRect/>
          <a:stretch/>
        </p:blipFill>
        <p:spPr>
          <a:xfrm>
            <a:off x="5946242" y="4921661"/>
            <a:ext cx="4732250" cy="1896607"/>
          </a:xfrm>
          <a:prstGeom prst="rect">
            <a:avLst/>
          </a:prstGeom>
        </p:spPr>
      </p:pic>
    </p:spTree>
    <p:extLst>
      <p:ext uri="{BB962C8B-B14F-4D97-AF65-F5344CB8AC3E}">
        <p14:creationId xmlns:p14="http://schemas.microsoft.com/office/powerpoint/2010/main" val="6546688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955C5-8E05-5853-0CAF-F1DCBF502D8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52F74C0-3296-A82B-9301-885111979D4E}"/>
              </a:ext>
            </a:extLst>
          </p:cNvPr>
          <p:cNvSpPr>
            <a:spLocks noGrp="1"/>
          </p:cNvSpPr>
          <p:nvPr>
            <p:ph type="body" sz="quarter" idx="10"/>
          </p:nvPr>
        </p:nvSpPr>
        <p:spPr>
          <a:xfrm>
            <a:off x="335360" y="260648"/>
            <a:ext cx="11521279" cy="553998"/>
          </a:xfrm>
        </p:spPr>
        <p:txBody>
          <a:bodyPr/>
          <a:lstStyle/>
          <a:p>
            <a:r>
              <a:rPr lang="en-US" dirty="0"/>
              <a:t>Project specific buildup </a:t>
            </a:r>
            <a:endParaRPr lang="en-GB" dirty="0"/>
          </a:p>
        </p:txBody>
      </p:sp>
      <p:sp>
        <p:nvSpPr>
          <p:cNvPr id="4" name="Text Placeholder 3">
            <a:extLst>
              <a:ext uri="{FF2B5EF4-FFF2-40B4-BE49-F238E27FC236}">
                <a16:creationId xmlns:a16="http://schemas.microsoft.com/office/drawing/2014/main" id="{2477116D-4F07-60F7-7E28-1C1B32537B7E}"/>
              </a:ext>
            </a:extLst>
          </p:cNvPr>
          <p:cNvSpPr>
            <a:spLocks noGrp="1"/>
          </p:cNvSpPr>
          <p:nvPr>
            <p:ph type="body" sz="quarter" idx="15"/>
          </p:nvPr>
        </p:nvSpPr>
        <p:spPr>
          <a:xfrm>
            <a:off x="335360" y="897755"/>
            <a:ext cx="5645714" cy="307777"/>
          </a:xfrm>
        </p:spPr>
        <p:txBody>
          <a:bodyPr/>
          <a:lstStyle/>
          <a:p>
            <a:r>
              <a:rPr lang="en-GB" b="1" dirty="0"/>
              <a:t>Saint-Gobain</a:t>
            </a:r>
            <a:r>
              <a:rPr lang="en-GB" dirty="0"/>
              <a:t> COOL-LITE XTREME 70-33</a:t>
            </a:r>
          </a:p>
        </p:txBody>
      </p:sp>
      <p:sp>
        <p:nvSpPr>
          <p:cNvPr id="8" name="TextBox 7">
            <a:extLst>
              <a:ext uri="{FF2B5EF4-FFF2-40B4-BE49-F238E27FC236}">
                <a16:creationId xmlns:a16="http://schemas.microsoft.com/office/drawing/2014/main" id="{7773C4AE-2379-5CB7-60EB-2F1ABEF24F2F}"/>
              </a:ext>
            </a:extLst>
          </p:cNvPr>
          <p:cNvSpPr txBox="1"/>
          <p:nvPr/>
        </p:nvSpPr>
        <p:spPr bwMode="auto">
          <a:xfrm>
            <a:off x="335360" y="1239697"/>
            <a:ext cx="6097508" cy="646331"/>
          </a:xfrm>
          <a:prstGeom prst="rect">
            <a:avLst/>
          </a:prstGeom>
          <a:noFill/>
          <a:ln w="9525">
            <a:noFill/>
            <a:miter lim="800000"/>
            <a:headEnd/>
            <a:tailEnd/>
          </a:ln>
          <a:effectLst/>
        </p:spPr>
        <p:txBody>
          <a:bodyPr wrap="square">
            <a:spAutoFit/>
          </a:bodyPr>
          <a:lstStyle/>
          <a:p>
            <a:r>
              <a:rPr lang="en-GB" sz="1200" dirty="0"/>
              <a:t>Glass manufacturer: Saint-Gobain</a:t>
            </a:r>
          </a:p>
          <a:p>
            <a:r>
              <a:rPr lang="en-GB" sz="1200" dirty="0"/>
              <a:t>LT: 68%</a:t>
            </a:r>
          </a:p>
          <a:p>
            <a:r>
              <a:rPr lang="en-GB" sz="1200" dirty="0"/>
              <a:t>SHGC: 0.32 </a:t>
            </a:r>
          </a:p>
        </p:txBody>
      </p:sp>
      <p:sp>
        <p:nvSpPr>
          <p:cNvPr id="15" name="Text Placeholder 14">
            <a:extLst>
              <a:ext uri="{FF2B5EF4-FFF2-40B4-BE49-F238E27FC236}">
                <a16:creationId xmlns:a16="http://schemas.microsoft.com/office/drawing/2014/main" id="{8B8E333E-3D07-7B57-0A7A-5218BB435B76}"/>
              </a:ext>
            </a:extLst>
          </p:cNvPr>
          <p:cNvSpPr>
            <a:spLocks noGrp="1"/>
          </p:cNvSpPr>
          <p:nvPr>
            <p:ph type="body" sz="quarter" idx="14"/>
          </p:nvPr>
        </p:nvSpPr>
        <p:spPr/>
        <p:txBody>
          <a:bodyPr/>
          <a:lstStyle/>
          <a:p>
            <a:endParaRPr lang="en-GB"/>
          </a:p>
        </p:txBody>
      </p:sp>
      <p:pic>
        <p:nvPicPr>
          <p:cNvPr id="7" name="Picture 6">
            <a:extLst>
              <a:ext uri="{FF2B5EF4-FFF2-40B4-BE49-F238E27FC236}">
                <a16:creationId xmlns:a16="http://schemas.microsoft.com/office/drawing/2014/main" id="{F2698471-A9A1-0BAB-AB82-E90E42F2D20A}"/>
              </a:ext>
            </a:extLst>
          </p:cNvPr>
          <p:cNvPicPr>
            <a:picLocks noChangeAspect="1"/>
          </p:cNvPicPr>
          <p:nvPr/>
        </p:nvPicPr>
        <p:blipFill>
          <a:blip r:embed="rId2"/>
          <a:srcRect/>
          <a:stretch/>
        </p:blipFill>
        <p:spPr>
          <a:xfrm>
            <a:off x="5519936" y="2189279"/>
            <a:ext cx="6528048" cy="3178663"/>
          </a:xfrm>
          <a:prstGeom prst="rect">
            <a:avLst/>
          </a:prstGeom>
        </p:spPr>
      </p:pic>
      <p:sp>
        <p:nvSpPr>
          <p:cNvPr id="10" name="Text Placeholder 3">
            <a:extLst>
              <a:ext uri="{FF2B5EF4-FFF2-40B4-BE49-F238E27FC236}">
                <a16:creationId xmlns:a16="http://schemas.microsoft.com/office/drawing/2014/main" id="{433CC995-61E0-4BCD-BE35-1D81810E7115}"/>
              </a:ext>
            </a:extLst>
          </p:cNvPr>
          <p:cNvSpPr txBox="1">
            <a:spLocks/>
          </p:cNvSpPr>
          <p:nvPr/>
        </p:nvSpPr>
        <p:spPr>
          <a:xfrm>
            <a:off x="1631504" y="6404378"/>
            <a:ext cx="9001000" cy="261610"/>
          </a:xfrm>
          <a:prstGeom prst="rect">
            <a:avLst/>
          </a:prstGeom>
          <a:noFill/>
          <a:ln w="9525">
            <a:noFill/>
            <a:miter lim="800000"/>
            <a:headEnd/>
            <a:tailEnd/>
          </a:ln>
          <a:effectLst/>
        </p:spPr>
        <p:txBody>
          <a:bodyPr wrap="square" lIns="0" rtlCol="0">
            <a:spAutoFit/>
          </a:bodyPr>
          <a:lstStyle>
            <a:defPPr>
              <a:defRPr lang="en-US"/>
            </a:defPPr>
            <a:lvl1pPr>
              <a:spcBef>
                <a:spcPct val="50000"/>
              </a:spcBef>
              <a:defRPr sz="1000" i="1">
                <a:solidFill>
                  <a:srgbClr val="595959"/>
                </a:solidFill>
                <a:latin typeface="Arial"/>
                <a:cs typeface="Arial"/>
              </a:defRPr>
            </a:lvl1pPr>
            <a:lvl2pPr marL="7429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2pPr>
            <a:lvl3pPr marL="12001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3pPr>
            <a:lvl4pPr marL="16573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4pPr>
            <a:lvl5pPr indent="0" eaLnBrk="1" hangingPunct="1">
              <a:spcBef>
                <a:spcPct val="20000"/>
              </a:spcBef>
              <a:buNone/>
              <a:defRPr sz="1400">
                <a:solidFill>
                  <a:srgbClr val="56626F"/>
                </a:solidFill>
                <a:latin typeface="Arial" panose="020B0604020202020204" pitchFamily="34" charset="0"/>
                <a:ea typeface="ＭＳ Ｐゴシック" pitchFamily="-105" charset="-128"/>
                <a:cs typeface="Arial" panose="020B0604020202020204" pitchFamily="34" charset="0"/>
              </a:defRPr>
            </a:lvl5pPr>
            <a:lvl6pPr marL="2514600" indent="-228600" fontAlgn="base">
              <a:spcBef>
                <a:spcPct val="20000"/>
              </a:spcBef>
              <a:spcAft>
                <a:spcPct val="0"/>
              </a:spcAft>
              <a:buChar char="»"/>
              <a:defRPr sz="2000">
                <a:latin typeface="+mn-lt"/>
                <a:ea typeface="ＭＳ Ｐゴシック" pitchFamily="-105" charset="-128"/>
              </a:defRPr>
            </a:lvl6pPr>
            <a:lvl7pPr marL="2971800" indent="-228600" fontAlgn="base">
              <a:spcBef>
                <a:spcPct val="20000"/>
              </a:spcBef>
              <a:spcAft>
                <a:spcPct val="0"/>
              </a:spcAft>
              <a:buChar char="»"/>
              <a:defRPr sz="2000">
                <a:latin typeface="+mn-lt"/>
                <a:ea typeface="ＭＳ Ｐゴシック" pitchFamily="-105" charset="-128"/>
              </a:defRPr>
            </a:lvl7pPr>
            <a:lvl8pPr marL="3429000" indent="-228600" fontAlgn="base">
              <a:spcBef>
                <a:spcPct val="20000"/>
              </a:spcBef>
              <a:spcAft>
                <a:spcPct val="0"/>
              </a:spcAft>
              <a:buChar char="»"/>
              <a:defRPr sz="2000">
                <a:latin typeface="+mn-lt"/>
                <a:ea typeface="ＭＳ Ｐゴシック" pitchFamily="-105" charset="-128"/>
              </a:defRPr>
            </a:lvl8pPr>
            <a:lvl9pPr marL="3886200" indent="-228600" fontAlgn="base">
              <a:spcBef>
                <a:spcPct val="20000"/>
              </a:spcBef>
              <a:spcAft>
                <a:spcPct val="0"/>
              </a:spcAft>
              <a:buChar char="»"/>
              <a:defRPr sz="2000">
                <a:latin typeface="+mn-lt"/>
                <a:ea typeface="ＭＳ Ｐゴシック" pitchFamily="-105" charset="-128"/>
              </a:defRPr>
            </a:lvl9pPr>
          </a:lstStyle>
          <a:p>
            <a:r>
              <a:rPr lang="en-GB" dirty="0"/>
              <a:t>Saint-Gobain’s configurator does not allow modelling 3 ply build-ups, performance changes would be minimal due to this. </a:t>
            </a:r>
          </a:p>
        </p:txBody>
      </p:sp>
      <p:pic>
        <p:nvPicPr>
          <p:cNvPr id="14" name="Picture 13">
            <a:extLst>
              <a:ext uri="{FF2B5EF4-FFF2-40B4-BE49-F238E27FC236}">
                <a16:creationId xmlns:a16="http://schemas.microsoft.com/office/drawing/2014/main" id="{08B391C3-A5DF-7274-76AF-458405C17DE8}"/>
              </a:ext>
            </a:extLst>
          </p:cNvPr>
          <p:cNvPicPr>
            <a:picLocks noChangeAspect="1"/>
          </p:cNvPicPr>
          <p:nvPr/>
        </p:nvPicPr>
        <p:blipFill>
          <a:blip r:embed="rId3"/>
          <a:srcRect/>
          <a:stretch/>
        </p:blipFill>
        <p:spPr>
          <a:xfrm>
            <a:off x="335360" y="2218310"/>
            <a:ext cx="4639760" cy="3479821"/>
          </a:xfrm>
          <a:prstGeom prst="rect">
            <a:avLst/>
          </a:prstGeom>
        </p:spPr>
      </p:pic>
      <p:sp>
        <p:nvSpPr>
          <p:cNvPr id="18" name="Text Placeholder 3">
            <a:extLst>
              <a:ext uri="{FF2B5EF4-FFF2-40B4-BE49-F238E27FC236}">
                <a16:creationId xmlns:a16="http://schemas.microsoft.com/office/drawing/2014/main" id="{8416762A-50CD-5D8D-F63F-68766B341713}"/>
              </a:ext>
            </a:extLst>
          </p:cNvPr>
          <p:cNvSpPr txBox="1">
            <a:spLocks/>
          </p:cNvSpPr>
          <p:nvPr/>
        </p:nvSpPr>
        <p:spPr>
          <a:xfrm>
            <a:off x="353807" y="5778927"/>
            <a:ext cx="5645714" cy="261610"/>
          </a:xfrm>
          <a:prstGeom prst="rect">
            <a:avLst/>
          </a:prstGeom>
        </p:spPr>
        <p:txBody>
          <a:bodyPr lIns="0">
            <a:spAutoFit/>
          </a:bodyPr>
          <a:lstStyle>
            <a:defPPr>
              <a:defRPr lang="en-US"/>
            </a:defPPr>
            <a:lvl1pPr marL="0" indent="0" eaLnBrk="1" hangingPunct="1">
              <a:spcBef>
                <a:spcPct val="20000"/>
              </a:spcBef>
              <a:buFont typeface="Arial" panose="020B0604020202020204" pitchFamily="34" charset="0"/>
              <a:buNone/>
              <a:defRPr sz="1100" i="1" kern="0">
                <a:solidFill>
                  <a:srgbClr val="56626F"/>
                </a:solidFill>
                <a:highlight>
                  <a:srgbClr val="FFFF00"/>
                </a:highlight>
                <a:latin typeface="Arial" panose="020B0604020202020204" pitchFamily="34" charset="0"/>
                <a:cs typeface="Arial" panose="020B0604020202020204" pitchFamily="34" charset="0"/>
              </a:defRPr>
            </a:lvl1pPr>
            <a:lvl2pPr marL="7429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2pPr>
            <a:lvl3pPr marL="12001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3pPr>
            <a:lvl4pPr marL="16573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4pPr>
            <a:lvl5pPr indent="0" eaLnBrk="1" hangingPunct="1">
              <a:spcBef>
                <a:spcPct val="20000"/>
              </a:spcBef>
              <a:buNone/>
              <a:defRPr sz="1400">
                <a:solidFill>
                  <a:srgbClr val="56626F"/>
                </a:solidFill>
                <a:latin typeface="Arial" panose="020B0604020202020204" pitchFamily="34" charset="0"/>
                <a:ea typeface="ＭＳ Ｐゴシック" pitchFamily="-105" charset="-128"/>
                <a:cs typeface="Arial" panose="020B0604020202020204" pitchFamily="34" charset="0"/>
              </a:defRPr>
            </a:lvl5pPr>
            <a:lvl6pPr marL="2514600" indent="-228600" fontAlgn="base">
              <a:spcBef>
                <a:spcPct val="20000"/>
              </a:spcBef>
              <a:spcAft>
                <a:spcPct val="0"/>
              </a:spcAft>
              <a:buChar char="»"/>
              <a:defRPr sz="2000">
                <a:latin typeface="+mn-lt"/>
                <a:ea typeface="ＭＳ Ｐゴシック" pitchFamily="-105" charset="-128"/>
              </a:defRPr>
            </a:lvl6pPr>
            <a:lvl7pPr marL="2971800" indent="-228600" fontAlgn="base">
              <a:spcBef>
                <a:spcPct val="20000"/>
              </a:spcBef>
              <a:spcAft>
                <a:spcPct val="0"/>
              </a:spcAft>
              <a:buChar char="»"/>
              <a:defRPr sz="2000">
                <a:latin typeface="+mn-lt"/>
                <a:ea typeface="ＭＳ Ｐゴシック" pitchFamily="-105" charset="-128"/>
              </a:defRPr>
            </a:lvl7pPr>
            <a:lvl8pPr marL="3429000" indent="-228600" fontAlgn="base">
              <a:spcBef>
                <a:spcPct val="20000"/>
              </a:spcBef>
              <a:spcAft>
                <a:spcPct val="0"/>
              </a:spcAft>
              <a:buChar char="»"/>
              <a:defRPr sz="2000">
                <a:latin typeface="+mn-lt"/>
                <a:ea typeface="ＭＳ Ｐゴシック" pitchFamily="-105" charset="-128"/>
              </a:defRPr>
            </a:lvl8pPr>
            <a:lvl9pPr marL="3886200" indent="-228600" fontAlgn="base">
              <a:spcBef>
                <a:spcPct val="20000"/>
              </a:spcBef>
              <a:spcAft>
                <a:spcPct val="0"/>
              </a:spcAft>
              <a:buChar char="»"/>
              <a:defRPr sz="2000">
                <a:latin typeface="+mn-lt"/>
                <a:ea typeface="ＭＳ Ｐゴシック" pitchFamily="-105" charset="-128"/>
              </a:defRPr>
            </a:lvl9pPr>
          </a:lstStyle>
          <a:p>
            <a:r>
              <a:rPr lang="en-GB" dirty="0"/>
              <a:t>YY Building - London</a:t>
            </a:r>
          </a:p>
        </p:txBody>
      </p:sp>
      <p:sp>
        <p:nvSpPr>
          <p:cNvPr id="21" name="Text Placeholder 3">
            <a:extLst>
              <a:ext uri="{FF2B5EF4-FFF2-40B4-BE49-F238E27FC236}">
                <a16:creationId xmlns:a16="http://schemas.microsoft.com/office/drawing/2014/main" id="{D5CA224A-31D5-67AB-0C76-6D60BE0B4179}"/>
              </a:ext>
            </a:extLst>
          </p:cNvPr>
          <p:cNvSpPr txBox="1">
            <a:spLocks/>
          </p:cNvSpPr>
          <p:nvPr/>
        </p:nvSpPr>
        <p:spPr>
          <a:xfrm>
            <a:off x="1665553" y="4009335"/>
            <a:ext cx="1421713" cy="261610"/>
          </a:xfrm>
          <a:prstGeom prst="rect">
            <a:avLst/>
          </a:prstGeom>
        </p:spPr>
        <p:txBody>
          <a:bodyPr wrap="square" lIns="0">
            <a:spAutoFit/>
          </a:bodyPr>
          <a:lstStyle>
            <a:defPPr>
              <a:defRPr lang="en-US"/>
            </a:defPPr>
            <a:lvl1pPr marL="0" indent="0" eaLnBrk="1" hangingPunct="1">
              <a:spcBef>
                <a:spcPct val="20000"/>
              </a:spcBef>
              <a:buFont typeface="Arial" panose="020B0604020202020204" pitchFamily="34" charset="0"/>
              <a:buNone/>
              <a:defRPr sz="1100" i="1" kern="0">
                <a:solidFill>
                  <a:srgbClr val="56626F"/>
                </a:solidFill>
                <a:highlight>
                  <a:srgbClr val="FFFF00"/>
                </a:highlight>
                <a:latin typeface="Arial" panose="020B0604020202020204" pitchFamily="34" charset="0"/>
                <a:cs typeface="Arial" panose="020B0604020202020204" pitchFamily="34" charset="0"/>
              </a:defRPr>
            </a:lvl1pPr>
            <a:lvl2pPr marL="7429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2pPr>
            <a:lvl3pPr marL="12001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3pPr>
            <a:lvl4pPr marL="1657350" indent="-285750" eaLnBrk="1" hangingPunct="1">
              <a:spcBef>
                <a:spcPct val="20000"/>
              </a:spcBef>
              <a:buFont typeface="Arial" panose="020B0604020202020204" pitchFamily="34" charset="0"/>
              <a:buChar char="•"/>
              <a:defRPr sz="1400">
                <a:solidFill>
                  <a:srgbClr val="56626F"/>
                </a:solidFill>
                <a:latin typeface="Arial" panose="020B0604020202020204" pitchFamily="34" charset="0"/>
                <a:ea typeface="ＭＳ Ｐゴシック" pitchFamily="-105" charset="-128"/>
                <a:cs typeface="Arial" panose="020B0604020202020204" pitchFamily="34" charset="0"/>
              </a:defRPr>
            </a:lvl4pPr>
            <a:lvl5pPr indent="0" eaLnBrk="1" hangingPunct="1">
              <a:spcBef>
                <a:spcPct val="20000"/>
              </a:spcBef>
              <a:buNone/>
              <a:defRPr sz="1400">
                <a:solidFill>
                  <a:srgbClr val="56626F"/>
                </a:solidFill>
                <a:latin typeface="Arial" panose="020B0604020202020204" pitchFamily="34" charset="0"/>
                <a:ea typeface="ＭＳ Ｐゴシック" pitchFamily="-105" charset="-128"/>
                <a:cs typeface="Arial" panose="020B0604020202020204" pitchFamily="34" charset="0"/>
              </a:defRPr>
            </a:lvl5pPr>
            <a:lvl6pPr marL="2514600" indent="-228600" fontAlgn="base">
              <a:spcBef>
                <a:spcPct val="20000"/>
              </a:spcBef>
              <a:spcAft>
                <a:spcPct val="0"/>
              </a:spcAft>
              <a:buChar char="»"/>
              <a:defRPr sz="2000">
                <a:latin typeface="+mn-lt"/>
                <a:ea typeface="ＭＳ Ｐゴシック" pitchFamily="-105" charset="-128"/>
              </a:defRPr>
            </a:lvl6pPr>
            <a:lvl7pPr marL="2971800" indent="-228600" fontAlgn="base">
              <a:spcBef>
                <a:spcPct val="20000"/>
              </a:spcBef>
              <a:spcAft>
                <a:spcPct val="0"/>
              </a:spcAft>
              <a:buChar char="»"/>
              <a:defRPr sz="2000">
                <a:latin typeface="+mn-lt"/>
                <a:ea typeface="ＭＳ Ｐゴシック" pitchFamily="-105" charset="-128"/>
              </a:defRPr>
            </a:lvl7pPr>
            <a:lvl8pPr marL="3429000" indent="-228600" fontAlgn="base">
              <a:spcBef>
                <a:spcPct val="20000"/>
              </a:spcBef>
              <a:spcAft>
                <a:spcPct val="0"/>
              </a:spcAft>
              <a:buChar char="»"/>
              <a:defRPr sz="2000">
                <a:latin typeface="+mn-lt"/>
                <a:ea typeface="ＭＳ Ｐゴシック" pitchFamily="-105" charset="-128"/>
              </a:defRPr>
            </a:lvl8pPr>
            <a:lvl9pPr marL="3886200" indent="-228600" fontAlgn="base">
              <a:spcBef>
                <a:spcPct val="20000"/>
              </a:spcBef>
              <a:spcAft>
                <a:spcPct val="0"/>
              </a:spcAft>
              <a:buChar char="»"/>
              <a:defRPr sz="2000">
                <a:latin typeface="+mn-lt"/>
                <a:ea typeface="ＭＳ Ｐゴシック" pitchFamily="-105" charset="-128"/>
              </a:defRPr>
            </a:lvl9pPr>
          </a:lstStyle>
          <a:p>
            <a:pPr algn="ctr"/>
            <a:r>
              <a:rPr lang="en-GB" dirty="0"/>
              <a:t>Place holder</a:t>
            </a:r>
          </a:p>
        </p:txBody>
      </p:sp>
    </p:spTree>
    <p:extLst>
      <p:ext uri="{BB962C8B-B14F-4D97-AF65-F5344CB8AC3E}">
        <p14:creationId xmlns:p14="http://schemas.microsoft.com/office/powerpoint/2010/main" val="10949981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E27DB-212A-4CAC-FCD6-1F97AD2760F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E5D5713-B986-31EB-4331-9D8A8023CD85}"/>
              </a:ext>
            </a:extLst>
          </p:cNvPr>
          <p:cNvSpPr>
            <a:spLocks/>
          </p:cNvSpPr>
          <p:nvPr/>
        </p:nvSpPr>
        <p:spPr>
          <a:xfrm>
            <a:off x="0" y="0"/>
            <a:ext cx="12202144" cy="6866387"/>
          </a:xfrm>
          <a:prstGeom prst="rect">
            <a:avLst/>
          </a:prstGeom>
          <a:solidFill>
            <a:srgbClr val="B1BECD">
              <a:alpha val="30196"/>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pic>
        <p:nvPicPr>
          <p:cNvPr id="6" name="Graphic 5">
            <a:extLst>
              <a:ext uri="{FF2B5EF4-FFF2-40B4-BE49-F238E27FC236}">
                <a16:creationId xmlns:a16="http://schemas.microsoft.com/office/drawing/2014/main" id="{7F12C337-590B-EEA6-16CC-1E18CF50D833}"/>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rcRect l="5113" t="1719" r="5113" b="5759"/>
          <a:stretch>
            <a:fillRect/>
          </a:stretch>
        </p:blipFill>
        <p:spPr>
          <a:xfrm>
            <a:off x="629653" y="761611"/>
            <a:ext cx="10932694" cy="5256102"/>
          </a:xfrm>
          <a:prstGeom prst="rect">
            <a:avLst/>
          </a:prstGeom>
        </p:spPr>
      </p:pic>
      <p:sp>
        <p:nvSpPr>
          <p:cNvPr id="16" name="Text Placeholder 2">
            <a:extLst>
              <a:ext uri="{FF2B5EF4-FFF2-40B4-BE49-F238E27FC236}">
                <a16:creationId xmlns:a16="http://schemas.microsoft.com/office/drawing/2014/main" id="{58B42CC6-201D-2C6A-5C9D-3D376FDE3523}"/>
              </a:ext>
            </a:extLst>
          </p:cNvPr>
          <p:cNvSpPr txBox="1">
            <a:spLocks/>
          </p:cNvSpPr>
          <p:nvPr/>
        </p:nvSpPr>
        <p:spPr>
          <a:xfrm>
            <a:off x="4079777" y="2996952"/>
            <a:ext cx="4032448" cy="720080"/>
          </a:xfrm>
          <a:prstGeom prst="rect">
            <a:avLst/>
          </a:prstGeom>
        </p:spPr>
        <p:txBody>
          <a:bodyPr anchor="ctr"/>
          <a:lstStyle>
            <a:lvl1pPr marL="0" indent="0" algn="l" rtl="0" eaLnBrk="0" fontAlgn="base" hangingPunct="0">
              <a:spcBef>
                <a:spcPts val="0"/>
              </a:spcBef>
              <a:spcAft>
                <a:spcPct val="0"/>
              </a:spcAft>
              <a:buFontTx/>
              <a:buNone/>
              <a:defRPr sz="6600" b="1">
                <a:solidFill>
                  <a:schemeClr val="bg1"/>
                </a:solidFill>
                <a:latin typeface="Arial" panose="020B0604020202020204" pitchFamily="34" charset="0"/>
                <a:ea typeface="+mn-ea"/>
                <a:cs typeface="Arial" panose="020B0604020202020204" pitchFamily="34" charset="0"/>
              </a:defRPr>
            </a:lvl1pPr>
            <a:lvl2pPr marL="457200" indent="0" algn="l" rtl="0" eaLnBrk="0" fontAlgn="base" hangingPunct="0">
              <a:spcBef>
                <a:spcPts val="0"/>
              </a:spcBef>
              <a:spcAft>
                <a:spcPct val="0"/>
              </a:spcAft>
              <a:buFontTx/>
              <a:buNone/>
              <a:defRPr sz="6600" b="1">
                <a:solidFill>
                  <a:schemeClr val="bg1"/>
                </a:solidFill>
                <a:latin typeface="Arial" panose="020B0604020202020204" pitchFamily="34" charset="0"/>
                <a:ea typeface="ＭＳ Ｐゴシック" pitchFamily="-105" charset="-128"/>
                <a:cs typeface="Arial" panose="020B0604020202020204" pitchFamily="34" charset="0"/>
              </a:defRPr>
            </a:lvl2pPr>
            <a:lvl3pPr marL="914400" indent="0" algn="l" rtl="0" eaLnBrk="0" fontAlgn="base" hangingPunct="0">
              <a:spcBef>
                <a:spcPts val="0"/>
              </a:spcBef>
              <a:spcAft>
                <a:spcPct val="0"/>
              </a:spcAft>
              <a:buFontTx/>
              <a:buNone/>
              <a:defRPr sz="6600" b="1">
                <a:solidFill>
                  <a:schemeClr val="bg1"/>
                </a:solidFill>
                <a:latin typeface="Arial" panose="020B0604020202020204" pitchFamily="34" charset="0"/>
                <a:ea typeface="ＭＳ Ｐゴシック" pitchFamily="-105" charset="-128"/>
                <a:cs typeface="Arial" panose="020B0604020202020204" pitchFamily="34" charset="0"/>
              </a:defRPr>
            </a:lvl3pPr>
            <a:lvl4pPr marL="1371600" indent="0" algn="l" rtl="0" eaLnBrk="0" fontAlgn="base" hangingPunct="0">
              <a:spcBef>
                <a:spcPts val="0"/>
              </a:spcBef>
              <a:spcAft>
                <a:spcPct val="0"/>
              </a:spcAft>
              <a:buFontTx/>
              <a:buNone/>
              <a:defRPr sz="6600" b="1">
                <a:solidFill>
                  <a:schemeClr val="bg1"/>
                </a:solidFill>
                <a:latin typeface="Arial" panose="020B0604020202020204" pitchFamily="34" charset="0"/>
                <a:ea typeface="ＭＳ Ｐゴシック" pitchFamily="-105" charset="-128"/>
                <a:cs typeface="Arial" panose="020B0604020202020204" pitchFamily="34" charset="0"/>
              </a:defRPr>
            </a:lvl4pPr>
            <a:lvl5pPr marL="1828800" indent="0" algn="l" rtl="0" eaLnBrk="0" fontAlgn="base" hangingPunct="0">
              <a:spcBef>
                <a:spcPts val="0"/>
              </a:spcBef>
              <a:spcAft>
                <a:spcPct val="0"/>
              </a:spcAft>
              <a:buFontTx/>
              <a:buNone/>
              <a:defRPr sz="6600" b="1">
                <a:solidFill>
                  <a:schemeClr val="bg1"/>
                </a:solidFill>
                <a:latin typeface="Arial" panose="020B0604020202020204" pitchFamily="34" charset="0"/>
                <a:ea typeface="ＭＳ Ｐゴシック" pitchFamily="-105" charset="-128"/>
                <a:cs typeface="Arial" panose="020B0604020202020204" pitchFamily="34" charset="0"/>
              </a:defRPr>
            </a:lvl5pPr>
            <a:lvl6pPr marL="2514600" indent="-228600" algn="l" rtl="0" fontAlgn="base">
              <a:spcBef>
                <a:spcPct val="20000"/>
              </a:spcBef>
              <a:spcAft>
                <a:spcPct val="0"/>
              </a:spcAft>
              <a:buChar char="»"/>
              <a:defRPr sz="2000">
                <a:solidFill>
                  <a:schemeClr val="tx1"/>
                </a:solidFill>
                <a:latin typeface="+mn-lt"/>
                <a:ea typeface="ＭＳ Ｐゴシック" pitchFamily="-105"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5"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5"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5" charset="-128"/>
              </a:defRPr>
            </a:lvl9pPr>
          </a:lstStyle>
          <a:p>
            <a:pPr algn="ctr"/>
            <a:r>
              <a:rPr lang="en-GB" sz="5400" kern="0" spc="-150" dirty="0">
                <a:solidFill>
                  <a:srgbClr val="EA560D"/>
                </a:solidFill>
              </a:rPr>
              <a:t>Thank you.</a:t>
            </a:r>
            <a:endParaRPr lang="en-GB" sz="3600" kern="0" spc="-150" dirty="0">
              <a:solidFill>
                <a:srgbClr val="EA560D"/>
              </a:solidFill>
            </a:endParaRPr>
          </a:p>
        </p:txBody>
      </p:sp>
      <p:sp>
        <p:nvSpPr>
          <p:cNvPr id="9" name="TextBox 8">
            <a:extLst>
              <a:ext uri="{FF2B5EF4-FFF2-40B4-BE49-F238E27FC236}">
                <a16:creationId xmlns:a16="http://schemas.microsoft.com/office/drawing/2014/main" id="{1A29B2EE-BC66-0229-72DE-939EE7824874}"/>
              </a:ext>
            </a:extLst>
          </p:cNvPr>
          <p:cNvSpPr txBox="1"/>
          <p:nvPr/>
        </p:nvSpPr>
        <p:spPr bwMode="auto">
          <a:xfrm>
            <a:off x="10254171" y="6393885"/>
            <a:ext cx="1746485" cy="338554"/>
          </a:xfrm>
          <a:prstGeom prst="rect">
            <a:avLst/>
          </a:prstGeom>
          <a:noFill/>
          <a:ln w="9525">
            <a:noFill/>
            <a:miter lim="800000"/>
            <a:headEnd/>
            <a:tailEnd/>
          </a:ln>
          <a:effectLst/>
        </p:spPr>
        <p:txBody>
          <a:bodyPr wrap="square">
            <a:spAutoFit/>
          </a:bodyPr>
          <a:lstStyle/>
          <a:p>
            <a:r>
              <a:rPr lang="en-GB" sz="1600" b="1" kern="0" dirty="0">
                <a:solidFill>
                  <a:srgbClr val="EA560D"/>
                </a:solidFill>
              </a:rPr>
              <a:t>@eocengineers</a:t>
            </a:r>
            <a:endParaRPr lang="en-GB" sz="1600" b="1" dirty="0"/>
          </a:p>
        </p:txBody>
      </p:sp>
      <p:grpSp>
        <p:nvGrpSpPr>
          <p:cNvPr id="28" name="Group 27">
            <a:extLst>
              <a:ext uri="{FF2B5EF4-FFF2-40B4-BE49-F238E27FC236}">
                <a16:creationId xmlns:a16="http://schemas.microsoft.com/office/drawing/2014/main" id="{691EE5D2-A8D4-D182-8AF2-3F90DB80E3D5}"/>
              </a:ext>
            </a:extLst>
          </p:cNvPr>
          <p:cNvGrpSpPr>
            <a:grpSpLocks noChangeAspect="1"/>
          </p:cNvGrpSpPr>
          <p:nvPr/>
        </p:nvGrpSpPr>
        <p:grpSpPr>
          <a:xfrm>
            <a:off x="10567530" y="6107151"/>
            <a:ext cx="1286025" cy="221708"/>
            <a:chOff x="5020553" y="5733260"/>
            <a:chExt cx="3537731" cy="609897"/>
          </a:xfrm>
        </p:grpSpPr>
        <p:pic>
          <p:nvPicPr>
            <p:cNvPr id="14" name="Graphic 13">
              <a:extLst>
                <a:ext uri="{FF2B5EF4-FFF2-40B4-BE49-F238E27FC236}">
                  <a16:creationId xmlns:a16="http://schemas.microsoft.com/office/drawing/2014/main" id="{EEC77D4E-A56D-40DB-C6B7-DB2A6BF0E5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76594" y="5733263"/>
              <a:ext cx="868936" cy="606234"/>
            </a:xfrm>
            <a:prstGeom prst="rect">
              <a:avLst/>
            </a:prstGeom>
          </p:spPr>
        </p:pic>
        <p:pic>
          <p:nvPicPr>
            <p:cNvPr id="17" name="Graphic 16">
              <a:extLst>
                <a:ext uri="{FF2B5EF4-FFF2-40B4-BE49-F238E27FC236}">
                  <a16:creationId xmlns:a16="http://schemas.microsoft.com/office/drawing/2014/main" id="{C883AE3E-114A-15D9-A3DE-7E26D738752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32880" y="5733260"/>
              <a:ext cx="525404" cy="606237"/>
            </a:xfrm>
            <a:prstGeom prst="rect">
              <a:avLst/>
            </a:prstGeom>
          </p:spPr>
        </p:pic>
        <p:pic>
          <p:nvPicPr>
            <p:cNvPr id="18" name="Graphic 17">
              <a:extLst>
                <a:ext uri="{FF2B5EF4-FFF2-40B4-BE49-F238E27FC236}">
                  <a16:creationId xmlns:a16="http://schemas.microsoft.com/office/drawing/2014/main" id="{07B5109D-D93F-C683-EDA2-2E5165EE710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50737" y="5733265"/>
              <a:ext cx="606232" cy="606232"/>
            </a:xfrm>
            <a:prstGeom prst="rect">
              <a:avLst/>
            </a:prstGeom>
          </p:spPr>
        </p:pic>
        <p:grpSp>
          <p:nvGrpSpPr>
            <p:cNvPr id="27" name="Group 26">
              <a:extLst>
                <a:ext uri="{FF2B5EF4-FFF2-40B4-BE49-F238E27FC236}">
                  <a16:creationId xmlns:a16="http://schemas.microsoft.com/office/drawing/2014/main" id="{AE63D4BC-E730-4AB2-1488-2D55A070C8C6}"/>
                </a:ext>
              </a:extLst>
            </p:cNvPr>
            <p:cNvGrpSpPr/>
            <p:nvPr/>
          </p:nvGrpSpPr>
          <p:grpSpPr>
            <a:xfrm>
              <a:off x="5020553" y="5733260"/>
              <a:ext cx="610559" cy="609897"/>
              <a:chOff x="4538642" y="4549997"/>
              <a:chExt cx="610559" cy="609897"/>
            </a:xfrm>
          </p:grpSpPr>
          <p:pic>
            <p:nvPicPr>
              <p:cNvPr id="20" name="Graphic 19">
                <a:extLst>
                  <a:ext uri="{FF2B5EF4-FFF2-40B4-BE49-F238E27FC236}">
                    <a16:creationId xmlns:a16="http://schemas.microsoft.com/office/drawing/2014/main" id="{0E38FD3C-CF27-F758-B463-B74B5C42684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81744" y="4686724"/>
                <a:ext cx="324000" cy="324000"/>
              </a:xfrm>
              <a:prstGeom prst="rect">
                <a:avLst/>
              </a:prstGeom>
            </p:spPr>
          </p:pic>
          <p:sp>
            <p:nvSpPr>
              <p:cNvPr id="25" name="Freeform: Shape 24">
                <a:extLst>
                  <a:ext uri="{FF2B5EF4-FFF2-40B4-BE49-F238E27FC236}">
                    <a16:creationId xmlns:a16="http://schemas.microsoft.com/office/drawing/2014/main" id="{9EBBAAE0-9D34-1A75-31A5-5BA6C248C419}"/>
                  </a:ext>
                </a:extLst>
              </p:cNvPr>
              <p:cNvSpPr/>
              <p:nvPr/>
            </p:nvSpPr>
            <p:spPr>
              <a:xfrm>
                <a:off x="4538642" y="4549997"/>
                <a:ext cx="610559" cy="609897"/>
              </a:xfrm>
              <a:custGeom>
                <a:avLst/>
                <a:gdLst>
                  <a:gd name="connsiteX0" fmla="*/ 380095 w 610559"/>
                  <a:gd name="connsiteY0" fmla="*/ 554629 h 609897"/>
                  <a:gd name="connsiteX1" fmla="*/ 195800 w 610559"/>
                  <a:gd name="connsiteY1" fmla="*/ 553619 h 609897"/>
                  <a:gd name="connsiteX2" fmla="*/ 104663 w 610559"/>
                  <a:gd name="connsiteY2" fmla="*/ 531997 h 609897"/>
                  <a:gd name="connsiteX3" fmla="*/ 56367 w 610559"/>
                  <a:gd name="connsiteY3" fmla="*/ 411558 h 609897"/>
                  <a:gd name="connsiteX4" fmla="*/ 55357 w 610559"/>
                  <a:gd name="connsiteY4" fmla="*/ 242622 h 609897"/>
                  <a:gd name="connsiteX5" fmla="*/ 74150 w 610559"/>
                  <a:gd name="connsiteY5" fmla="*/ 111676 h 609897"/>
                  <a:gd name="connsiteX6" fmla="*/ 102643 w 610559"/>
                  <a:gd name="connsiteY6" fmla="*/ 79950 h 609897"/>
                  <a:gd name="connsiteX7" fmla="*/ 126690 w 610559"/>
                  <a:gd name="connsiteY7" fmla="*/ 67219 h 609897"/>
                  <a:gd name="connsiteX8" fmla="*/ 166701 w 610559"/>
                  <a:gd name="connsiteY8" fmla="*/ 58327 h 609897"/>
                  <a:gd name="connsiteX9" fmla="*/ 337457 w 610559"/>
                  <a:gd name="connsiteY9" fmla="*/ 55498 h 609897"/>
                  <a:gd name="connsiteX10" fmla="*/ 484973 w 610559"/>
                  <a:gd name="connsiteY10" fmla="*/ 67623 h 609897"/>
                  <a:gd name="connsiteX11" fmla="*/ 502958 w 610559"/>
                  <a:gd name="connsiteY11" fmla="*/ 76514 h 609897"/>
                  <a:gd name="connsiteX12" fmla="*/ 510839 w 610559"/>
                  <a:gd name="connsiteY12" fmla="*/ 81970 h 609897"/>
                  <a:gd name="connsiteX13" fmla="*/ 517507 w 610559"/>
                  <a:gd name="connsiteY13" fmla="*/ 88639 h 609897"/>
                  <a:gd name="connsiteX14" fmla="*/ 540140 w 610559"/>
                  <a:gd name="connsiteY14" fmla="*/ 118950 h 609897"/>
                  <a:gd name="connsiteX15" fmla="*/ 555094 w 610559"/>
                  <a:gd name="connsiteY15" fmla="*/ 266063 h 609897"/>
                  <a:gd name="connsiteX16" fmla="*/ 552669 w 610559"/>
                  <a:gd name="connsiteY16" fmla="*/ 439647 h 609897"/>
                  <a:gd name="connsiteX17" fmla="*/ 516295 w 610559"/>
                  <a:gd name="connsiteY17" fmla="*/ 522903 h 609897"/>
                  <a:gd name="connsiteX18" fmla="*/ 468807 w 610559"/>
                  <a:gd name="connsiteY18" fmla="*/ 547354 h 609897"/>
                  <a:gd name="connsiteX19" fmla="*/ 380095 w 610559"/>
                  <a:gd name="connsiteY19" fmla="*/ 554427 h 609897"/>
                  <a:gd name="connsiteX20" fmla="*/ 380095 w 610559"/>
                  <a:gd name="connsiteY20" fmla="*/ 554427 h 609897"/>
                  <a:gd name="connsiteX21" fmla="*/ 225304 w 610559"/>
                  <a:gd name="connsiteY21" fmla="*/ 735 h 609897"/>
                  <a:gd name="connsiteX22" fmla="*/ 64854 w 610559"/>
                  <a:gd name="connsiteY22" fmla="*/ 39534 h 609897"/>
                  <a:gd name="connsiteX23" fmla="*/ 49294 w 610559"/>
                  <a:gd name="connsiteY23" fmla="*/ 53275 h 609897"/>
                  <a:gd name="connsiteX24" fmla="*/ 45051 w 610559"/>
                  <a:gd name="connsiteY24" fmla="*/ 58327 h 609897"/>
                  <a:gd name="connsiteX25" fmla="*/ 32522 w 610559"/>
                  <a:gd name="connsiteY25" fmla="*/ 74291 h 609897"/>
                  <a:gd name="connsiteX26" fmla="*/ 18781 w 610559"/>
                  <a:gd name="connsiteY26" fmla="*/ 98945 h 609897"/>
                  <a:gd name="connsiteX27" fmla="*/ 796 w 610559"/>
                  <a:gd name="connsiteY27" fmla="*/ 233326 h 609897"/>
                  <a:gd name="connsiteX28" fmla="*/ 4433 w 610559"/>
                  <a:gd name="connsiteY28" fmla="*/ 457026 h 609897"/>
                  <a:gd name="connsiteX29" fmla="*/ 99005 w 610559"/>
                  <a:gd name="connsiteY29" fmla="*/ 591205 h 609897"/>
                  <a:gd name="connsiteX30" fmla="*/ 233185 w 610559"/>
                  <a:gd name="connsiteY30" fmla="*/ 609594 h 609897"/>
                  <a:gd name="connsiteX31" fmla="*/ 309368 w 610559"/>
                  <a:gd name="connsiteY31" fmla="*/ 609594 h 609897"/>
                  <a:gd name="connsiteX32" fmla="*/ 385551 w 610559"/>
                  <a:gd name="connsiteY32" fmla="*/ 609594 h 609897"/>
                  <a:gd name="connsiteX33" fmla="*/ 550850 w 610559"/>
                  <a:gd name="connsiteY33" fmla="*/ 566148 h 609897"/>
                  <a:gd name="connsiteX34" fmla="*/ 560954 w 610559"/>
                  <a:gd name="connsiteY34" fmla="*/ 556852 h 609897"/>
                  <a:gd name="connsiteX35" fmla="*/ 609857 w 610559"/>
                  <a:gd name="connsiteY35" fmla="*/ 377205 h 609897"/>
                  <a:gd name="connsiteX36" fmla="*/ 605815 w 610559"/>
                  <a:gd name="connsiteY36" fmla="*/ 152697 h 609897"/>
                  <a:gd name="connsiteX37" fmla="*/ 574695 w 610559"/>
                  <a:gd name="connsiteY37" fmla="*/ 69644 h 609897"/>
                  <a:gd name="connsiteX38" fmla="*/ 511041 w 610559"/>
                  <a:gd name="connsiteY38" fmla="*/ 18720 h 609897"/>
                  <a:gd name="connsiteX39" fmla="*/ 376457 w 610559"/>
                  <a:gd name="connsiteY39" fmla="*/ 533 h 609897"/>
                  <a:gd name="connsiteX40" fmla="*/ 225304 w 610559"/>
                  <a:gd name="connsiteY40" fmla="*/ 533 h 609897"/>
                  <a:gd name="connsiteX41" fmla="*/ 225304 w 610559"/>
                  <a:gd name="connsiteY41" fmla="*/ 533 h 60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10559" h="609897">
                    <a:moveTo>
                      <a:pt x="380095" y="554629"/>
                    </a:moveTo>
                    <a:cubicBezTo>
                      <a:pt x="318461" y="554629"/>
                      <a:pt x="257838" y="555842"/>
                      <a:pt x="195800" y="553619"/>
                    </a:cubicBezTo>
                    <a:cubicBezTo>
                      <a:pt x="162458" y="552406"/>
                      <a:pt x="127498" y="548365"/>
                      <a:pt x="104663" y="531997"/>
                    </a:cubicBezTo>
                    <a:cubicBezTo>
                      <a:pt x="62631" y="501887"/>
                      <a:pt x="58186" y="460865"/>
                      <a:pt x="56367" y="411558"/>
                    </a:cubicBezTo>
                    <a:cubicBezTo>
                      <a:pt x="54548" y="359018"/>
                      <a:pt x="55559" y="295970"/>
                      <a:pt x="55357" y="242622"/>
                    </a:cubicBezTo>
                    <a:cubicBezTo>
                      <a:pt x="55357" y="202813"/>
                      <a:pt x="54346" y="145625"/>
                      <a:pt x="74150" y="111676"/>
                    </a:cubicBezTo>
                    <a:cubicBezTo>
                      <a:pt x="82233" y="97732"/>
                      <a:pt x="90720" y="89447"/>
                      <a:pt x="102643" y="79950"/>
                    </a:cubicBezTo>
                    <a:cubicBezTo>
                      <a:pt x="108907" y="74898"/>
                      <a:pt x="118809" y="70250"/>
                      <a:pt x="126690" y="67219"/>
                    </a:cubicBezTo>
                    <a:cubicBezTo>
                      <a:pt x="139017" y="62571"/>
                      <a:pt x="152556" y="59742"/>
                      <a:pt x="166701" y="58327"/>
                    </a:cubicBezTo>
                    <a:cubicBezTo>
                      <a:pt x="207723" y="54084"/>
                      <a:pt x="289160" y="55498"/>
                      <a:pt x="337457" y="55498"/>
                    </a:cubicBezTo>
                    <a:cubicBezTo>
                      <a:pt x="377670" y="55498"/>
                      <a:pt x="448397" y="53073"/>
                      <a:pt x="484973" y="67623"/>
                    </a:cubicBezTo>
                    <a:cubicBezTo>
                      <a:pt x="491439" y="70250"/>
                      <a:pt x="497300" y="72877"/>
                      <a:pt x="502958" y="76514"/>
                    </a:cubicBezTo>
                    <a:cubicBezTo>
                      <a:pt x="505585" y="78131"/>
                      <a:pt x="508616" y="80152"/>
                      <a:pt x="510839" y="81970"/>
                    </a:cubicBezTo>
                    <a:cubicBezTo>
                      <a:pt x="513668" y="84395"/>
                      <a:pt x="515083" y="86416"/>
                      <a:pt x="517507" y="88639"/>
                    </a:cubicBezTo>
                    <a:cubicBezTo>
                      <a:pt x="527005" y="97328"/>
                      <a:pt x="533472" y="104199"/>
                      <a:pt x="540140" y="118950"/>
                    </a:cubicBezTo>
                    <a:cubicBezTo>
                      <a:pt x="558125" y="158760"/>
                      <a:pt x="554892" y="222212"/>
                      <a:pt x="555094" y="266063"/>
                    </a:cubicBezTo>
                    <a:cubicBezTo>
                      <a:pt x="555094" y="316380"/>
                      <a:pt x="556306" y="399434"/>
                      <a:pt x="552669" y="439647"/>
                    </a:cubicBezTo>
                    <a:cubicBezTo>
                      <a:pt x="549436" y="475617"/>
                      <a:pt x="539332" y="502291"/>
                      <a:pt x="516295" y="522903"/>
                    </a:cubicBezTo>
                    <a:cubicBezTo>
                      <a:pt x="502352" y="535432"/>
                      <a:pt x="488206" y="542302"/>
                      <a:pt x="468807" y="547354"/>
                    </a:cubicBezTo>
                    <a:cubicBezTo>
                      <a:pt x="444760" y="553619"/>
                      <a:pt x="406365" y="554427"/>
                      <a:pt x="380095" y="554427"/>
                    </a:cubicBezTo>
                    <a:lnTo>
                      <a:pt x="380095" y="554427"/>
                    </a:lnTo>
                    <a:close/>
                    <a:moveTo>
                      <a:pt x="225304" y="735"/>
                    </a:moveTo>
                    <a:cubicBezTo>
                      <a:pt x="162256" y="1948"/>
                      <a:pt x="112342" y="2756"/>
                      <a:pt x="64854" y="39534"/>
                    </a:cubicBezTo>
                    <a:cubicBezTo>
                      <a:pt x="59196" y="43778"/>
                      <a:pt x="54144" y="48021"/>
                      <a:pt x="49294" y="53275"/>
                    </a:cubicBezTo>
                    <a:cubicBezTo>
                      <a:pt x="47678" y="55094"/>
                      <a:pt x="46667" y="56509"/>
                      <a:pt x="45051" y="58327"/>
                    </a:cubicBezTo>
                    <a:cubicBezTo>
                      <a:pt x="37170" y="67623"/>
                      <a:pt x="39797" y="64592"/>
                      <a:pt x="32522" y="74291"/>
                    </a:cubicBezTo>
                    <a:cubicBezTo>
                      <a:pt x="27268" y="81162"/>
                      <a:pt x="22620" y="90053"/>
                      <a:pt x="18781" y="98945"/>
                    </a:cubicBezTo>
                    <a:cubicBezTo>
                      <a:pt x="1402" y="139764"/>
                      <a:pt x="1200" y="185232"/>
                      <a:pt x="796" y="233326"/>
                    </a:cubicBezTo>
                    <a:cubicBezTo>
                      <a:pt x="189" y="284452"/>
                      <a:pt x="-1831" y="408325"/>
                      <a:pt x="4433" y="457026"/>
                    </a:cubicBezTo>
                    <a:cubicBezTo>
                      <a:pt x="11910" y="515830"/>
                      <a:pt x="43030" y="567360"/>
                      <a:pt x="99005" y="591205"/>
                    </a:cubicBezTo>
                    <a:cubicBezTo>
                      <a:pt x="140229" y="608786"/>
                      <a:pt x="184686" y="608988"/>
                      <a:pt x="233185" y="609594"/>
                    </a:cubicBezTo>
                    <a:cubicBezTo>
                      <a:pt x="258444" y="609998"/>
                      <a:pt x="284108" y="609998"/>
                      <a:pt x="309368" y="609594"/>
                    </a:cubicBezTo>
                    <a:cubicBezTo>
                      <a:pt x="334627" y="609594"/>
                      <a:pt x="360291" y="609998"/>
                      <a:pt x="385551" y="609594"/>
                    </a:cubicBezTo>
                    <a:cubicBezTo>
                      <a:pt x="449609" y="608180"/>
                      <a:pt x="503968" y="606563"/>
                      <a:pt x="550850" y="566148"/>
                    </a:cubicBezTo>
                    <a:cubicBezTo>
                      <a:pt x="554286" y="563116"/>
                      <a:pt x="558125" y="559883"/>
                      <a:pt x="560954" y="556852"/>
                    </a:cubicBezTo>
                    <a:cubicBezTo>
                      <a:pt x="608240" y="505322"/>
                      <a:pt x="609049" y="448741"/>
                      <a:pt x="609857" y="377205"/>
                    </a:cubicBezTo>
                    <a:cubicBezTo>
                      <a:pt x="610463" y="327090"/>
                      <a:pt x="612282" y="200792"/>
                      <a:pt x="605815" y="152697"/>
                    </a:cubicBezTo>
                    <a:cubicBezTo>
                      <a:pt x="602178" y="125215"/>
                      <a:pt x="591266" y="90660"/>
                      <a:pt x="574695" y="69644"/>
                    </a:cubicBezTo>
                    <a:cubicBezTo>
                      <a:pt x="556306" y="46203"/>
                      <a:pt x="538726" y="31451"/>
                      <a:pt x="511041" y="18720"/>
                    </a:cubicBezTo>
                    <a:cubicBezTo>
                      <a:pt x="473050" y="1544"/>
                      <a:pt x="421723" y="1139"/>
                      <a:pt x="376457" y="533"/>
                    </a:cubicBezTo>
                    <a:cubicBezTo>
                      <a:pt x="326544" y="-73"/>
                      <a:pt x="275217" y="-275"/>
                      <a:pt x="225304" y="533"/>
                    </a:cubicBezTo>
                    <a:lnTo>
                      <a:pt x="225304" y="533"/>
                    </a:lnTo>
                    <a:close/>
                  </a:path>
                </a:pathLst>
              </a:custGeom>
              <a:solidFill>
                <a:srgbClr val="EA560D"/>
              </a:solidFill>
              <a:ln w="20003" cap="flat">
                <a:noFill/>
                <a:prstDash val="solid"/>
                <a:miter/>
              </a:ln>
            </p:spPr>
            <p:txBody>
              <a:bodyPr rtlCol="0" anchor="ctr"/>
              <a:lstStyle/>
              <a:p>
                <a:endParaRPr lang="en-GB"/>
              </a:p>
            </p:txBody>
          </p:sp>
        </p:grpSp>
      </p:grpSp>
      <p:pic>
        <p:nvPicPr>
          <p:cNvPr id="5" name="Graphic 4">
            <a:extLst>
              <a:ext uri="{FF2B5EF4-FFF2-40B4-BE49-F238E27FC236}">
                <a16:creationId xmlns:a16="http://schemas.microsoft.com/office/drawing/2014/main" id="{58015A68-376A-6863-A11B-5D1645C87E2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8"/>
              </a:ext>
            </a:extLst>
          </a:blip>
          <a:stretch>
            <a:fillRect/>
          </a:stretch>
        </p:blipFill>
        <p:spPr>
          <a:xfrm>
            <a:off x="335697" y="6338000"/>
            <a:ext cx="1008000" cy="343990"/>
          </a:xfrm>
          <a:prstGeom prst="rect">
            <a:avLst/>
          </a:prstGeom>
        </p:spPr>
      </p:pic>
    </p:spTree>
    <p:extLst>
      <p:ext uri="{BB962C8B-B14F-4D97-AF65-F5344CB8AC3E}">
        <p14:creationId xmlns:p14="http://schemas.microsoft.com/office/powerpoint/2010/main" val="13527504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EOC Slide Templates">
  <a:themeElements>
    <a:clrScheme name="EOC Brand Colours">
      <a:dk1>
        <a:srgbClr val="56626F"/>
      </a:dk1>
      <a:lt1>
        <a:srgbClr val="FFFFFF"/>
      </a:lt1>
      <a:dk2>
        <a:srgbClr val="3B4856"/>
      </a:dk2>
      <a:lt2>
        <a:srgbClr val="B1BECD"/>
      </a:lt2>
      <a:accent1>
        <a:srgbClr val="EA560D"/>
      </a:accent1>
      <a:accent2>
        <a:srgbClr val="2BAF49"/>
      </a:accent2>
      <a:accent3>
        <a:srgbClr val="0075BF"/>
      </a:accent3>
      <a:accent4>
        <a:srgbClr val="F7A600"/>
      </a:accent4>
      <a:accent5>
        <a:srgbClr val="F4AA86"/>
      </a:accent5>
      <a:accent6>
        <a:srgbClr val="B1BECD"/>
      </a:accent6>
      <a:hlink>
        <a:srgbClr val="EA560D"/>
      </a:hlink>
      <a:folHlink>
        <a:srgbClr val="F4AA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bwMode="auto">
        <a:noFill/>
        <a:ln w="9525">
          <a:noFill/>
          <a:miter lim="800000"/>
          <a:headEnd/>
          <a:tailEnd/>
        </a:ln>
        <a:effectLst/>
      </a:spPr>
      <a:bodyPr wrap="square" lIns="0">
        <a:spAutoFit/>
      </a:bodyPr>
      <a:lstStyle>
        <a:defPPr>
          <a:spcBef>
            <a:spcPct val="50000"/>
          </a:spcBef>
          <a:defRPr sz="1400" dirty="0" smtClean="0">
            <a:solidFill>
              <a:srgbClr val="595959"/>
            </a:solidFill>
            <a:latin typeface="Arial"/>
            <a:cs typeface="Arial"/>
          </a:defRPr>
        </a:defPPr>
      </a:lst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26 Blank Presentation Template.pptx" id="{BB3AB9A6-8617-4583-BF31-38DCC056DEDF}" vid="{0C9016F6-62D3-4504-AF7E-4C68C75C1979}"/>
    </a:ext>
  </a:extLst>
</a:theme>
</file>

<file path=ppt/theme/theme2.xml><?xml version="1.0" encoding="utf-8"?>
<a:theme xmlns:a="http://schemas.openxmlformats.org/drawingml/2006/main" name="Tables">
  <a:themeElements>
    <a:clrScheme name="Custom 3">
      <a:dk1>
        <a:sysClr val="windowText" lastClr="000000"/>
      </a:dk1>
      <a:lt1>
        <a:sysClr val="window" lastClr="FFFFFF"/>
      </a:lt1>
      <a:dk2>
        <a:srgbClr val="EA560D"/>
      </a:dk2>
      <a:lt2>
        <a:srgbClr val="56626F"/>
      </a:lt2>
      <a:accent1>
        <a:srgbClr val="2275BF"/>
      </a:accent1>
      <a:accent2>
        <a:srgbClr val="2BAF49"/>
      </a:accent2>
      <a:accent3>
        <a:srgbClr val="F7A600"/>
      </a:accent3>
      <a:accent4>
        <a:srgbClr val="464854"/>
      </a:accent4>
      <a:accent5>
        <a:srgbClr val="B1B2B5"/>
      </a:accent5>
      <a:accent6>
        <a:srgbClr val="FFFFFF"/>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bwMode="auto">
        <a:noFill/>
        <a:ln w="9525">
          <a:noFill/>
          <a:miter lim="800000"/>
          <a:headEnd/>
          <a:tailEnd/>
        </a:ln>
        <a:effectLst/>
      </a:spPr>
      <a:bodyPr wrap="square" lIns="0">
        <a:spAutoFit/>
      </a:bodyPr>
      <a:lstStyle>
        <a:defPPr>
          <a:spcBef>
            <a:spcPct val="50000"/>
          </a:spcBef>
          <a:defRPr sz="1400" dirty="0" smtClean="0">
            <a:solidFill>
              <a:srgbClr val="595959"/>
            </a:solidFill>
            <a:latin typeface="Arial"/>
            <a:cs typeface="Arial"/>
          </a:defRPr>
        </a:defPPr>
      </a:lst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26 Blank Presentation Template.pptx" id="{BB3AB9A6-8617-4583-BF31-38DCC056DEDF}" vid="{55804BE4-BBDE-46F9-BF8E-8B70DB6A5597}"/>
    </a:ext>
  </a:extLst>
</a:theme>
</file>

<file path=ppt/theme/theme3.xml><?xml version="1.0" encoding="utf-8"?>
<a:theme xmlns:a="http://schemas.openxmlformats.org/drawingml/2006/main" name="EOC Slide Templates">
  <a:themeElements>
    <a:clrScheme name="EOC Brand Colours">
      <a:dk1>
        <a:srgbClr val="56626F"/>
      </a:dk1>
      <a:lt1>
        <a:srgbClr val="FFFFFF"/>
      </a:lt1>
      <a:dk2>
        <a:srgbClr val="3B4856"/>
      </a:dk2>
      <a:lt2>
        <a:srgbClr val="B1BECD"/>
      </a:lt2>
      <a:accent1>
        <a:srgbClr val="EA560D"/>
      </a:accent1>
      <a:accent2>
        <a:srgbClr val="2BAF49"/>
      </a:accent2>
      <a:accent3>
        <a:srgbClr val="0075BF"/>
      </a:accent3>
      <a:accent4>
        <a:srgbClr val="F7A600"/>
      </a:accent4>
      <a:accent5>
        <a:srgbClr val="F4AA86"/>
      </a:accent5>
      <a:accent6>
        <a:srgbClr val="B1BECD"/>
      </a:accent6>
      <a:hlink>
        <a:srgbClr val="EA560D"/>
      </a:hlink>
      <a:folHlink>
        <a:srgbClr val="F4AA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bwMode="auto">
        <a:noFill/>
        <a:ln w="9525">
          <a:noFill/>
          <a:miter lim="800000"/>
          <a:headEnd/>
          <a:tailEnd/>
        </a:ln>
        <a:effectLst/>
      </a:spPr>
      <a:bodyPr wrap="square" lIns="0">
        <a:spAutoFit/>
      </a:bodyPr>
      <a:lstStyle>
        <a:defPPr>
          <a:spcBef>
            <a:spcPct val="50000"/>
          </a:spcBef>
          <a:defRPr sz="1400" dirty="0" smtClean="0">
            <a:solidFill>
              <a:srgbClr val="595959"/>
            </a:solidFill>
            <a:latin typeface="Arial"/>
            <a:cs typeface="Arial"/>
          </a:defRPr>
        </a:defPPr>
      </a:lst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26 Blank Presentation Template.potx" id="{DF2EEB48-9D44-46B1-98E5-2030B1C67701}" vid="{485DEAC2-AE1B-465A-A696-5E9C79BB2057}"/>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CB57734-89C3-48C9-8AF7-2C41254ADF0C}">
  <we:reference id="c5600acc-5bf8-4dd6-a645-f726195cd927" version="0.1.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FE82856EC988D4AB8A2EC81AB428B30" ma:contentTypeVersion="10" ma:contentTypeDescription="Create a new document." ma:contentTypeScope="" ma:versionID="dfff854e12b0a8e613c8b335e56e52d0">
  <xsd:schema xmlns:xsd="http://www.w3.org/2001/XMLSchema" xmlns:xs="http://www.w3.org/2001/XMLSchema" xmlns:p="http://schemas.microsoft.com/office/2006/metadata/properties" xmlns:ns2="e81b0ea7-80e2-4551-bdde-183744cbb7ce" xmlns:ns3="a038ec6b-0c65-48ee-ae8b-6491b1f2da8d" targetNamespace="http://schemas.microsoft.com/office/2006/metadata/properties" ma:root="true" ma:fieldsID="6b616ac1b6eb1bda7850f9c95a57f4ab" ns2:_="" ns3:_="">
    <xsd:import namespace="e81b0ea7-80e2-4551-bdde-183744cbb7ce"/>
    <xsd:import namespace="a038ec6b-0c65-48ee-ae8b-6491b1f2da8d"/>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AutoTags"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1b0ea7-80e2-4551-bdde-183744cbb7ce"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a038ec6b-0c65-48ee-ae8b-6491b1f2da8d"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DateTaken" ma:index="14" nillable="true" ma:displayName="MediaServiceDateTaken" ma:description="" ma:hidden="true" ma:internalName="MediaServiceDateTaken" ma:readOnly="true">
      <xsd:simpleType>
        <xsd:restriction base="dms:Text"/>
      </xsd:simpleType>
    </xsd:element>
    <xsd:element name="MediaServiceAutoTags" ma:index="15" nillable="true" ma:displayName="MediaServiceAutoTags" ma:description="" ma:internalName="MediaServiceAutoTags" ma:readOnly="true">
      <xsd:simpleType>
        <xsd:restriction base="dms:Text"/>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3102FA-29F5-4201-B206-CC3B79AD3B34}">
  <ds:schemaRefs>
    <ds:schemaRef ds:uri="http://schemas.microsoft.com/office/2006/metadata/properties"/>
    <ds:schemaRef ds:uri="http://purl.org/dc/dcmitype/"/>
    <ds:schemaRef ds:uri="http://purl.org/dc/terms/"/>
    <ds:schemaRef ds:uri="http://schemas.microsoft.com/office/2006/documentManagement/types"/>
    <ds:schemaRef ds:uri="http://purl.org/dc/elements/1.1/"/>
    <ds:schemaRef ds:uri="e81b0ea7-80e2-4551-bdde-183744cbb7ce"/>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AE3A143-5221-445F-BACF-337C6327A6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1b0ea7-80e2-4551-bdde-183744cbb7ce"/>
    <ds:schemaRef ds:uri="a038ec6b-0c65-48ee-ae8b-6491b1f2da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963DDDF-F2FC-4A8B-8DBE-0F1BB128C7F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2026 Blank Presentation Template</Template>
  <TotalTime>2198</TotalTime>
  <Words>4013</Words>
  <Application>Microsoft Office PowerPoint</Application>
  <PresentationFormat>Widescreen</PresentationFormat>
  <Paragraphs>664</Paragraphs>
  <Slides>26</Slides>
  <Notes>3</Notes>
  <HiddenSlides>1</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26</vt:i4>
      </vt:variant>
    </vt:vector>
  </HeadingPairs>
  <TitlesOfParts>
    <vt:vector size="32" baseType="lpstr">
      <vt:lpstr>Arial</vt:lpstr>
      <vt:lpstr>New Rail Alphabet Light</vt:lpstr>
      <vt:lpstr>Arial Nova Light</vt:lpstr>
      <vt:lpstr>EOC Slide Templates</vt:lpstr>
      <vt:lpstr>Tables</vt:lpstr>
      <vt:lpstr>EOC Slide Templates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Vishnukumar Rajasekar</dc:creator>
  <cp:lastModifiedBy>Vishnukumar Rajasekar</cp:lastModifiedBy>
  <cp:revision>55</cp:revision>
  <dcterms:created xsi:type="dcterms:W3CDTF">2026-09-28T12:46:58Z</dcterms:created>
  <dcterms:modified xsi:type="dcterms:W3CDTF">2026-10-28T16:32:55Z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0x010100FFE82856EC988D4AB8A2EC81AB428B30</vt:lpwstr>
  </property>
</Properties>
</file>